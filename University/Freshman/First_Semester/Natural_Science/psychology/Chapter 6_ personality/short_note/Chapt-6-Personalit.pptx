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  <p:sldMasterId id="2147484008" r:id="rId2"/>
  </p:sldMasterIdLst>
  <p:notesMasterIdLst>
    <p:notesMasterId r:id="rId22"/>
  </p:notesMasterIdLst>
  <p:sldIdLst>
    <p:sldId id="389" r:id="rId3"/>
    <p:sldId id="329" r:id="rId4"/>
    <p:sldId id="399" r:id="rId5"/>
    <p:sldId id="400" r:id="rId6"/>
    <p:sldId id="392" r:id="rId7"/>
    <p:sldId id="398" r:id="rId8"/>
    <p:sldId id="403" r:id="rId9"/>
    <p:sldId id="401" r:id="rId10"/>
    <p:sldId id="402" r:id="rId11"/>
    <p:sldId id="397" r:id="rId12"/>
    <p:sldId id="405" r:id="rId13"/>
    <p:sldId id="396" r:id="rId14"/>
    <p:sldId id="406" r:id="rId15"/>
    <p:sldId id="409" r:id="rId16"/>
    <p:sldId id="344" r:id="rId17"/>
    <p:sldId id="345" r:id="rId18"/>
    <p:sldId id="407" r:id="rId19"/>
    <p:sldId id="408" r:id="rId20"/>
    <p:sldId id="38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79759-2C66-4A42-AA41-5F62013AA6C0}" type="datetimeFigureOut">
              <a:rPr lang="en-US" smtClean="0"/>
              <a:pPr/>
              <a:t>7/10/2022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9F251-B73D-4D4D-A926-67CE1CEC24B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1" name="coin.wav" builtIn="1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ransition spd="slow">
    <p:cover dir="d"/>
    <p:sndAc>
      <p:stSnd>
        <p:snd r:embed="rId13" name="coin.wav" builtIn="1"/>
      </p:stSnd>
    </p:sndAc>
  </p:transition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96BDB289-DF6F-48AD-AAF0-D7A81E038C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ransition spd="slow">
    <p:cover dir="d"/>
    <p:sndAc>
      <p:stSnd>
        <p:snd r:embed="rId13" name="coin.wav" builtIn="1"/>
      </p:stSnd>
    </p:sndAc>
  </p:transition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pPr marL="448056" lvl="0" indent="-384048" algn="ctr">
              <a:spcBef>
                <a:spcPct val="20000"/>
              </a:spcBef>
            </a:pPr>
            <a:r>
              <a:rPr lang="en-US" sz="6000" b="1" dirty="0" smtClean="0">
                <a:ln>
                  <a:noFill/>
                </a:ln>
                <a:solidFill>
                  <a:srgbClr val="FFC000"/>
                </a:solidFill>
                <a:effectLst/>
                <a:ea typeface="+mn-ea"/>
                <a:cs typeface="+mn-cs"/>
              </a:rPr>
              <a:t>UNIT SIX</a:t>
            </a:r>
            <a:endParaRPr lang="en-US" sz="6000" b="1" dirty="0">
              <a:solidFill>
                <a:schemeClr val="accent3">
                  <a:lumMod val="60000"/>
                  <a:lumOff val="40000"/>
                </a:schemeClr>
              </a:solidFill>
              <a:latin typeface="Lucida Calligraphy" pitchFamily="66" charset="0"/>
              <a:cs typeface="MV Boli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054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1200" b="1" dirty="0" smtClean="0">
              <a:solidFill>
                <a:srgbClr val="005BD3">
                  <a:lumMod val="60000"/>
                  <a:lumOff val="40000"/>
                </a:srgbClr>
              </a:solidFill>
              <a:ea typeface="+mj-ea"/>
              <a:cs typeface="+mj-cs"/>
            </a:endParaRPr>
          </a:p>
          <a:p>
            <a:pPr algn="ctr">
              <a:buNone/>
            </a:pPr>
            <a:r>
              <a:rPr lang="en-US" sz="6600" b="1" dirty="0" smtClean="0">
                <a:solidFill>
                  <a:srgbClr val="005BD3">
                    <a:lumMod val="60000"/>
                    <a:lumOff val="40000"/>
                  </a:srgbClr>
                </a:solidFill>
                <a:ea typeface="+mj-ea"/>
                <a:cs typeface="+mj-cs"/>
              </a:rPr>
              <a:t>PERSONALITY</a:t>
            </a:r>
          </a:p>
          <a:p>
            <a:pPr lvl="0">
              <a:buNone/>
            </a:pPr>
            <a:r>
              <a:rPr lang="en-US" sz="3600" i="1" dirty="0" smtClean="0"/>
              <a:t>What </a:t>
            </a:r>
            <a:r>
              <a:rPr lang="en-US" sz="3600" i="1" dirty="0" smtClean="0"/>
              <a:t>make you different from your father, brother, friend, or any other person?</a:t>
            </a:r>
          </a:p>
          <a:p>
            <a:pPr lvl="0">
              <a:buNone/>
            </a:pPr>
            <a:r>
              <a:rPr lang="en-US" sz="3600" i="1" dirty="0" smtClean="0"/>
              <a:t>Describe yourself who you are with different characteristics. </a:t>
            </a:r>
            <a:r>
              <a:rPr lang="en-US" sz="3600" i="1" dirty="0" smtClean="0">
                <a:solidFill>
                  <a:srgbClr val="FFC000"/>
                </a:solidFill>
              </a:rPr>
              <a:t>(behaviors, attitudes, thoughts, beliefs, motivations, emotions, etc)</a:t>
            </a:r>
            <a:endParaRPr lang="en-US" sz="3600" dirty="0" smtClean="0">
              <a:solidFill>
                <a:srgbClr val="FFC000"/>
              </a:solidFill>
            </a:endParaRPr>
          </a:p>
          <a:p>
            <a:pPr algn="ctr">
              <a:buNone/>
            </a:pPr>
            <a:endParaRPr lang="en-US" sz="5400" b="1" dirty="0" smtClean="0">
              <a:solidFill>
                <a:srgbClr val="005BD3">
                  <a:lumMod val="60000"/>
                  <a:lumOff val="40000"/>
                </a:srgbClr>
              </a:solidFill>
              <a:ea typeface="+mj-ea"/>
              <a:cs typeface="+mj-cs"/>
            </a:endParaRPr>
          </a:p>
          <a:p>
            <a:pPr algn="ctr">
              <a:buNone/>
            </a:pPr>
            <a:endParaRPr lang="en-US" sz="1800" b="1" dirty="0" smtClean="0">
              <a:solidFill>
                <a:srgbClr val="FFFF00"/>
              </a:solidFill>
            </a:endParaRPr>
          </a:p>
          <a:p>
            <a:pPr algn="ctr">
              <a:buNone/>
            </a:pPr>
            <a:endParaRPr lang="en-US" sz="2800" b="1" dirty="0" smtClean="0">
              <a:solidFill>
                <a:srgbClr val="FFFF00"/>
              </a:solidFill>
              <a:ea typeface="+mj-ea"/>
              <a:cs typeface="+mj-cs"/>
            </a:endParaRPr>
          </a:p>
          <a:p>
            <a:pPr algn="ctr">
              <a:buNone/>
            </a:pPr>
            <a:endParaRPr lang="en-US" sz="4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September, </a:t>
            </a:r>
            <a:r>
              <a:rPr lang="en-US" dirty="0" smtClean="0"/>
              <a:t>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 spd="slow">
    <p:wipe dir="r"/>
    <p:sndAc>
      <p:stSnd>
        <p:snd r:embed="rId2" name="drumroll.wav" builtIn="1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762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6.1  </a:t>
            </a:r>
            <a:r>
              <a:rPr lang="en-US" sz="2800" dirty="0" smtClean="0"/>
              <a:t>Meaning of Personality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smtClean="0"/>
              <a:t>The word </a:t>
            </a:r>
            <a:r>
              <a:rPr lang="en-US" sz="2400" b="1" i="1" dirty="0" smtClean="0"/>
              <a:t>personality </a:t>
            </a:r>
            <a:r>
              <a:rPr lang="en-US" sz="2400" dirty="0" smtClean="0"/>
              <a:t>is derived from the word “</a:t>
            </a:r>
            <a:r>
              <a:rPr lang="en-US" sz="2400" b="1" dirty="0" smtClean="0"/>
              <a:t>persona”</a:t>
            </a:r>
            <a:r>
              <a:rPr lang="en-US" sz="2400" dirty="0" smtClean="0"/>
              <a:t>, Greek and Latin roots and refers to the theatrical masks worn by Greek actors</a:t>
            </a:r>
          </a:p>
          <a:p>
            <a:pPr marL="625475" indent="-273050">
              <a:buNone/>
            </a:pPr>
            <a:r>
              <a:rPr lang="en-US" b="1" dirty="0" smtClean="0"/>
              <a:t>Definition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r>
              <a:rPr lang="en-US" sz="2400" b="1" i="1" dirty="0" smtClean="0">
                <a:solidFill>
                  <a:srgbClr val="0070C0"/>
                </a:solidFill>
              </a:rPr>
              <a:t>Personality </a:t>
            </a:r>
            <a:r>
              <a:rPr lang="en-US" sz="2400" dirty="0" smtClean="0"/>
              <a:t>is</a:t>
            </a:r>
            <a:r>
              <a:rPr lang="en-US" sz="2400" i="1" dirty="0" smtClean="0"/>
              <a:t> </a:t>
            </a:r>
            <a:r>
              <a:rPr lang="en-US" sz="2400" i="1" dirty="0" smtClean="0"/>
              <a:t>the unique pattern of enduring </a:t>
            </a:r>
            <a:r>
              <a:rPr lang="en-US" sz="2400" b="1" i="1" dirty="0" smtClean="0">
                <a:solidFill>
                  <a:srgbClr val="FF0000"/>
                </a:solidFill>
              </a:rPr>
              <a:t>thoughts</a:t>
            </a:r>
            <a:r>
              <a:rPr lang="en-US" sz="2400" i="1" dirty="0" smtClean="0"/>
              <a:t>, </a:t>
            </a:r>
            <a:r>
              <a:rPr lang="en-US" sz="2400" b="1" i="1" dirty="0" smtClean="0">
                <a:solidFill>
                  <a:srgbClr val="FF0000"/>
                </a:solidFill>
              </a:rPr>
              <a:t>feelings</a:t>
            </a:r>
            <a:r>
              <a:rPr lang="en-US" sz="2400" i="1" dirty="0" smtClean="0"/>
              <a:t>, and </a:t>
            </a:r>
            <a:r>
              <a:rPr lang="en-US" sz="2400" b="1" i="1" dirty="0" smtClean="0">
                <a:solidFill>
                  <a:srgbClr val="FF0000"/>
                </a:solidFill>
              </a:rPr>
              <a:t>actions</a:t>
            </a:r>
            <a:r>
              <a:rPr lang="en-US" sz="2400" i="1" dirty="0" smtClean="0"/>
              <a:t> that characterize a person</a:t>
            </a:r>
          </a:p>
          <a:p>
            <a:r>
              <a:rPr lang="en-US" sz="2400" b="1" i="1" dirty="0" smtClean="0">
                <a:solidFill>
                  <a:srgbClr val="0070C0"/>
                </a:solidFill>
              </a:rPr>
              <a:t>Personality</a:t>
            </a:r>
            <a:r>
              <a:rPr lang="en-US" sz="2800" dirty="0" smtClean="0"/>
              <a:t> </a:t>
            </a:r>
            <a:r>
              <a:rPr lang="en-US" sz="2400" dirty="0" smtClean="0"/>
              <a:t>is the dynamic organization within the individual of those </a:t>
            </a:r>
            <a:r>
              <a:rPr lang="en-US" sz="2400" b="1" dirty="0" smtClean="0"/>
              <a:t>psychophysical</a:t>
            </a:r>
            <a:r>
              <a:rPr lang="en-US" sz="2400" dirty="0" smtClean="0"/>
              <a:t> systems that determine his/her </a:t>
            </a:r>
            <a:r>
              <a:rPr lang="en-US" sz="2400" b="1" dirty="0" smtClean="0">
                <a:solidFill>
                  <a:srgbClr val="FF0000"/>
                </a:solidFill>
              </a:rPr>
              <a:t>thoughts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feelings</a:t>
            </a:r>
            <a:r>
              <a:rPr lang="en-US" sz="2400" dirty="0" smtClean="0"/>
              <a:t> and </a:t>
            </a:r>
            <a:r>
              <a:rPr lang="en-US" sz="2400" b="1" dirty="0" smtClean="0">
                <a:solidFill>
                  <a:srgbClr val="FF0000"/>
                </a:solidFill>
              </a:rPr>
              <a:t>behaviors</a:t>
            </a:r>
            <a:r>
              <a:rPr lang="en-US" sz="2400" dirty="0" smtClean="0"/>
              <a:t>, unique adjustment to the </a:t>
            </a:r>
            <a:r>
              <a:rPr lang="en-US" sz="2400" dirty="0" smtClean="0"/>
              <a:t>environment</a:t>
            </a:r>
          </a:p>
          <a:p>
            <a:r>
              <a:rPr lang="en-US" sz="2400" b="1" dirty="0" smtClean="0">
                <a:solidFill>
                  <a:srgbClr val="7030A0"/>
                </a:solidFill>
              </a:rPr>
              <a:t>It is: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625475" indent="-273050">
              <a:buFont typeface="Wingdings" pitchFamily="2" charset="2"/>
              <a:buChar char="ü"/>
            </a:pPr>
            <a:r>
              <a:rPr lang="en-US" sz="2400" b="1" i="1" dirty="0" smtClean="0"/>
              <a:t>an integration, organization or system of behaviors</a:t>
            </a:r>
          </a:p>
          <a:p>
            <a:pPr marL="625475" indent="-273050">
              <a:buFont typeface="Wingdings" pitchFamily="2" charset="2"/>
              <a:buChar char="ü"/>
            </a:pPr>
            <a:r>
              <a:rPr lang="en-US" sz="2400" b="1" i="1" dirty="0" smtClean="0"/>
              <a:t>identity </a:t>
            </a:r>
            <a:r>
              <a:rPr lang="en-US" sz="2400" b="1" i="1" dirty="0" smtClean="0"/>
              <a:t>of </a:t>
            </a:r>
            <a:r>
              <a:rPr lang="en-US" sz="2400" b="1" i="1" dirty="0" smtClean="0"/>
              <a:t>an individual who he/she is</a:t>
            </a:r>
            <a:endParaRPr lang="en-US" sz="2400" b="1" i="1" dirty="0" smtClean="0"/>
          </a:p>
          <a:p>
            <a:pPr marL="625475" indent="-273050">
              <a:buFont typeface="Wingdings" pitchFamily="2" charset="2"/>
              <a:buChar char="ü"/>
            </a:pPr>
            <a:r>
              <a:rPr lang="en-US" sz="2400" b="1" i="1" dirty="0" smtClean="0"/>
              <a:t>a consistent, unifying, and articulate philosophy of life</a:t>
            </a:r>
            <a:endParaRPr lang="en-US" sz="2400" b="1" i="1" dirty="0" smtClean="0"/>
          </a:p>
          <a:p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6.2. </a:t>
            </a:r>
            <a:r>
              <a:rPr lang="en-US" sz="2800" b="1" dirty="0" smtClean="0"/>
              <a:t>Theories of Personality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b="1" dirty="0" smtClean="0"/>
              <a:t>Some of the theories of personality are: </a:t>
            </a:r>
            <a:r>
              <a:rPr lang="en-US" sz="2800" b="1" dirty="0" smtClean="0">
                <a:solidFill>
                  <a:srgbClr val="FF0000"/>
                </a:solidFill>
              </a:rPr>
              <a:t>psychodynamic</a:t>
            </a:r>
            <a:r>
              <a:rPr lang="en-US" sz="2800" b="1" dirty="0" smtClean="0"/>
              <a:t>, </a:t>
            </a:r>
            <a:r>
              <a:rPr lang="en-US" sz="2800" b="1" dirty="0" smtClean="0">
                <a:solidFill>
                  <a:srgbClr val="FF0000"/>
                </a:solidFill>
              </a:rPr>
              <a:t>trait</a:t>
            </a:r>
            <a:r>
              <a:rPr lang="en-US" sz="2800" b="1" dirty="0" smtClean="0"/>
              <a:t>, and </a:t>
            </a:r>
            <a:r>
              <a:rPr lang="en-US" sz="2800" b="1" dirty="0" smtClean="0">
                <a:solidFill>
                  <a:srgbClr val="FF0000"/>
                </a:solidFill>
              </a:rPr>
              <a:t>humanistic</a:t>
            </a:r>
            <a:r>
              <a:rPr lang="en-US" sz="2800" b="1" dirty="0" smtClean="0"/>
              <a:t>.</a:t>
            </a:r>
            <a:endParaRPr lang="en-US" sz="28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2800" kern="0" dirty="0" smtClean="0">
                <a:solidFill>
                  <a:srgbClr val="00B050"/>
                </a:solidFill>
              </a:rPr>
              <a:t>6.2.1. </a:t>
            </a:r>
            <a:r>
              <a:rPr lang="en-US" sz="2800" b="1" kern="0" dirty="0" smtClean="0">
                <a:solidFill>
                  <a:sysClr val="windowText" lastClr="000000"/>
                </a:solidFill>
              </a:rPr>
              <a:t>The psychoanalytic theory of personality</a:t>
            </a:r>
            <a:endParaRPr lang="en-US" sz="24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sz="2400" dirty="0" smtClean="0"/>
              <a:t>personality is formed within ourselves, arising from basic inborn needs, drives, and </a:t>
            </a:r>
            <a:r>
              <a:rPr lang="en-US" sz="2400" dirty="0" smtClean="0"/>
              <a:t>characteristics, i.e., conflict </a:t>
            </a:r>
            <a:r>
              <a:rPr lang="en-US" sz="2400" dirty="0" smtClean="0"/>
              <a:t>between </a:t>
            </a:r>
            <a:r>
              <a:rPr lang="en-US" sz="2400" dirty="0" smtClean="0"/>
              <a:t>our biological </a:t>
            </a:r>
            <a:r>
              <a:rPr lang="en-US" sz="2400" dirty="0" smtClean="0"/>
              <a:t>urges (drives) and the need to tame them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smtClean="0"/>
              <a:t>In Freud's view, personality has three </a:t>
            </a:r>
            <a:r>
              <a:rPr lang="en-US" sz="2400" dirty="0" smtClean="0"/>
              <a:t>parts (structures) </a:t>
            </a:r>
            <a:r>
              <a:rPr lang="en-US" sz="2400" dirty="0" smtClean="0"/>
              <a:t>which serves a different function and develops at different </a:t>
            </a:r>
            <a:r>
              <a:rPr lang="en-US" sz="2400" b="1" dirty="0" smtClean="0"/>
              <a:t>times</a:t>
            </a:r>
            <a:r>
              <a:rPr lang="en-US" sz="2400" dirty="0" smtClean="0"/>
              <a:t>: the </a:t>
            </a:r>
            <a:r>
              <a:rPr lang="en-US" sz="2400" b="1" dirty="0" smtClean="0">
                <a:solidFill>
                  <a:srgbClr val="FF0000"/>
                </a:solidFill>
              </a:rPr>
              <a:t>id,</a:t>
            </a:r>
            <a:r>
              <a:rPr lang="en-US" sz="2400" dirty="0" smtClean="0"/>
              <a:t> the </a:t>
            </a:r>
            <a:r>
              <a:rPr lang="en-US" sz="2400" b="1" dirty="0" smtClean="0">
                <a:solidFill>
                  <a:srgbClr val="FF0000"/>
                </a:solidFill>
              </a:rPr>
              <a:t>ego</a:t>
            </a:r>
            <a:r>
              <a:rPr lang="en-US" sz="2400" dirty="0" smtClean="0"/>
              <a:t>, and the </a:t>
            </a:r>
            <a:r>
              <a:rPr lang="en-US" sz="2400" b="1" dirty="0" smtClean="0">
                <a:solidFill>
                  <a:srgbClr val="FF0000"/>
                </a:solidFill>
              </a:rPr>
              <a:t>superego</a:t>
            </a:r>
          </a:p>
          <a:p>
            <a:pPr>
              <a:buNone/>
            </a:pPr>
            <a:r>
              <a:rPr lang="en-US" sz="2400" dirty="0" smtClean="0"/>
              <a:t>the way these three parts of personality interact with one another determines the personality</a:t>
            </a:r>
            <a:endParaRPr lang="en-US" sz="24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endParaRPr 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sz="2800" b="1" kern="0" dirty="0" smtClean="0">
                <a:solidFill>
                  <a:sysClr val="windowText" lastClr="000000"/>
                </a:solidFill>
              </a:rPr>
              <a:t>The psychoanalytic theory of personality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86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The ID -</a:t>
            </a:r>
            <a:r>
              <a:rPr lang="en-US" sz="2400" dirty="0" smtClean="0"/>
              <a:t> </a:t>
            </a:r>
            <a:r>
              <a:rPr lang="en-US" sz="2400" b="1" dirty="0" smtClean="0"/>
              <a:t>If It Feels Good, Do It - </a:t>
            </a:r>
            <a:r>
              <a:rPr lang="en-US" sz="2400" dirty="0" smtClean="0"/>
              <a:t>a Latin word that means “it”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400" dirty="0" smtClean="0"/>
              <a:t>works on the pleasure principle- if it feels good, do it</a:t>
            </a:r>
          </a:p>
          <a:p>
            <a:pPr>
              <a:buNone/>
            </a:pPr>
            <a:r>
              <a:rPr lang="en-US" sz="2400" dirty="0" smtClean="0"/>
              <a:t>completely unconscious a moral part of the personality that exists at birth, </a:t>
            </a:r>
          </a:p>
          <a:p>
            <a:pPr>
              <a:buNone/>
            </a:pPr>
            <a:r>
              <a:rPr lang="en-US" sz="2400" dirty="0" smtClean="0"/>
              <a:t>contains all of the basic biological drives; hunger, thirst, sex, aggression</a:t>
            </a:r>
          </a:p>
          <a:p>
            <a:pPr>
              <a:buNone/>
            </a:pPr>
            <a:r>
              <a:rPr lang="en-US" sz="2400" b="1" dirty="0" smtClean="0"/>
              <a:t>libido</a:t>
            </a:r>
            <a:r>
              <a:rPr lang="en-US" sz="2400" dirty="0" smtClean="0"/>
              <a:t>, the instinctual energy that may come into conflict with the demands a society‘s standards for behavior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Ego</a:t>
            </a:r>
            <a:r>
              <a:rPr lang="en-US" sz="2400" b="1" dirty="0" smtClean="0"/>
              <a:t>: The Executive Director- </a:t>
            </a:r>
            <a:r>
              <a:rPr lang="en-US" sz="2400" dirty="0" smtClean="0"/>
              <a:t>According to Freud, to deal with reality, the second part of personality develops called the </a:t>
            </a:r>
            <a:r>
              <a:rPr lang="en-US" sz="2400" i="1" dirty="0" smtClean="0"/>
              <a:t>ego</a:t>
            </a:r>
            <a:r>
              <a:rPr lang="en-US" sz="2400" dirty="0" smtClean="0"/>
              <a:t>. The ego, from the Latin word for “I”</a:t>
            </a:r>
          </a:p>
          <a:p>
            <a:pPr>
              <a:buNone/>
            </a:pPr>
            <a:r>
              <a:rPr lang="en-US" sz="2400" dirty="0" smtClean="0"/>
              <a:t>it is mostly conscious, rational, logical and </a:t>
            </a:r>
            <a:r>
              <a:rPr lang="en-US" sz="2400" dirty="0" smtClean="0"/>
              <a:t>cunning (wise) </a:t>
            </a:r>
            <a:r>
              <a:rPr lang="en-US" sz="2400" dirty="0" smtClean="0"/>
              <a:t>than the id </a:t>
            </a:r>
          </a:p>
          <a:p>
            <a:pPr>
              <a:buNone/>
            </a:pPr>
            <a:r>
              <a:rPr lang="en-US" sz="2400" dirty="0" smtClean="0"/>
              <a:t>The ego works on the </a:t>
            </a:r>
            <a:r>
              <a:rPr lang="en-US" sz="2400" b="1" dirty="0" smtClean="0"/>
              <a:t>reality principle</a:t>
            </a:r>
            <a:r>
              <a:rPr lang="en-US" sz="2400" dirty="0" smtClean="0"/>
              <a:t>, satisfy the demands of the id and reduce libido only in ways that will not lead to negative consequences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685800"/>
          </a:xfrm>
        </p:spPr>
        <p:txBody>
          <a:bodyPr>
            <a:normAutofit/>
          </a:bodyPr>
          <a:lstStyle/>
          <a:p>
            <a:pPr lvl="2" algn="l" rtl="0">
              <a:spcBef>
                <a:spcPct val="0"/>
              </a:spcBef>
            </a:pPr>
            <a:r>
              <a:rPr lang="en-US" sz="2800" dirty="0" smtClean="0">
                <a:solidFill>
                  <a:srgbClr val="00B050"/>
                </a:solidFill>
              </a:rPr>
              <a:t>6.2.1. </a:t>
            </a:r>
            <a:r>
              <a:rPr lang="en-US" sz="2800" b="1" dirty="0" smtClean="0"/>
              <a:t>The psychoanalytic theory of personality</a:t>
            </a:r>
            <a:endParaRPr lang="en-US" sz="40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868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Superego</a:t>
            </a:r>
            <a:r>
              <a:rPr lang="en-US" sz="2400" b="1" dirty="0" smtClean="0"/>
              <a:t>: The Moral Watchdog- </a:t>
            </a:r>
            <a:r>
              <a:rPr lang="en-US" sz="2400" dirty="0" smtClean="0"/>
              <a:t>Latin, meaning ―</a:t>
            </a:r>
            <a:r>
              <a:rPr lang="en-US" sz="2400" b="1" dirty="0" smtClean="0"/>
              <a:t>over the self</a:t>
            </a:r>
          </a:p>
          <a:p>
            <a:pPr>
              <a:buNone/>
            </a:pPr>
            <a:r>
              <a:rPr lang="en-US" sz="2400" b="1" dirty="0" smtClean="0"/>
              <a:t>It is the moral</a:t>
            </a:r>
            <a:r>
              <a:rPr lang="en-US" sz="2400" dirty="0" smtClean="0"/>
              <a:t> branch of personality that represents socially approved values, social components of human beings</a:t>
            </a:r>
          </a:p>
          <a:p>
            <a:pPr>
              <a:buNone/>
            </a:pPr>
            <a:r>
              <a:rPr lang="en-US" sz="2400" dirty="0" smtClean="0"/>
              <a:t>Superego has </a:t>
            </a:r>
            <a:r>
              <a:rPr lang="en-US" sz="2400" b="1" dirty="0" smtClean="0"/>
              <a:t>two</a:t>
            </a:r>
            <a:r>
              <a:rPr lang="en-US" sz="2400" dirty="0" smtClean="0"/>
              <a:t> parts : </a:t>
            </a:r>
          </a:p>
          <a:p>
            <a:pPr marL="457200" indent="-457200">
              <a:buAutoNum type="arabicPeriod"/>
            </a:pPr>
            <a:r>
              <a:rPr lang="en-US" sz="2400" b="1" dirty="0" smtClean="0"/>
              <a:t>The ego-ideal </a:t>
            </a:r>
            <a:r>
              <a:rPr lang="en-US" sz="2400" dirty="0" smtClean="0"/>
              <a:t>- It is a kind of measuring device, the sum of all the ideal or correct and acceptable behavior that the child has learned about from parents and others in the society </a:t>
            </a:r>
          </a:p>
          <a:p>
            <a:pPr marL="457200" indent="-457200">
              <a:buAutoNum type="arabicPeriod"/>
            </a:pPr>
            <a:r>
              <a:rPr lang="en-US" sz="2400" b="1" dirty="0" smtClean="0"/>
              <a:t>The conscience-</a:t>
            </a:r>
            <a:r>
              <a:rPr lang="en-US" sz="2400" dirty="0" smtClean="0"/>
              <a:t> is a part of the personality that makes people </a:t>
            </a:r>
            <a:r>
              <a:rPr lang="en-US" sz="2400" b="1" dirty="0" smtClean="0"/>
              <a:t>pride</a:t>
            </a:r>
            <a:r>
              <a:rPr lang="en-US" sz="2400" dirty="0" smtClean="0"/>
              <a:t> when they do the </a:t>
            </a:r>
            <a:r>
              <a:rPr lang="en-US" sz="2400" b="1" dirty="0" smtClean="0"/>
              <a:t>right</a:t>
            </a:r>
            <a:r>
              <a:rPr lang="en-US" sz="2400" dirty="0" smtClean="0"/>
              <a:t> thing and </a:t>
            </a:r>
            <a:r>
              <a:rPr lang="en-US" sz="2400" b="1" dirty="0" smtClean="0"/>
              <a:t>guilt</a:t>
            </a:r>
            <a:r>
              <a:rPr lang="en-US" sz="2400" dirty="0" smtClean="0"/>
              <a:t>, or </a:t>
            </a:r>
            <a:r>
              <a:rPr lang="en-US" sz="2400" b="1" dirty="0" smtClean="0"/>
              <a:t>moral anxiety </a:t>
            </a:r>
            <a:r>
              <a:rPr lang="en-US" sz="2400" dirty="0" smtClean="0"/>
              <a:t>when they do the </a:t>
            </a:r>
            <a:r>
              <a:rPr lang="en-US" sz="2400" b="1" dirty="0" smtClean="0"/>
              <a:t>wrong</a:t>
            </a:r>
            <a:r>
              <a:rPr lang="en-US" sz="2400" dirty="0" smtClean="0"/>
              <a:t> thing</a:t>
            </a:r>
          </a:p>
          <a:p>
            <a:pPr marL="457200" indent="-457200">
              <a:buNone/>
            </a:pPr>
            <a:r>
              <a:rPr lang="en-US" sz="2400" dirty="0" smtClean="0"/>
              <a:t>As Freud, our personality is the outcome of the continual </a:t>
            </a:r>
            <a:r>
              <a:rPr lang="en-US" sz="2400" b="1" dirty="0" smtClean="0"/>
              <a:t>battle</a:t>
            </a:r>
            <a:r>
              <a:rPr lang="en-US" sz="2400" dirty="0" smtClean="0"/>
              <a:t> for dominance among the id, the ego, and the superego</a:t>
            </a:r>
          </a:p>
          <a:p>
            <a:pPr marL="457200" indent="-457200">
              <a:buNone/>
            </a:pPr>
            <a:r>
              <a:rPr lang="en-US" sz="2400" dirty="0" smtClean="0"/>
              <a:t>This constant </a:t>
            </a:r>
            <a:r>
              <a:rPr lang="en-US" sz="2400" b="1" dirty="0" smtClean="0"/>
              <a:t>conflict</a:t>
            </a:r>
            <a:r>
              <a:rPr lang="en-US" sz="2400" dirty="0" smtClean="0"/>
              <a:t> between them is managed by psychological </a:t>
            </a:r>
            <a:r>
              <a:rPr lang="en-US" sz="2400" b="1" dirty="0" smtClean="0">
                <a:solidFill>
                  <a:srgbClr val="FF0000"/>
                </a:solidFill>
              </a:rPr>
              <a:t>defense mechanisms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Defense mechanisms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86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Defense mechanisms</a:t>
            </a:r>
            <a:r>
              <a:rPr lang="en-US" sz="2400" dirty="0" smtClean="0"/>
              <a:t> are unconscious tactics that either prevent threatening material from surfacing or disguise it when it does</a:t>
            </a:r>
          </a:p>
          <a:p>
            <a:r>
              <a:rPr lang="en-US" sz="2400" b="1" dirty="0" smtClean="0"/>
              <a:t>Repression </a:t>
            </a:r>
            <a:r>
              <a:rPr lang="en-US" sz="2400" dirty="0" smtClean="0"/>
              <a:t>banishing threatening thoughts, feelings, and memories into the unconscious mind. </a:t>
            </a:r>
            <a:r>
              <a:rPr lang="en-US" sz="2200" dirty="0" smtClean="0"/>
              <a:t>Example: an Ethiopian husband who is defeated by his wife will not remember/ talk it out again</a:t>
            </a:r>
          </a:p>
          <a:p>
            <a:r>
              <a:rPr lang="en-US" sz="2400" b="1" dirty="0" smtClean="0"/>
              <a:t>Denial </a:t>
            </a:r>
            <a:r>
              <a:rPr lang="en-US" sz="2400" dirty="0" smtClean="0"/>
              <a:t>refusal to recognize or acknowledge a threatening situation. </a:t>
            </a:r>
            <a:r>
              <a:rPr lang="en-US" sz="2200" dirty="0" smtClean="0"/>
              <a:t>Example; Mr. </a:t>
            </a:r>
            <a:r>
              <a:rPr lang="en-US" sz="2200" dirty="0" err="1" smtClean="0"/>
              <a:t>Geremew</a:t>
            </a:r>
            <a:r>
              <a:rPr lang="en-US" sz="2200" dirty="0" smtClean="0"/>
              <a:t> is an alcoholic who denies/ doesn‘t accept being an alcoholic</a:t>
            </a:r>
          </a:p>
          <a:p>
            <a:r>
              <a:rPr lang="en-US" sz="2400" b="1" dirty="0" smtClean="0"/>
              <a:t>Regression </a:t>
            </a:r>
            <a:r>
              <a:rPr lang="en-US" sz="2400" dirty="0" smtClean="0"/>
              <a:t>reverting to immature behaviors that have relieved anxiety in the past. E.g.; </a:t>
            </a:r>
            <a:r>
              <a:rPr lang="en-US" sz="2000" dirty="0" smtClean="0"/>
              <a:t>a girl/a boy who has just entered school may go back to sucking her/his thumb or wetting the bed</a:t>
            </a:r>
            <a:endParaRPr lang="en-US" sz="2400" dirty="0" smtClean="0"/>
          </a:p>
          <a:p>
            <a:r>
              <a:rPr lang="en-US" sz="2400" b="1" dirty="0" smtClean="0"/>
              <a:t>Rationalization </a:t>
            </a:r>
            <a:r>
              <a:rPr lang="en-US" sz="2400" dirty="0" smtClean="0"/>
              <a:t>giving socially acceptable reasons for one's inappropriate behavior. </a:t>
            </a:r>
            <a:r>
              <a:rPr lang="en-US" sz="2200" dirty="0" smtClean="0"/>
              <a:t>Example: make bad grades but states the reason as being knowledge rather than grade oriented; and grades only showing superficial learning</a:t>
            </a:r>
          </a:p>
          <a:p>
            <a:endParaRPr lang="en-US" sz="2400" dirty="0" smtClean="0"/>
          </a:p>
          <a:p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Defense mechanisms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864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Displacement </a:t>
            </a:r>
            <a:r>
              <a:rPr lang="en-US" sz="2400" dirty="0" smtClean="0"/>
              <a:t>expressing feelings toward a person who is less threatening than the person who is the true target of those feelings. Example: Hating your boss but taking it out on family members</a:t>
            </a:r>
          </a:p>
          <a:p>
            <a:r>
              <a:rPr lang="en-US" sz="2400" b="1" dirty="0" smtClean="0"/>
              <a:t>Projection -</a:t>
            </a:r>
            <a:r>
              <a:rPr lang="en-US" sz="2400" dirty="0" smtClean="0"/>
              <a:t>attributing one's undesirable feelings to other people. Example: a paranoid person uses projection to justify isolation and anger</a:t>
            </a:r>
          </a:p>
          <a:p>
            <a:r>
              <a:rPr lang="en-US" sz="2400" b="1" dirty="0" smtClean="0"/>
              <a:t>Reaction formation -</a:t>
            </a:r>
            <a:r>
              <a:rPr lang="en-US" sz="2400" dirty="0" smtClean="0"/>
              <a:t>a tendency to act in a manner opposite to one's true feelings. Example: a person who acts conservation but focuses on violence in their behavior</a:t>
            </a:r>
            <a:endParaRPr lang="en-US" sz="2400" b="1" dirty="0" smtClean="0"/>
          </a:p>
          <a:p>
            <a:r>
              <a:rPr lang="en-US" sz="2400" b="1" dirty="0" smtClean="0"/>
              <a:t>Sublimation -</a:t>
            </a:r>
            <a:r>
              <a:rPr lang="en-US" sz="2400" dirty="0" smtClean="0"/>
              <a:t>expressing sexual or aggressive behavior through indirect, socially acceptable outlets. Example: an aggressive person who loves playing football</a:t>
            </a:r>
          </a:p>
          <a:p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686800" cy="6096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00B050"/>
                </a:solidFill>
              </a:rPr>
              <a:t>Ego Defense Mechanisms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1752" y="762000"/>
            <a:ext cx="8613648" cy="58674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there is a continuous inner war (intra psychic conflict) between the demands of id and superego</a:t>
            </a:r>
          </a:p>
          <a:p>
            <a:r>
              <a:rPr lang="en-US" sz="2000" dirty="0" smtClean="0"/>
              <a:t>the ego control the conflicts through </a:t>
            </a:r>
            <a:r>
              <a:rPr lang="en-US" sz="2000" b="1" i="1" dirty="0" smtClean="0"/>
              <a:t>ego defense</a:t>
            </a:r>
            <a:r>
              <a:rPr lang="en-US" sz="2000" b="1" dirty="0" smtClean="0"/>
              <a:t> </a:t>
            </a:r>
            <a:r>
              <a:rPr lang="en-US" sz="2000" b="1" i="1" dirty="0" smtClean="0"/>
              <a:t>mechanisms</a:t>
            </a:r>
            <a:endParaRPr lang="en-US" sz="2000" dirty="0" smtClean="0"/>
          </a:p>
          <a:p>
            <a:r>
              <a:rPr lang="en-US" sz="2000" dirty="0" smtClean="0"/>
              <a:t>When the ego fails to manage the ongoing inner fight, anxiety results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here are some examples of</a:t>
            </a:r>
            <a:r>
              <a:rPr lang="en-US" sz="2000" b="1" i="1" dirty="0" smtClean="0">
                <a:solidFill>
                  <a:srgbClr val="002060"/>
                </a:solidFill>
              </a:rPr>
              <a:t> ego defense</a:t>
            </a:r>
            <a:r>
              <a:rPr lang="en-US" sz="2000" b="1" dirty="0" smtClean="0">
                <a:solidFill>
                  <a:srgbClr val="002060"/>
                </a:solidFill>
              </a:rPr>
              <a:t> </a:t>
            </a:r>
            <a:r>
              <a:rPr lang="en-US" sz="2000" b="1" i="1" dirty="0" smtClean="0">
                <a:solidFill>
                  <a:srgbClr val="002060"/>
                </a:solidFill>
              </a:rPr>
              <a:t>mechanisms</a:t>
            </a: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Repression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the ego pushes unacceptable impulses out of awareness. </a:t>
            </a:r>
            <a:r>
              <a:rPr lang="en-US" sz="2000" b="1" dirty="0" smtClean="0">
                <a:solidFill>
                  <a:srgbClr val="0070C0"/>
                </a:solidFill>
              </a:rPr>
              <a:t>E.g</a:t>
            </a:r>
            <a:r>
              <a:rPr lang="en-US" sz="2000" dirty="0" smtClean="0"/>
              <a:t>., a young girl was sexually abused by her uncle attempts to forget when becomes an adult</a:t>
            </a: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Denial</a:t>
            </a:r>
            <a:r>
              <a:rPr lang="en-US" sz="2000" b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The ego refuses to acknowledge anxiety producing realities. </a:t>
            </a:r>
            <a:r>
              <a:rPr lang="en-US" sz="2000" b="1" dirty="0" smtClean="0">
                <a:solidFill>
                  <a:srgbClr val="00B0F0"/>
                </a:solidFill>
              </a:rPr>
              <a:t>Example</a:t>
            </a:r>
            <a:r>
              <a:rPr lang="en-US" sz="2000" dirty="0" smtClean="0"/>
              <a:t>, a man won’t accept that he has cancer although a team of doctors has diagnosed his cancer</a:t>
            </a: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Regression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The ego seeks the security of an earlier developmental period in the face of stress. </a:t>
            </a:r>
            <a:r>
              <a:rPr lang="en-US" sz="2000" b="1" dirty="0" smtClean="0">
                <a:solidFill>
                  <a:srgbClr val="00B0F0"/>
                </a:solidFill>
              </a:rPr>
              <a:t>E.g</a:t>
            </a:r>
            <a:r>
              <a:rPr lang="en-US" sz="2000" dirty="0" smtClean="0"/>
              <a:t>., facing the anxious first days of school, a child may regress to the oral comfort of thumb-sucking</a:t>
            </a:r>
            <a:endParaRPr lang="en-US" sz="2000" dirty="0" smtClean="0">
              <a:solidFill>
                <a:srgbClr val="C00000"/>
              </a:solidFill>
            </a:endParaRPr>
          </a:p>
          <a:p>
            <a:r>
              <a:rPr lang="en-US" sz="2000" b="1" i="1" dirty="0" smtClean="0">
                <a:solidFill>
                  <a:srgbClr val="FF0000"/>
                </a:solidFill>
              </a:rPr>
              <a:t>Rationalization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using fallacious and plausible reasons to make things justifiable. </a:t>
            </a:r>
            <a:r>
              <a:rPr lang="en-US" sz="2000" b="1" dirty="0" smtClean="0">
                <a:solidFill>
                  <a:srgbClr val="0070C0"/>
                </a:solidFill>
              </a:rPr>
              <a:t>E.g</a:t>
            </a:r>
            <a:r>
              <a:rPr lang="en-US" sz="2000" dirty="0" smtClean="0"/>
              <a:t>., habitual drinkers may say they drink with their friends “</a:t>
            </a:r>
            <a:r>
              <a:rPr lang="en-US" sz="2000" b="1" dirty="0" smtClean="0"/>
              <a:t>just to be  sociable</a:t>
            </a:r>
            <a:r>
              <a:rPr lang="en-US" sz="2000" dirty="0" smtClean="0"/>
              <a:t>”.</a:t>
            </a:r>
            <a:endParaRPr lang="en-US" sz="2000" dirty="0" smtClean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 spd="slow">
    <p:cover dir="rd"/>
    <p:sndAc>
      <p:stSnd>
        <p:snd r:embed="rId2" name="chimes.wav" builtIn="1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686800" cy="609600"/>
          </a:xfrm>
        </p:spPr>
        <p:txBody>
          <a:bodyPr/>
          <a:lstStyle/>
          <a:p>
            <a:pPr algn="l"/>
            <a:r>
              <a:rPr lang="en-US" sz="2400" b="1" dirty="0" smtClean="0">
                <a:solidFill>
                  <a:srgbClr val="00B050"/>
                </a:solidFill>
              </a:rPr>
              <a:t>Ego Defense Mechanisms (</a:t>
            </a:r>
            <a:r>
              <a:rPr lang="en-US" sz="2400" b="1" dirty="0" err="1" smtClean="0">
                <a:solidFill>
                  <a:srgbClr val="00B050"/>
                </a:solidFill>
              </a:rPr>
              <a:t>contd</a:t>
            </a:r>
            <a:r>
              <a:rPr lang="en-US" sz="2400" b="1" dirty="0" smtClean="0">
                <a:solidFill>
                  <a:srgbClr val="00B050"/>
                </a:solidFill>
              </a:rPr>
              <a:t>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1752" y="838200"/>
            <a:ext cx="8503920" cy="5791200"/>
          </a:xfrm>
        </p:spPr>
        <p:txBody>
          <a:bodyPr>
            <a:normAutofit lnSpcReduction="10000"/>
          </a:bodyPr>
          <a:lstStyle/>
          <a:p>
            <a:r>
              <a:rPr lang="en-US" sz="2600" dirty="0" smtClean="0"/>
              <a:t> </a:t>
            </a:r>
          </a:p>
          <a:p>
            <a:r>
              <a:rPr lang="en-US" sz="2600" b="1" i="1" dirty="0" smtClean="0">
                <a:solidFill>
                  <a:srgbClr val="FF0000"/>
                </a:solidFill>
              </a:rPr>
              <a:t>Displacement</a:t>
            </a:r>
            <a:r>
              <a:rPr lang="en-US" sz="2600" b="1" i="1" dirty="0" smtClean="0">
                <a:solidFill>
                  <a:srgbClr val="C00000"/>
                </a:solidFill>
              </a:rPr>
              <a:t>:-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smtClean="0"/>
              <a:t>The ego shifts feelings toward an unacceptable object to another, more accessible object. </a:t>
            </a:r>
            <a:r>
              <a:rPr lang="en-US" sz="2600" b="1" dirty="0" smtClean="0">
                <a:solidFill>
                  <a:srgbClr val="0070C0"/>
                </a:solidFill>
              </a:rPr>
              <a:t>Example</a:t>
            </a:r>
            <a:r>
              <a:rPr lang="en-US" sz="2600" dirty="0" smtClean="0"/>
              <a:t>, a man who can’t take his anger out on his boss goes to home and kick his wife </a:t>
            </a:r>
          </a:p>
          <a:p>
            <a:r>
              <a:rPr lang="en-US" sz="2600" b="1" i="1" dirty="0" smtClean="0">
                <a:solidFill>
                  <a:srgbClr val="FF0000"/>
                </a:solidFill>
              </a:rPr>
              <a:t>Projection</a:t>
            </a:r>
            <a:r>
              <a:rPr lang="en-US" sz="2600" b="1" i="1" dirty="0" smtClean="0">
                <a:solidFill>
                  <a:srgbClr val="C00000"/>
                </a:solidFill>
              </a:rPr>
              <a:t>:-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The ego attributes personal shortcomings, problems and faults to others. </a:t>
            </a:r>
            <a:r>
              <a:rPr lang="en-US" sz="2400" b="1" dirty="0" smtClean="0">
                <a:solidFill>
                  <a:srgbClr val="00B0F0"/>
                </a:solidFill>
              </a:rPr>
              <a:t>E.g</a:t>
            </a:r>
            <a:r>
              <a:rPr lang="en-US" sz="2400" dirty="0" smtClean="0"/>
              <a:t>., a man who has strong desire to have an extra marital affair accuses his wife flirting with other men.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800" b="1" i="1" dirty="0" smtClean="0">
                <a:solidFill>
                  <a:srgbClr val="FF0000"/>
                </a:solidFill>
              </a:rPr>
              <a:t>Reaction Formation</a:t>
            </a:r>
            <a:r>
              <a:rPr lang="en-US" sz="2400" b="1" i="1" dirty="0" smtClean="0">
                <a:solidFill>
                  <a:srgbClr val="C00000"/>
                </a:solidFill>
              </a:rPr>
              <a:t>:-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The ego transforms an unacceptable motive in to its opposite. </a:t>
            </a:r>
            <a:r>
              <a:rPr lang="en-US" sz="2400" b="1" dirty="0" smtClean="0">
                <a:solidFill>
                  <a:srgbClr val="00B0F0"/>
                </a:solidFill>
              </a:rPr>
              <a:t>Example</a:t>
            </a:r>
            <a:r>
              <a:rPr lang="en-US" sz="2400" dirty="0" smtClean="0"/>
              <a:t>, A woman who fears her sexual urges becomes a religious person.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Sublimation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/>
              <a:t> </a:t>
            </a:r>
            <a:r>
              <a:rPr lang="en-US" sz="2200" dirty="0" smtClean="0"/>
              <a:t>The ego replaces an unacceptable impulse with a socially acceptable one. </a:t>
            </a:r>
            <a:r>
              <a:rPr lang="en-US" sz="2200" b="1" dirty="0" smtClean="0">
                <a:solidFill>
                  <a:srgbClr val="00B0F0"/>
                </a:solidFill>
              </a:rPr>
              <a:t>Example</a:t>
            </a:r>
            <a:r>
              <a:rPr lang="en-US" sz="2200" dirty="0" smtClean="0"/>
              <a:t>, A man with strong sexual urges becomes an artist who paints nudes.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 spd="slow">
    <p:cover dir="rd"/>
    <p:sndAc>
      <p:stSnd>
        <p:snd r:embed="rId2" name="applause.wav" builtIn="1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6.2.2. </a:t>
            </a:r>
            <a:r>
              <a:rPr lang="en-US" sz="2800" b="1" dirty="0" smtClean="0"/>
              <a:t>The trait theory of personality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86800" cy="5867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smtClean="0"/>
              <a:t>see personality as a combination of stable internal characteristics that people display consistently over time and across situations</a:t>
            </a:r>
          </a:p>
          <a:p>
            <a:pPr>
              <a:buNone/>
            </a:pPr>
            <a:r>
              <a:rPr lang="en-US" sz="2400" b="1" dirty="0" smtClean="0"/>
              <a:t>Assumptions</a:t>
            </a:r>
          </a:p>
          <a:p>
            <a:pPr lvl="0"/>
            <a:r>
              <a:rPr lang="en-US" sz="2400" dirty="0" smtClean="0"/>
              <a:t>Personality traits are relatively </a:t>
            </a:r>
            <a:r>
              <a:rPr lang="en-US" sz="2400" b="1" dirty="0" smtClean="0"/>
              <a:t>stable</a:t>
            </a:r>
            <a:r>
              <a:rPr lang="en-US" sz="2400" dirty="0" smtClean="0"/>
              <a:t>, </a:t>
            </a:r>
            <a:r>
              <a:rPr lang="en-US" sz="2400" b="1" dirty="0" smtClean="0"/>
              <a:t>over time, </a:t>
            </a:r>
            <a:r>
              <a:rPr lang="en-US" sz="2400" dirty="0" smtClean="0"/>
              <a:t>and therefore predictable, </a:t>
            </a:r>
          </a:p>
          <a:p>
            <a:pPr lvl="0"/>
            <a:r>
              <a:rPr lang="en-US" sz="2400" dirty="0" smtClean="0"/>
              <a:t>Personality traits are relatively </a:t>
            </a:r>
            <a:r>
              <a:rPr lang="en-US" sz="2400" b="1" dirty="0" smtClean="0"/>
              <a:t>stable</a:t>
            </a:r>
            <a:r>
              <a:rPr lang="en-US" sz="2400" dirty="0" smtClean="0"/>
              <a:t> across </a:t>
            </a:r>
            <a:r>
              <a:rPr lang="en-US" sz="2400" b="1" dirty="0" smtClean="0"/>
              <a:t>situations</a:t>
            </a:r>
            <a:r>
              <a:rPr lang="en-US" sz="2400" dirty="0" smtClean="0"/>
              <a:t>, and they can explain why people act in predictable ways in many different situations. </a:t>
            </a:r>
          </a:p>
          <a:p>
            <a:r>
              <a:rPr lang="en-US" sz="2400" b="1" dirty="0" smtClean="0"/>
              <a:t>People differ </a:t>
            </a:r>
            <a:r>
              <a:rPr lang="en-US" sz="2400" dirty="0" smtClean="0"/>
              <a:t>in how much of a particular </a:t>
            </a:r>
            <a:r>
              <a:rPr lang="en-US" sz="2400" b="1" dirty="0" smtClean="0"/>
              <a:t>personality</a:t>
            </a:r>
            <a:r>
              <a:rPr lang="en-US" sz="2400" dirty="0" smtClean="0"/>
              <a:t> trait they possess; no two people are exactly alike on all traits - variety of unique personalities</a:t>
            </a:r>
          </a:p>
          <a:p>
            <a:pPr>
              <a:buNone/>
            </a:pPr>
            <a:r>
              <a:rPr lang="en-US" sz="2400" dirty="0" smtClean="0"/>
              <a:t>Finally, the trait theory of personality establish the five-factor model or </a:t>
            </a:r>
            <a:r>
              <a:rPr lang="en-US" sz="2400" b="1" dirty="0" smtClean="0"/>
              <a:t>the Big Five theory </a:t>
            </a:r>
            <a:r>
              <a:rPr lang="en-US" sz="2400" dirty="0" smtClean="0"/>
              <a:t> that can be remembered by using the acronym </a:t>
            </a:r>
            <a:r>
              <a:rPr lang="en-US" sz="2400" b="1" dirty="0" smtClean="0">
                <a:solidFill>
                  <a:srgbClr val="FF0000"/>
                </a:solidFill>
              </a:rPr>
              <a:t>OCEAN</a:t>
            </a:r>
            <a:r>
              <a:rPr lang="en-US" sz="2400" dirty="0" smtClean="0"/>
              <a:t>, in which each of the letters is the first letter of one of the five dimensions of personality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rgbClr val="C00000"/>
                </a:solidFill>
              </a:rPr>
              <a:t>The Big-Five Model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04800" y="1143000"/>
          <a:ext cx="8686801" cy="556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5867401"/>
              </a:tblGrid>
              <a:tr h="7202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latin typeface="Bookman Old Style"/>
                          <a:ea typeface="Times New Roman"/>
                        </a:rPr>
                        <a:t>   </a:t>
                      </a:r>
                      <a:r>
                        <a:rPr lang="en-US" sz="1800" b="1" dirty="0" smtClean="0">
                          <a:latin typeface="Bookman Old Style"/>
                          <a:ea typeface="Times New Roman"/>
                        </a:rPr>
                        <a:t>Factors </a:t>
                      </a:r>
                      <a:r>
                        <a:rPr lang="en-US" sz="1800" b="1" dirty="0">
                          <a:latin typeface="Bookman Old Style"/>
                          <a:ea typeface="Times New Roman"/>
                        </a:rPr>
                        <a:t>of personality</a:t>
                      </a:r>
                      <a:endParaRPr lang="en-US" sz="1800" b="1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latin typeface="Bookman Old Style"/>
                          <a:ea typeface="Times New Roman"/>
                        </a:rPr>
                        <a:t>Descriptions</a:t>
                      </a:r>
                      <a:endParaRPr lang="en-US" sz="1800" b="1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</a:tr>
              <a:tr h="9880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Bookman Old Style"/>
                          <a:ea typeface="Times New Roman"/>
                        </a:rPr>
                        <a:t>       </a:t>
                      </a:r>
                      <a:r>
                        <a:rPr lang="en-US" sz="1800" b="1" dirty="0" smtClean="0">
                          <a:latin typeface="Bookman Old Style"/>
                          <a:ea typeface="Times New Roman"/>
                        </a:rPr>
                        <a:t>Openness</a:t>
                      </a:r>
                      <a:endParaRPr lang="en-US" sz="1800" b="1" dirty="0" smtClean="0">
                        <a:latin typeface="Calibri"/>
                        <a:ea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 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 Imaginative Vs practical, preference for variety Vs routine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</a:tr>
              <a:tr h="581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Bookman Old Style"/>
                          <a:ea typeface="Times New Roman"/>
                        </a:rPr>
                        <a:t>        </a:t>
                      </a:r>
                      <a:r>
                        <a:rPr lang="en-US" sz="1800" b="1" dirty="0">
                          <a:latin typeface="Bookman Old Style"/>
                          <a:ea typeface="Times New Roman"/>
                        </a:rPr>
                        <a:t>Conscientiousness</a:t>
                      </a:r>
                      <a:endParaRPr lang="en-US" sz="1800" b="1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Careful </a:t>
                      </a:r>
                      <a:r>
                        <a:rPr lang="en-US" sz="1800" dirty="0">
                          <a:latin typeface="Bookman Old Style"/>
                          <a:ea typeface="Times New Roman"/>
                        </a:rPr>
                        <a:t>Vs careless, Well-organized Vs disorganized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</a:tr>
              <a:tr h="7796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Bookman Old Style"/>
                          <a:ea typeface="Times New Roman"/>
                        </a:rPr>
                        <a:t>     </a:t>
                      </a:r>
                      <a:r>
                        <a:rPr lang="en-US" sz="1800" b="1" dirty="0" smtClean="0">
                          <a:latin typeface="Bookman Old Style"/>
                          <a:ea typeface="Times New Roman"/>
                        </a:rPr>
                        <a:t>Extraversion</a:t>
                      </a:r>
                      <a:endParaRPr lang="en-US" sz="1800" b="1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latin typeface="Bookman Old Style"/>
                          <a:ea typeface="Times New Roman"/>
                        </a:rPr>
                        <a:t>  </a:t>
                      </a: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Sociable Vs retiring, affectionate Vs reserved, </a:t>
                      </a:r>
                      <a:endParaRPr lang="en-US" sz="1800" dirty="0" smtClean="0">
                        <a:latin typeface="Calibri"/>
                        <a:ea typeface="Times New Roman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  Fun loving Vs sober</a:t>
                      </a:r>
                      <a:endParaRPr lang="en-US" sz="1800" dirty="0" smtClean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</a:tr>
              <a:tr h="10481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latin typeface="Bookman Old Style"/>
                          <a:ea typeface="Times New Roman"/>
                        </a:rPr>
                        <a:t>Agreeableness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             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Soft-hearted Vs suspicious, Helpful Vs uncooperative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</a:tr>
              <a:tr h="988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Neuroticism</a:t>
                      </a: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        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Bookman Old Style"/>
                          <a:ea typeface="Times New Roman"/>
                        </a:rPr>
                        <a:t>Calm Vs anxious, secure Vs insecure</a:t>
                      </a:r>
                      <a:endParaRPr lang="en-US" sz="1800" dirty="0">
                        <a:latin typeface="Calibri"/>
                        <a:ea typeface="Times New Roman"/>
                      </a:endParaRPr>
                    </a:p>
                  </a:txBody>
                  <a:tcPr marL="70052" marR="70052" marT="0" marB="0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 spd="slow">
    <p:comb/>
    <p:sndAc>
      <p:stSnd>
        <p:snd r:embed="rId2" name="chimes.wav" builtIn="1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842248" cy="990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6.2.3. </a:t>
            </a:r>
            <a:r>
              <a:rPr lang="en-US" sz="2800" b="1" dirty="0" smtClean="0"/>
              <a:t>Humanistic theory of </a:t>
            </a:r>
            <a:r>
              <a:rPr lang="en-US" sz="2800" b="1" dirty="0" smtClean="0"/>
              <a:t>personality (</a:t>
            </a:r>
            <a:r>
              <a:rPr lang="en-US" sz="2000" b="1" dirty="0" smtClean="0"/>
              <a:t>A </a:t>
            </a:r>
            <a:r>
              <a:rPr lang="en-US" sz="2000" b="1" dirty="0" err="1" smtClean="0"/>
              <a:t>Maslaw</a:t>
            </a:r>
            <a:r>
              <a:rPr lang="en-US" sz="2000" b="1" dirty="0" smtClean="0"/>
              <a:t>)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smtClean="0"/>
              <a:t>emphasize people‘s inherent goodness and their tendency to move toward higher levels of functioning</a:t>
            </a:r>
          </a:p>
          <a:p>
            <a:pPr>
              <a:buNone/>
            </a:pPr>
            <a:r>
              <a:rPr lang="en-US" sz="2400" dirty="0" smtClean="0"/>
              <a:t>this conscious, </a:t>
            </a:r>
            <a:r>
              <a:rPr lang="en-US" sz="2400" b="1" dirty="0" smtClean="0"/>
              <a:t>self-motivated</a:t>
            </a:r>
            <a:r>
              <a:rPr lang="en-US" sz="2400" dirty="0" smtClean="0"/>
              <a:t> ability to change and improve, along with people‘s </a:t>
            </a:r>
            <a:r>
              <a:rPr lang="en-US" sz="2400" b="1" dirty="0" smtClean="0"/>
              <a:t>unique creative impulses</a:t>
            </a:r>
            <a:r>
              <a:rPr lang="en-US" sz="2400" dirty="0" smtClean="0"/>
              <a:t>, that humanistic theorists argue make up the core of personality</a:t>
            </a:r>
          </a:p>
          <a:p>
            <a:pPr>
              <a:buNone/>
            </a:pPr>
            <a:r>
              <a:rPr lang="en-US" sz="2400" dirty="0" smtClean="0"/>
              <a:t>focus on the things that make people uniquely human, such as </a:t>
            </a:r>
            <a:r>
              <a:rPr lang="en-US" sz="2400" b="1" dirty="0" smtClean="0"/>
              <a:t>subjective emotions and the freedom to choose one‘s destiny</a:t>
            </a:r>
          </a:p>
          <a:p>
            <a:pPr>
              <a:buNone/>
            </a:pPr>
            <a:r>
              <a:rPr lang="en-US" sz="2400" dirty="0" smtClean="0"/>
              <a:t>human beings are always striving to fulfill their innate capacities and capabilities and to become everything that their genetic potential will allow them to become - called </a:t>
            </a:r>
            <a:r>
              <a:rPr lang="en-US" sz="2400" b="1" dirty="0" smtClean="0"/>
              <a:t>self-actualizing tendency</a:t>
            </a:r>
          </a:p>
          <a:p>
            <a:pPr>
              <a:buNone/>
            </a:pPr>
            <a:r>
              <a:rPr lang="en-US" sz="2400" dirty="0" smtClean="0"/>
              <a:t>important tool in human self-actualization is the development of an image of oneself or the </a:t>
            </a:r>
            <a:r>
              <a:rPr lang="en-US" sz="2400" b="1" dirty="0" smtClean="0"/>
              <a:t>self-concept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52400"/>
            <a:ext cx="8534400" cy="990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6.2.3. </a:t>
            </a:r>
            <a:r>
              <a:rPr lang="en-US" sz="2800" b="1" dirty="0" smtClean="0"/>
              <a:t>Humanistic </a:t>
            </a:r>
            <a:r>
              <a:rPr lang="en-US" sz="2800" b="1" dirty="0" smtClean="0"/>
              <a:t>t</a:t>
            </a:r>
            <a:r>
              <a:rPr lang="en-US" sz="2800" b="1" dirty="0" smtClean="0"/>
              <a:t>. C Rogers – Self concept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486400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/>
              <a:t>Real and Ideal </a:t>
            </a:r>
            <a:r>
              <a:rPr lang="en-US" sz="2400" b="1" dirty="0" smtClean="0"/>
              <a:t>Self  (a person’s image towards oneself)</a:t>
            </a: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real self - </a:t>
            </a:r>
            <a:r>
              <a:rPr lang="en-US" sz="2400" dirty="0" smtClean="0"/>
              <a:t>one‘s actual perception of characteristics, traits, and abilities that form the basis of the striving for self-actualization</a:t>
            </a:r>
            <a:endParaRPr lang="en-US" sz="2400" b="1" dirty="0" smtClean="0">
              <a:solidFill>
                <a:srgbClr val="00B0F0"/>
              </a:solidFill>
            </a:endParaRPr>
          </a:p>
          <a:p>
            <a:r>
              <a:rPr lang="en-US" sz="2400" b="1" dirty="0" smtClean="0"/>
              <a:t>ideal self - </a:t>
            </a:r>
            <a:r>
              <a:rPr lang="en-US" sz="2400" dirty="0" smtClean="0"/>
              <a:t>the perception of what one should be or would like to be). The ideal self primarily comes from those important, significant others in one‘s life, most often the parents</a:t>
            </a:r>
          </a:p>
          <a:p>
            <a:r>
              <a:rPr lang="en-US" sz="2400" dirty="0" smtClean="0"/>
              <a:t>The two halves of the self are more likely to match if they aren‘t that far apart at the start</a:t>
            </a:r>
            <a:endParaRPr lang="en-US" sz="2400" b="1" dirty="0" smtClean="0"/>
          </a:p>
          <a:p>
            <a:r>
              <a:rPr lang="en-US" sz="2400" b="1" dirty="0" smtClean="0"/>
              <a:t>Conditional and Unconditional Positive Regard</a:t>
            </a:r>
          </a:p>
          <a:p>
            <a:pPr>
              <a:buNone/>
            </a:pPr>
            <a:r>
              <a:rPr lang="en-US" sz="2400" b="1" dirty="0" smtClean="0"/>
              <a:t>unconditioned</a:t>
            </a:r>
            <a:r>
              <a:rPr lang="en-US" sz="2400" dirty="0" smtClean="0"/>
              <a:t> positive regard, or love, affection and respect with no strings attached, is necessary for people to be able to explore fully all that they can achieve and become</a:t>
            </a: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positive regard </a:t>
            </a:r>
            <a:r>
              <a:rPr lang="en-US" sz="2400" dirty="0" smtClean="0"/>
              <a:t>as warmth, affection, love, and respect that comes from the significant others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 spd="slow">
    <p:comb dir="vert"/>
    <p:sndAc>
      <p:stSnd>
        <p:snd r:embed="rId2" name="chimes.wav" builtIn="1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990600"/>
          </a:xfrm>
        </p:spPr>
        <p:txBody>
          <a:bodyPr/>
          <a:lstStyle/>
          <a:p>
            <a:pPr lvl="0" algn="ctr"/>
            <a:r>
              <a:rPr lang="en-US" sz="5400" b="1" dirty="0" smtClean="0">
                <a:solidFill>
                  <a:srgbClr val="FFFF00"/>
                </a:solidFill>
                <a:latin typeface="Lucida Calligraphy" pitchFamily="66" charset="0"/>
              </a:rPr>
              <a:t>THE END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4831560"/>
          </a:xfrm>
        </p:spPr>
        <p:txBody>
          <a:bodyPr>
            <a:normAutofit/>
          </a:bodyPr>
          <a:lstStyle/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endParaRPr lang="en-US" sz="3200" dirty="0" smtClean="0">
              <a:solidFill>
                <a:srgbClr val="FFFF00"/>
              </a:solidFill>
              <a:latin typeface="Lucida Calligraphy" pitchFamily="66" charset="0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r>
              <a:rPr lang="en-US" sz="5400" b="1" dirty="0" smtClean="0">
                <a:solidFill>
                  <a:srgbClr val="FFFF00"/>
                </a:solidFill>
                <a:latin typeface="Lucida Calligraphy" pitchFamily="66" charset="0"/>
              </a:rPr>
              <a:t>THANK YOU VERY MUCH</a:t>
            </a: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endParaRPr lang="en-US" sz="3200" dirty="0" smtClean="0">
              <a:solidFill>
                <a:srgbClr val="FFFF00"/>
              </a:solidFill>
              <a:latin typeface="Lucida Calligraphy" pitchFamily="66" charset="0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r>
              <a:rPr lang="en-US" sz="5400" b="1" dirty="0" smtClean="0">
                <a:solidFill>
                  <a:srgbClr val="FFFF00"/>
                </a:solidFill>
                <a:latin typeface="Lucida Calligraphy" pitchFamily="66" charset="0"/>
              </a:rPr>
              <a:t>ALL THE BEST!!</a:t>
            </a:r>
          </a:p>
          <a:p>
            <a:endParaRPr lang="en-US" sz="5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 builtIn="1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rgbClr val="00B0F0"/>
                </a:solidFill>
              </a:rPr>
              <a:t>Psychoanalytic Theories </a:t>
            </a:r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1752" y="1527048"/>
            <a:ext cx="8689848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Theory of psychosexual development (S. Freud)</a:t>
            </a:r>
          </a:p>
          <a:p>
            <a:pPr marL="339725" indent="-273050">
              <a:buFont typeface="Wingdings" pitchFamily="2" charset="2"/>
              <a:buChar char="Ø"/>
            </a:pPr>
            <a:r>
              <a:rPr lang="en-US" sz="2800" dirty="0" smtClean="0"/>
              <a:t>much more of our mind is unconscious than conscious and that held the key to understand personality</a:t>
            </a:r>
          </a:p>
          <a:p>
            <a:pPr marL="339725" indent="-273050">
              <a:buFont typeface="Wingdings" pitchFamily="2" charset="2"/>
              <a:buChar char="Ø"/>
            </a:pPr>
            <a:r>
              <a:rPr lang="en-US" sz="2800" dirty="0" smtClean="0"/>
              <a:t>each of our lives is filled with tension and conflict; to reduce these we keep information locked in our unconscious mind which later appear influencing our behavior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 spd="slow">
    <p:comb/>
    <p:sndAc>
      <p:stSnd>
        <p:snd r:embed="rId2" name="chimes.wav" builtIn="1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 smtClean="0">
                <a:solidFill>
                  <a:srgbClr val="7030A0"/>
                </a:solidFill>
              </a:rPr>
              <a:t>Freud’s Structures of Personality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4956048"/>
          </a:xfrm>
        </p:spPr>
        <p:txBody>
          <a:bodyPr>
            <a:normAutofit/>
          </a:bodyPr>
          <a:lstStyle/>
          <a:p>
            <a:pPr marL="57150" indent="-57150">
              <a:buNone/>
            </a:pPr>
            <a:r>
              <a:rPr lang="en-US" sz="2400" dirty="0" smtClean="0"/>
              <a:t>Freud broke the human personality down to three components: the </a:t>
            </a:r>
            <a:r>
              <a:rPr lang="en-US" sz="2400" b="1" i="1" dirty="0" smtClean="0">
                <a:solidFill>
                  <a:srgbClr val="FF0000"/>
                </a:solidFill>
              </a:rPr>
              <a:t>ID, EGO and SUPER EGO</a:t>
            </a:r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0070C0"/>
                </a:solidFill>
              </a:rPr>
              <a:t>Id</a:t>
            </a:r>
            <a:r>
              <a:rPr lang="en-US" sz="2400" dirty="0" smtClean="0"/>
              <a:t> is the biological, primitive and animalistic part of human being that ensures our survival and operates on </a:t>
            </a:r>
            <a:r>
              <a:rPr lang="en-US" sz="2400" b="1" dirty="0" smtClean="0"/>
              <a:t>pleasure</a:t>
            </a:r>
            <a:r>
              <a:rPr lang="en-US" sz="2400" dirty="0" smtClean="0"/>
              <a:t> principle</a:t>
            </a:r>
          </a:p>
          <a:p>
            <a:r>
              <a:rPr lang="en-US" sz="2800" b="1" dirty="0" smtClean="0">
                <a:solidFill>
                  <a:srgbClr val="00B050"/>
                </a:solidFill>
              </a:rPr>
              <a:t>Ego</a:t>
            </a:r>
            <a:r>
              <a:rPr lang="en-US" sz="2400" dirty="0" smtClean="0"/>
              <a:t> is the </a:t>
            </a:r>
            <a:r>
              <a:rPr lang="en-US" sz="2400" b="1" dirty="0" smtClean="0"/>
              <a:t>executive</a:t>
            </a:r>
            <a:r>
              <a:rPr lang="en-US" sz="2400" dirty="0" smtClean="0"/>
              <a:t> part of personality governed with the </a:t>
            </a:r>
            <a:r>
              <a:rPr lang="en-US" sz="2400" b="1" dirty="0" smtClean="0"/>
              <a:t>reality</a:t>
            </a:r>
            <a:r>
              <a:rPr lang="en-US" sz="2400" dirty="0" smtClean="0"/>
              <a:t> principle that creates a balance between the impulsive id and perfect superego 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Superego</a:t>
            </a:r>
            <a:r>
              <a:rPr lang="en-US" sz="2400" b="1" dirty="0" smtClean="0"/>
              <a:t> </a:t>
            </a:r>
            <a:r>
              <a:rPr lang="en-US" sz="2400" dirty="0" smtClean="0"/>
              <a:t>is </a:t>
            </a:r>
            <a:r>
              <a:rPr lang="en-US" sz="2400" b="1" dirty="0" smtClean="0"/>
              <a:t>moral</a:t>
            </a:r>
            <a:r>
              <a:rPr lang="en-US" sz="2400" dirty="0" smtClean="0"/>
              <a:t> branch of personality that represents socially approved values, social components of human beings</a:t>
            </a:r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 spd="slow">
    <p:comb/>
    <p:sndAc>
      <p:stSnd>
        <p:snd r:embed="rId2" name="chimes.wav" builtIn="1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686800" cy="6096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>
                <a:solidFill>
                  <a:srgbClr val="00B050"/>
                </a:solidFill>
              </a:rPr>
              <a:t>Ego Defense Mechanisms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1752" y="762000"/>
            <a:ext cx="8613648" cy="58674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there is a continuous inner war (intra psychic conflict) between the demands of id and superego</a:t>
            </a:r>
          </a:p>
          <a:p>
            <a:r>
              <a:rPr lang="en-US" sz="2000" dirty="0" smtClean="0"/>
              <a:t>the ego control the conflicts through </a:t>
            </a:r>
            <a:r>
              <a:rPr lang="en-US" sz="2000" b="1" i="1" dirty="0" smtClean="0"/>
              <a:t>ego defense</a:t>
            </a:r>
            <a:r>
              <a:rPr lang="en-US" sz="2000" b="1" dirty="0" smtClean="0"/>
              <a:t> </a:t>
            </a:r>
            <a:r>
              <a:rPr lang="en-US" sz="2000" b="1" i="1" dirty="0" smtClean="0"/>
              <a:t>mechanisms</a:t>
            </a:r>
            <a:endParaRPr lang="en-US" sz="2000" dirty="0" smtClean="0"/>
          </a:p>
          <a:p>
            <a:r>
              <a:rPr lang="en-US" sz="2000" dirty="0" smtClean="0"/>
              <a:t>When the ego fails to manage the ongoing inner fight, anxiety results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here are some examples of</a:t>
            </a:r>
            <a:r>
              <a:rPr lang="en-US" sz="2000" b="1" i="1" dirty="0" smtClean="0">
                <a:solidFill>
                  <a:srgbClr val="002060"/>
                </a:solidFill>
              </a:rPr>
              <a:t> ego defense</a:t>
            </a:r>
            <a:r>
              <a:rPr lang="en-US" sz="2000" b="1" dirty="0" smtClean="0">
                <a:solidFill>
                  <a:srgbClr val="002060"/>
                </a:solidFill>
              </a:rPr>
              <a:t> </a:t>
            </a:r>
            <a:r>
              <a:rPr lang="en-US" sz="2000" b="1" i="1" dirty="0" smtClean="0">
                <a:solidFill>
                  <a:srgbClr val="002060"/>
                </a:solidFill>
              </a:rPr>
              <a:t>mechanisms</a:t>
            </a: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Repression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the ego pushes unacceptable impulses out of awareness. </a:t>
            </a:r>
            <a:r>
              <a:rPr lang="en-US" sz="2000" b="1" dirty="0" smtClean="0">
                <a:solidFill>
                  <a:srgbClr val="0070C0"/>
                </a:solidFill>
              </a:rPr>
              <a:t>E.g</a:t>
            </a:r>
            <a:r>
              <a:rPr lang="en-US" sz="2000" dirty="0" smtClean="0"/>
              <a:t>., a young girl was sexually abused by her uncle attempts to forget when becomes an adult</a:t>
            </a: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Denial</a:t>
            </a:r>
            <a:r>
              <a:rPr lang="en-US" sz="2000" b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The ego refuses to acknowledge anxiety producing realities. </a:t>
            </a:r>
            <a:r>
              <a:rPr lang="en-US" sz="2000" b="1" dirty="0" smtClean="0">
                <a:solidFill>
                  <a:srgbClr val="00B0F0"/>
                </a:solidFill>
              </a:rPr>
              <a:t>Example</a:t>
            </a:r>
            <a:r>
              <a:rPr lang="en-US" sz="2000" dirty="0" smtClean="0"/>
              <a:t>, a man won’t accept that he has cancer although a team of doctors has diagnosed his cancer</a:t>
            </a: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Regression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The ego seeks the security of an earlier developmental period in the face of stress. </a:t>
            </a:r>
            <a:r>
              <a:rPr lang="en-US" sz="2000" b="1" dirty="0" smtClean="0">
                <a:solidFill>
                  <a:srgbClr val="00B0F0"/>
                </a:solidFill>
              </a:rPr>
              <a:t>E.g</a:t>
            </a:r>
            <a:r>
              <a:rPr lang="en-US" sz="2000" dirty="0" smtClean="0"/>
              <a:t>., facing the anxious first days of school, a child may regress to the oral comfort of thumb-sucking</a:t>
            </a:r>
            <a:endParaRPr lang="en-US" sz="2000" dirty="0" smtClean="0">
              <a:solidFill>
                <a:srgbClr val="C00000"/>
              </a:solidFill>
            </a:endParaRPr>
          </a:p>
          <a:p>
            <a:r>
              <a:rPr lang="en-US" sz="2000" b="1" i="1" dirty="0" smtClean="0">
                <a:solidFill>
                  <a:srgbClr val="FF0000"/>
                </a:solidFill>
              </a:rPr>
              <a:t>Rationalization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using fallacious and plausible reasons to make things justifiable. </a:t>
            </a:r>
            <a:r>
              <a:rPr lang="en-US" sz="2000" b="1" dirty="0" smtClean="0">
                <a:solidFill>
                  <a:srgbClr val="0070C0"/>
                </a:solidFill>
              </a:rPr>
              <a:t>E.g</a:t>
            </a:r>
            <a:r>
              <a:rPr lang="en-US" sz="2000" dirty="0" smtClean="0"/>
              <a:t>., habitual drinkers may say they drink with their friends “</a:t>
            </a:r>
            <a:r>
              <a:rPr lang="en-US" sz="2000" b="1" dirty="0" smtClean="0"/>
              <a:t>just to be  sociable</a:t>
            </a:r>
            <a:r>
              <a:rPr lang="en-US" sz="2000" dirty="0" smtClean="0"/>
              <a:t>”.</a:t>
            </a:r>
            <a:endParaRPr lang="en-US" sz="2000" dirty="0" smtClean="0">
              <a:solidFill>
                <a:srgbClr val="C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 spd="slow">
    <p:cover dir="rd"/>
    <p:sndAc>
      <p:stSnd>
        <p:snd r:embed="rId2" name="chimes.wav" builtIn="1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686800" cy="609600"/>
          </a:xfrm>
        </p:spPr>
        <p:txBody>
          <a:bodyPr/>
          <a:lstStyle/>
          <a:p>
            <a:pPr algn="l"/>
            <a:r>
              <a:rPr lang="en-US" sz="2400" b="1" dirty="0" smtClean="0">
                <a:solidFill>
                  <a:srgbClr val="00B050"/>
                </a:solidFill>
              </a:rPr>
              <a:t>Ego Defense Mechanisms (</a:t>
            </a:r>
            <a:r>
              <a:rPr lang="en-US" sz="2400" b="1" dirty="0" err="1" smtClean="0">
                <a:solidFill>
                  <a:srgbClr val="00B050"/>
                </a:solidFill>
              </a:rPr>
              <a:t>contd</a:t>
            </a:r>
            <a:r>
              <a:rPr lang="en-US" sz="2400" b="1" dirty="0" smtClean="0">
                <a:solidFill>
                  <a:srgbClr val="00B050"/>
                </a:solidFill>
              </a:rPr>
              <a:t>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1752" y="838200"/>
            <a:ext cx="8503920" cy="5791200"/>
          </a:xfrm>
        </p:spPr>
        <p:txBody>
          <a:bodyPr>
            <a:normAutofit/>
          </a:bodyPr>
          <a:lstStyle/>
          <a:p>
            <a:r>
              <a:rPr lang="en-US" sz="2600" b="1" i="1" dirty="0" smtClean="0">
                <a:solidFill>
                  <a:srgbClr val="FF0000"/>
                </a:solidFill>
              </a:rPr>
              <a:t>Displacement</a:t>
            </a:r>
            <a:r>
              <a:rPr lang="en-US" sz="2600" b="1" i="1" dirty="0" smtClean="0">
                <a:solidFill>
                  <a:srgbClr val="C00000"/>
                </a:solidFill>
              </a:rPr>
              <a:t>:-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600" dirty="0" smtClean="0"/>
              <a:t>The ego shifts feelings toward an unacceptable object to another, more accessible object. </a:t>
            </a:r>
            <a:r>
              <a:rPr lang="en-US" sz="2600" b="1" dirty="0" smtClean="0">
                <a:solidFill>
                  <a:srgbClr val="0070C0"/>
                </a:solidFill>
              </a:rPr>
              <a:t>Example</a:t>
            </a:r>
            <a:r>
              <a:rPr lang="en-US" sz="2600" dirty="0" smtClean="0"/>
              <a:t>, a man who can’t take his anger out on his boss goes to home and kick his wife </a:t>
            </a:r>
          </a:p>
          <a:p>
            <a:r>
              <a:rPr lang="en-US" sz="2600" b="1" i="1" dirty="0" smtClean="0">
                <a:solidFill>
                  <a:srgbClr val="FF0000"/>
                </a:solidFill>
              </a:rPr>
              <a:t>Projection</a:t>
            </a:r>
            <a:r>
              <a:rPr lang="en-US" sz="2600" b="1" i="1" dirty="0" smtClean="0">
                <a:solidFill>
                  <a:srgbClr val="C00000"/>
                </a:solidFill>
              </a:rPr>
              <a:t>:-</a:t>
            </a:r>
            <a:r>
              <a:rPr lang="en-US" sz="26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The ego attributes personal shortcomings, problems and faults to others. </a:t>
            </a:r>
            <a:r>
              <a:rPr lang="en-US" sz="2400" b="1" dirty="0" smtClean="0">
                <a:solidFill>
                  <a:srgbClr val="00B0F0"/>
                </a:solidFill>
              </a:rPr>
              <a:t>E.g</a:t>
            </a:r>
            <a:r>
              <a:rPr lang="en-US" sz="2400" dirty="0" smtClean="0"/>
              <a:t>., a man who has strong desire to have an extra marital affair accuses his wife flirting with other men.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800" b="1" i="1" dirty="0" smtClean="0">
                <a:solidFill>
                  <a:srgbClr val="FF0000"/>
                </a:solidFill>
              </a:rPr>
              <a:t>Reaction Formation</a:t>
            </a:r>
            <a:r>
              <a:rPr lang="en-US" sz="2400" b="1" i="1" dirty="0" smtClean="0">
                <a:solidFill>
                  <a:srgbClr val="C00000"/>
                </a:solidFill>
              </a:rPr>
              <a:t>:-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The ego transforms an unacceptable motive in to its opposite. </a:t>
            </a:r>
            <a:r>
              <a:rPr lang="en-US" sz="2400" b="1" dirty="0" smtClean="0">
                <a:solidFill>
                  <a:srgbClr val="00B0F0"/>
                </a:solidFill>
              </a:rPr>
              <a:t>Example</a:t>
            </a:r>
            <a:r>
              <a:rPr lang="en-US" sz="2400" dirty="0" smtClean="0"/>
              <a:t>, A woman who fears her sexual urges becomes a religious person.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b="1" i="1" dirty="0" smtClean="0">
                <a:solidFill>
                  <a:srgbClr val="FF0000"/>
                </a:solidFill>
              </a:rPr>
              <a:t>Sublimation</a:t>
            </a:r>
            <a:r>
              <a:rPr lang="en-US" sz="2000" b="1" i="1" dirty="0" smtClean="0">
                <a:solidFill>
                  <a:srgbClr val="C00000"/>
                </a:solidFill>
              </a:rPr>
              <a:t>:-</a:t>
            </a:r>
            <a:r>
              <a:rPr lang="en-US" sz="2000" dirty="0" smtClean="0"/>
              <a:t> </a:t>
            </a:r>
            <a:r>
              <a:rPr lang="en-US" sz="2200" dirty="0" smtClean="0"/>
              <a:t>The ego replaces an unacceptable impulse with a socially acceptable one. </a:t>
            </a:r>
            <a:r>
              <a:rPr lang="en-US" sz="2200" b="1" dirty="0" smtClean="0">
                <a:solidFill>
                  <a:srgbClr val="00B0F0"/>
                </a:solidFill>
              </a:rPr>
              <a:t>Example</a:t>
            </a:r>
            <a:r>
              <a:rPr lang="en-US" sz="2200" dirty="0" smtClean="0"/>
              <a:t>, A man with strong sexual urges becomes an artist who paints nudes.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B289-DF6F-48AD-AAF0-D7A81E038C6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ransition spd="slow">
    <p:cover dir="rd"/>
    <p:sndAc>
      <p:stSnd>
        <p:snd r:embed="rId2" name="applause.wav" builtIn="1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7772400" cy="990600"/>
          </a:xfrm>
        </p:spPr>
        <p:txBody>
          <a:bodyPr/>
          <a:lstStyle/>
          <a:p>
            <a:pPr lvl="0" algn="ctr"/>
            <a:r>
              <a:rPr lang="en-US" sz="5400" b="1" dirty="0" smtClean="0">
                <a:solidFill>
                  <a:srgbClr val="FFFF00"/>
                </a:solidFill>
                <a:latin typeface="Lucida Calligraphy" pitchFamily="66" charset="0"/>
              </a:rPr>
              <a:t>THE END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4831560"/>
          </a:xfrm>
        </p:spPr>
        <p:txBody>
          <a:bodyPr>
            <a:normAutofit/>
          </a:bodyPr>
          <a:lstStyle/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endParaRPr lang="en-US" sz="3200" dirty="0" smtClean="0">
              <a:solidFill>
                <a:srgbClr val="FFFF00"/>
              </a:solidFill>
              <a:latin typeface="Lucida Calligraphy" pitchFamily="66" charset="0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r>
              <a:rPr lang="en-US" sz="5400" b="1" dirty="0" smtClean="0">
                <a:solidFill>
                  <a:srgbClr val="FFFF00"/>
                </a:solidFill>
                <a:latin typeface="Lucida Calligraphy" pitchFamily="66" charset="0"/>
              </a:rPr>
              <a:t>THANK YOU VERY MUCH</a:t>
            </a: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endParaRPr lang="en-US" sz="3200" dirty="0" smtClean="0">
              <a:solidFill>
                <a:srgbClr val="FFFF00"/>
              </a:solidFill>
              <a:latin typeface="Lucida Calligraphy" pitchFamily="66" charset="0"/>
            </a:endParaRPr>
          </a:p>
          <a:p>
            <a:pPr marL="274320" lvl="0" indent="-274320" algn="ctr">
              <a:spcBef>
                <a:spcPct val="20000"/>
              </a:spcBef>
              <a:buClr>
                <a:srgbClr val="D16349"/>
              </a:buClr>
              <a:buSzPct val="85000"/>
              <a:buNone/>
            </a:pPr>
            <a:r>
              <a:rPr lang="en-US" sz="5400" b="1" dirty="0" smtClean="0">
                <a:solidFill>
                  <a:srgbClr val="FFFF00"/>
                </a:solidFill>
                <a:latin typeface="Lucida Calligraphy" pitchFamily="66" charset="0"/>
              </a:rPr>
              <a:t>ALL THE BEST!!</a:t>
            </a:r>
          </a:p>
          <a:p>
            <a:endParaRPr lang="en-US" sz="5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September,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E. W/G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1457B-7433-42AD-BA61-05DF5B53CDC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ransition spd="slow">
    <p:cover dir="d"/>
    <p:sndAc>
      <p:stSnd>
        <p:snd r:embed="rId2" name="coin.wav" builtIn="1"/>
      </p:stSnd>
    </p:sndAc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1927</TotalTime>
  <Words>2198</Words>
  <Application>Microsoft Office PowerPoint</Application>
  <PresentationFormat>On-screen Show (4:3)</PresentationFormat>
  <Paragraphs>192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1_Metro</vt:lpstr>
      <vt:lpstr>Trek</vt:lpstr>
      <vt:lpstr>UNIT SIX</vt:lpstr>
      <vt:lpstr>6.1  Meaning of Personality</vt:lpstr>
      <vt:lpstr>6.2. Theories of Personality</vt:lpstr>
      <vt:lpstr>The psychoanalytic theory of personality</vt:lpstr>
      <vt:lpstr>6.2.1. The psychoanalytic theory of personality</vt:lpstr>
      <vt:lpstr>Defense mechanisms</vt:lpstr>
      <vt:lpstr>Defense mechanisms</vt:lpstr>
      <vt:lpstr>Ego Defense Mechanisms</vt:lpstr>
      <vt:lpstr>Ego Defense Mechanisms (contd)</vt:lpstr>
      <vt:lpstr>6.2.2. The trait theory of personality</vt:lpstr>
      <vt:lpstr>The Big-Five Model</vt:lpstr>
      <vt:lpstr>6.2.3. Humanistic theory of personality (A Maslaw)</vt:lpstr>
      <vt:lpstr>6.2.3. Humanistic t. C Rogers – Self concept</vt:lpstr>
      <vt:lpstr>THE END</vt:lpstr>
      <vt:lpstr>Psychoanalytic Theories </vt:lpstr>
      <vt:lpstr>Freud’s Structures of Personality</vt:lpstr>
      <vt:lpstr>Ego Defense Mechanisms</vt:lpstr>
      <vt:lpstr>Ego Defense Mechanisms (contd)</vt:lpstr>
      <vt:lpstr>THE END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ONE:  SUBJECT MATTER OF PSYCHOLOGY  </dc:title>
  <dc:creator>Meme</dc:creator>
  <cp:lastModifiedBy>user</cp:lastModifiedBy>
  <cp:revision>267</cp:revision>
  <dcterms:created xsi:type="dcterms:W3CDTF">2012-04-24T00:49:53Z</dcterms:created>
  <dcterms:modified xsi:type="dcterms:W3CDTF">2022-07-10T23:03:14Z</dcterms:modified>
</cp:coreProperties>
</file>