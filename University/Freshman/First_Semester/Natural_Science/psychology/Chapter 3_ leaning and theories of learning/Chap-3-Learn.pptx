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8" r:id="rId1"/>
    <p:sldMasterId id="2147484020" r:id="rId2"/>
  </p:sldMasterIdLst>
  <p:notesMasterIdLst>
    <p:notesMasterId r:id="rId41"/>
  </p:notesMasterIdLst>
  <p:sldIdLst>
    <p:sldId id="404" r:id="rId3"/>
    <p:sldId id="407" r:id="rId4"/>
    <p:sldId id="503" r:id="rId5"/>
    <p:sldId id="430" r:id="rId6"/>
    <p:sldId id="431" r:id="rId7"/>
    <p:sldId id="432" r:id="rId8"/>
    <p:sldId id="433" r:id="rId9"/>
    <p:sldId id="434" r:id="rId10"/>
    <p:sldId id="435" r:id="rId11"/>
    <p:sldId id="436" r:id="rId12"/>
    <p:sldId id="499" r:id="rId13"/>
    <p:sldId id="437" r:id="rId14"/>
    <p:sldId id="438" r:id="rId15"/>
    <p:sldId id="500" r:id="rId16"/>
    <p:sldId id="501" r:id="rId17"/>
    <p:sldId id="498" r:id="rId18"/>
    <p:sldId id="504" r:id="rId19"/>
    <p:sldId id="505" r:id="rId20"/>
    <p:sldId id="445" r:id="rId21"/>
    <p:sldId id="446" r:id="rId22"/>
    <p:sldId id="506" r:id="rId23"/>
    <p:sldId id="508" r:id="rId24"/>
    <p:sldId id="507" r:id="rId25"/>
    <p:sldId id="511" r:id="rId26"/>
    <p:sldId id="510" r:id="rId27"/>
    <p:sldId id="509" r:id="rId28"/>
    <p:sldId id="447" r:id="rId29"/>
    <p:sldId id="448" r:id="rId30"/>
    <p:sldId id="441" r:id="rId31"/>
    <p:sldId id="512" r:id="rId32"/>
    <p:sldId id="513" r:id="rId33"/>
    <p:sldId id="450" r:id="rId34"/>
    <p:sldId id="451" r:id="rId35"/>
    <p:sldId id="453" r:id="rId36"/>
    <p:sldId id="454" r:id="rId37"/>
    <p:sldId id="455" r:id="rId38"/>
    <p:sldId id="456" r:id="rId39"/>
    <p:sldId id="514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979759-2C66-4A42-AA41-5F62013AA6C0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F9F251-B73D-4D4D-A926-67CE1CEC24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377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Rectangle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Rectangle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56" name="Rectangle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Rectangle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Rectangle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Rectangle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p:transition spd="slow">
    <p:cover dir="d"/>
    <p:sndAc>
      <p:stSnd>
        <p:snd r:embed="rId1" name="coin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Freeform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Freeform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p:transition spd="slow">
    <p:cover dir="d"/>
    <p:sndAc>
      <p:stSnd>
        <p:snd r:embed="rId1" name="coin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Rectangle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p:transition spd="slow">
    <p:cover dir="d"/>
    <p:sndAc>
      <p:stSnd>
        <p:snd r:embed="rId1" name="coin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Straight Connector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grpSp>
        <p:nvGrpSpPr>
          <p:cNvPr id="14" name="Group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Straight Connector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Straight Connector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/>
      </p:stSnd>
    </p:sndAc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transition spd="slow">
    <p:cover dir="d"/>
    <p:sndAc>
      <p:stSnd>
        <p:snd r:embed="rId13" name="coin.wav"/>
      </p:stSnd>
    </p:sndAc>
  </p:transition>
  <p:timing>
    <p:tnLst>
      <p:par>
        <p:cTn id="1" dur="indefinite" restart="never" nodeType="tmRoot"/>
      </p:par>
    </p:tnLst>
  </p:timing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Rectangle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</p:sldLayoutIdLst>
  <p:transition spd="slow">
    <p:cover dir="d"/>
    <p:sndAc>
      <p:stSnd>
        <p:snd r:embed="rId13" name="coin.wav"/>
      </p:stSnd>
    </p:sndAc>
  </p:transition>
  <p:timing>
    <p:tnLst>
      <p:par>
        <p:cTn id="1" dur="indefinite" restart="never" nodeType="tmRoot"/>
      </p:par>
    </p:tnLst>
  </p:timing>
  <p:hf hdr="0"/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143000"/>
          </a:xfrm>
        </p:spPr>
        <p:txBody>
          <a:bodyPr>
            <a:normAutofit/>
          </a:bodyPr>
          <a:lstStyle/>
          <a:p>
            <a:pPr marL="282575" lvl="0" indent="-273050">
              <a:spcBef>
                <a:spcPts val="700"/>
              </a:spcBef>
            </a:pPr>
            <a:r>
              <a:rPr lang="en-US" sz="6000" b="1" spc="0" dirty="0" smtClean="0">
                <a:latin typeface="Georgia"/>
                <a:ea typeface="+mn-ea"/>
                <a:cs typeface="+mn-cs"/>
              </a:rPr>
              <a:t>UNIT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077200" cy="4876800"/>
          </a:xfrm>
        </p:spPr>
        <p:txBody>
          <a:bodyPr>
            <a:normAutofit/>
          </a:bodyPr>
          <a:lstStyle/>
          <a:p>
            <a:pPr lvl="1" algn="ctr">
              <a:buNone/>
            </a:pPr>
            <a:r>
              <a:rPr lang="en-US" sz="6600" b="1" dirty="0" smtClean="0">
                <a:solidFill>
                  <a:prstClr val="black"/>
                </a:solidFill>
                <a:latin typeface="Georgia"/>
                <a:ea typeface="+mj-ea"/>
                <a:cs typeface="+mj-cs"/>
              </a:rPr>
              <a:t>LEARNING</a:t>
            </a:r>
            <a:r>
              <a:rPr lang="en-US" sz="6600" dirty="0" smtClean="0">
                <a:latin typeface="Times New Roman"/>
                <a:ea typeface="Times New Roman"/>
              </a:rPr>
              <a:t> </a:t>
            </a:r>
            <a:r>
              <a:rPr lang="en-US" sz="6600" b="1" dirty="0" smtClean="0">
                <a:latin typeface="Times New Roman"/>
                <a:ea typeface="Times New Roman"/>
              </a:rPr>
              <a:t>AND THEORIES OF LEARNING </a:t>
            </a:r>
            <a:endParaRPr lang="en-US" sz="6600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1457B-7433-42AD-BA61-05DF5B53CDC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ransition spd="slow">
    <p:cover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762000"/>
          </a:xfrm>
        </p:spPr>
        <p:txBody>
          <a:bodyPr>
            <a:normAutofit fontScale="90000"/>
          </a:bodyPr>
          <a:lstStyle/>
          <a:p>
            <a:pPr marL="342900" lvl="0" indent="-342900" algn="l">
              <a:lnSpc>
                <a:spcPct val="150000"/>
              </a:lnSpc>
              <a:spcBef>
                <a:spcPct val="20000"/>
              </a:spcBef>
            </a:pPr>
            <a:r>
              <a:rPr lang="en-US" sz="3500" b="1" i="1" dirty="0" smtClean="0">
                <a:solidFill>
                  <a:prstClr val="black"/>
                </a:solidFill>
                <a:ea typeface="+mn-ea"/>
                <a:cs typeface="+mn-cs"/>
              </a:rPr>
              <a:t>Discussion</a:t>
            </a:r>
            <a:endParaRPr lang="en-US" sz="2800" b="1" i="1" dirty="0" smtClean="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914400"/>
            <a:ext cx="8458200" cy="54411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i="1" dirty="0" smtClean="0"/>
              <a:t>Learning is involved in almost every phenomenon. </a:t>
            </a:r>
          </a:p>
          <a:p>
            <a:pPr>
              <a:lnSpc>
                <a:spcPct val="150000"/>
              </a:lnSpc>
              <a:buNone/>
            </a:pPr>
            <a:r>
              <a:rPr lang="en-US" sz="2800" i="1" dirty="0" smtClean="0"/>
              <a:t>Every individual uses learning techniques and processes and directive unique thoughts and memories to perform day-to-day functions</a:t>
            </a:r>
          </a:p>
          <a:p>
            <a:pPr>
              <a:lnSpc>
                <a:spcPct val="150000"/>
              </a:lnSpc>
              <a:buNone/>
            </a:pPr>
            <a:r>
              <a:rPr lang="en-US" sz="2800" i="1" dirty="0" smtClean="0"/>
              <a:t>As  psychologists studied, it occurs in many different ways.</a:t>
            </a:r>
          </a:p>
          <a:p>
            <a:pPr>
              <a:lnSpc>
                <a:spcPct val="150000"/>
              </a:lnSpc>
              <a:buNone/>
            </a:pPr>
            <a:endParaRPr lang="en-US" sz="2800" i="1" dirty="0" smtClean="0"/>
          </a:p>
          <a:p>
            <a:pPr>
              <a:lnSpc>
                <a:spcPct val="150000"/>
              </a:lnSpc>
              <a:buNone/>
            </a:pPr>
            <a:endParaRPr lang="en-US" sz="2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1219200"/>
          </a:xfrm>
        </p:spPr>
        <p:txBody>
          <a:bodyPr>
            <a:normAutofit/>
          </a:bodyPr>
          <a:lstStyle/>
          <a:p>
            <a:pPr marL="742950" marR="0" lvl="1" indent="-285750">
              <a:spcBef>
                <a:spcPts val="0"/>
              </a:spcBef>
              <a:spcAft>
                <a:spcPts val="0"/>
              </a:spcAft>
              <a:tabLst>
                <a:tab pos="536575" algn="l"/>
              </a:tabLst>
            </a:pPr>
            <a:r>
              <a:rPr lang="en-US" sz="3600" b="1" dirty="0" smtClean="0">
                <a:solidFill>
                  <a:srgbClr val="4F81BC"/>
                </a:solidFill>
                <a:latin typeface="Cambria"/>
                <a:ea typeface="Cambria"/>
                <a:cs typeface="Cambria"/>
              </a:rPr>
              <a:t>3.1.1. Definition of Learning</a:t>
            </a:r>
            <a:endParaRPr lang="en-US" sz="360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371600"/>
            <a:ext cx="8458200" cy="4983960"/>
          </a:xfrm>
        </p:spPr>
        <p:txBody>
          <a:bodyPr>
            <a:normAutofit/>
          </a:bodyPr>
          <a:lstStyle/>
          <a:p>
            <a:pPr lvl="0"/>
            <a:r>
              <a:rPr lang="en-US" sz="3600" b="1" i="1" dirty="0" smtClean="0"/>
              <a:t>What is the meaning of learning to you?</a:t>
            </a:r>
            <a:endParaRPr lang="en-US" sz="3600" dirty="0" smtClean="0"/>
          </a:p>
          <a:p>
            <a:pPr lvl="0"/>
            <a:r>
              <a:rPr lang="en-US" sz="3600" b="1" i="1" dirty="0" smtClean="0"/>
              <a:t>What are the elements of learning?</a:t>
            </a:r>
            <a:endParaRPr lang="en-US" sz="3600" dirty="0" smtClean="0"/>
          </a:p>
          <a:p>
            <a:pPr marL="63500" marR="0">
              <a:spcBef>
                <a:spcPts val="0"/>
              </a:spcBef>
              <a:spcAft>
                <a:spcPts val="0"/>
              </a:spcAft>
              <a:buNone/>
            </a:pPr>
            <a:endParaRPr lang="en-US" sz="2800" i="1" dirty="0" smtClean="0">
              <a:latin typeface="Times New Roman"/>
              <a:ea typeface="Times New Roman"/>
            </a:endParaRPr>
          </a:p>
          <a:p>
            <a:pPr marL="63500" marR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1" dirty="0" smtClean="0">
                <a:solidFill>
                  <a:srgbClr val="FF0000"/>
                </a:solidFill>
                <a:latin typeface="Times New Roman"/>
                <a:ea typeface="Times New Roman"/>
              </a:rPr>
              <a:t>Learning</a:t>
            </a:r>
            <a:r>
              <a:rPr lang="en-US" sz="3600" b="1" i="1" dirty="0" smtClean="0">
                <a:latin typeface="Times New Roman"/>
                <a:ea typeface="Times New Roman"/>
              </a:rPr>
              <a:t> is a relatively permanent change in behavior occurring as a result of experience or practice.</a:t>
            </a:r>
            <a:endParaRPr lang="en-US" sz="3600" b="1" dirty="0" smtClean="0">
              <a:latin typeface="Times New Roman"/>
              <a:ea typeface="Times New Roman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50000"/>
              </a:lnSpc>
              <a:spcBef>
                <a:spcPct val="20000"/>
              </a:spcBef>
            </a:pPr>
            <a:r>
              <a:rPr lang="en-US" sz="3700" b="1" dirty="0" smtClean="0">
                <a:solidFill>
                  <a:srgbClr val="4F81BC"/>
                </a:solidFill>
                <a:latin typeface="Cambria"/>
                <a:ea typeface="Cambria"/>
                <a:cs typeface="Cambria"/>
              </a:rPr>
              <a:t>Definition (</a:t>
            </a:r>
            <a:r>
              <a:rPr lang="en-US" sz="3700" b="1" dirty="0" err="1" smtClean="0">
                <a:solidFill>
                  <a:srgbClr val="4F81BC"/>
                </a:solidFill>
                <a:latin typeface="Cambria"/>
                <a:ea typeface="Cambria"/>
                <a:cs typeface="Cambria"/>
              </a:rPr>
              <a:t>Contd</a:t>
            </a:r>
            <a:r>
              <a:rPr lang="en-US" sz="3700" b="1" dirty="0" smtClean="0">
                <a:solidFill>
                  <a:srgbClr val="4F81BC"/>
                </a:solidFill>
                <a:latin typeface="Cambria"/>
                <a:ea typeface="Cambria"/>
                <a:cs typeface="Cambria"/>
              </a:rPr>
              <a:t>)</a:t>
            </a:r>
            <a:endParaRPr lang="en-US" sz="32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513636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The above definition emphasizes the following attributes of learning:</a:t>
            </a:r>
          </a:p>
          <a:p>
            <a:pPr lvl="1"/>
            <a:r>
              <a:rPr lang="en-US" dirty="0" smtClean="0"/>
              <a:t>Learning is a change in behavior</a:t>
            </a:r>
            <a:endParaRPr lang="en-US" sz="2400" dirty="0" smtClean="0"/>
          </a:p>
          <a:p>
            <a:pPr lvl="1"/>
            <a:r>
              <a:rPr lang="en-US" dirty="0" smtClean="0"/>
              <a:t>This change in behavior is relatively permanent</a:t>
            </a:r>
            <a:endParaRPr lang="en-US" sz="2400" dirty="0" smtClean="0"/>
          </a:p>
          <a:p>
            <a:pPr lvl="1"/>
            <a:r>
              <a:rPr lang="en-US" dirty="0" smtClean="0"/>
              <a:t>It does not include change due to illness, fatigue, maturation and use of intoxicant.</a:t>
            </a:r>
            <a:endParaRPr lang="en-US" sz="2400" dirty="0" smtClean="0"/>
          </a:p>
          <a:p>
            <a:pPr lvl="1"/>
            <a:r>
              <a:rPr lang="en-US" dirty="0" smtClean="0"/>
              <a:t>This permanent change in behavior is not because of biological factors (like hormonal changes) that bring permanent changes in behavior; but because of experience, or practice</a:t>
            </a:r>
          </a:p>
          <a:p>
            <a:pPr lvl="1"/>
            <a:r>
              <a:rPr lang="en-US" dirty="0" smtClean="0"/>
              <a:t>Learning is not directly observable but manifests in the activities of the individual.</a:t>
            </a:r>
            <a:endParaRPr lang="en-US" sz="256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>
            <a:noAutofit/>
          </a:bodyPr>
          <a:lstStyle/>
          <a:p>
            <a:pPr algn="l"/>
            <a:r>
              <a:rPr lang="en-US" b="1" dirty="0" smtClean="0">
                <a:solidFill>
                  <a:srgbClr val="4F81BC"/>
                </a:solidFill>
                <a:latin typeface="Cambria"/>
                <a:ea typeface="Cambria"/>
                <a:cs typeface="Cambria"/>
              </a:rPr>
              <a:t>3.1.2. </a:t>
            </a:r>
            <a:r>
              <a:rPr lang="en-US" sz="4000" b="1" dirty="0" smtClean="0">
                <a:solidFill>
                  <a:srgbClr val="4F81BC"/>
                </a:solidFill>
                <a:latin typeface="Cambria"/>
                <a:ea typeface="Cambria"/>
                <a:cs typeface="Cambria"/>
              </a:rPr>
              <a:t>Characteristics of Learning</a:t>
            </a:r>
            <a:endParaRPr lang="en-US" sz="32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5136360"/>
          </a:xfrm>
        </p:spPr>
        <p:txBody>
          <a:bodyPr>
            <a:noAutofit/>
          </a:bodyPr>
          <a:lstStyle/>
          <a:p>
            <a:pPr marL="401638" lvl="3"/>
            <a:r>
              <a:rPr lang="en-US" sz="2400" dirty="0" smtClean="0"/>
              <a:t>Learning is continuous modification of behavior throughout life</a:t>
            </a:r>
            <a:endParaRPr lang="en-US" dirty="0" smtClean="0"/>
          </a:p>
          <a:p>
            <a:pPr marL="401638" lvl="3"/>
            <a:r>
              <a:rPr lang="en-US" sz="2400" dirty="0" smtClean="0"/>
              <a:t>Learning is pervasive; it reaches into all aspects of human life.</a:t>
            </a:r>
            <a:endParaRPr lang="en-US" dirty="0" smtClean="0"/>
          </a:p>
          <a:p>
            <a:pPr marL="401638" lvl="3"/>
            <a:r>
              <a:rPr lang="en-US" sz="2400" dirty="0" smtClean="0"/>
              <a:t>Learning involves the whole person, socially, emotionally &amp;intellectually.</a:t>
            </a:r>
            <a:endParaRPr lang="en-US" dirty="0" smtClean="0"/>
          </a:p>
          <a:p>
            <a:pPr marL="401638" lvl="3"/>
            <a:r>
              <a:rPr lang="en-US" sz="2400" dirty="0" smtClean="0"/>
              <a:t>Learning is often a change in the organization of experiences.</a:t>
            </a:r>
            <a:endParaRPr lang="en-US" dirty="0" smtClean="0"/>
          </a:p>
          <a:p>
            <a:pPr marL="401638" lvl="3"/>
            <a:r>
              <a:rPr lang="en-US" sz="2400" dirty="0" smtClean="0"/>
              <a:t>Learning is responsive to incentives</a:t>
            </a:r>
            <a:endParaRPr lang="en-US" dirty="0" smtClean="0"/>
          </a:p>
          <a:p>
            <a:pPr marL="401638" lvl="3"/>
            <a:r>
              <a:rPr lang="en-US" sz="2400" dirty="0" smtClean="0"/>
              <a:t>Learning is an active process</a:t>
            </a:r>
            <a:endParaRPr lang="en-US" dirty="0" smtClean="0"/>
          </a:p>
          <a:p>
            <a:pPr marL="401638" lvl="3"/>
            <a:r>
              <a:rPr lang="en-US" sz="2400" dirty="0" smtClean="0"/>
              <a:t>Learning is purposeful</a:t>
            </a:r>
            <a:endParaRPr lang="en-US" dirty="0" smtClean="0"/>
          </a:p>
          <a:p>
            <a:pPr marL="401638" lvl="3"/>
            <a:r>
              <a:rPr lang="en-US" sz="2400" dirty="0" smtClean="0"/>
              <a:t>Learning depends on maturation, motivation and practice.</a:t>
            </a:r>
            <a:endParaRPr lang="en-US" dirty="0" smtClean="0"/>
          </a:p>
          <a:p>
            <a:pPr marL="401638" lvl="3"/>
            <a:r>
              <a:rPr lang="en-US" sz="2400" dirty="0" smtClean="0"/>
              <a:t>Learning is multifaceted</a:t>
            </a:r>
            <a:endParaRPr lang="en-US" dirty="0" smtClean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>
            <a:noAutofit/>
          </a:bodyPr>
          <a:lstStyle/>
          <a:p>
            <a:pPr algn="l"/>
            <a:r>
              <a:rPr lang="en-US" b="1" dirty="0" smtClean="0">
                <a:solidFill>
                  <a:srgbClr val="4F81BC"/>
                </a:solidFill>
                <a:latin typeface="Cambria"/>
                <a:ea typeface="Cambria"/>
                <a:cs typeface="Cambria"/>
              </a:rPr>
              <a:t>3.1.3. Principles of Learning</a:t>
            </a:r>
            <a:endParaRPr lang="en-US" sz="32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5136360"/>
          </a:xfrm>
        </p:spPr>
        <p:txBody>
          <a:bodyPr>
            <a:normAutofit/>
          </a:bodyPr>
          <a:lstStyle/>
          <a:p>
            <a:pPr lvl="1"/>
            <a:r>
              <a:rPr lang="en-US" dirty="0" smtClean="0"/>
              <a:t>Individuals learn best when they are physically, mentally, and emotionally ready to learn.</a:t>
            </a:r>
            <a:endParaRPr lang="en-US" sz="2400" dirty="0" smtClean="0"/>
          </a:p>
          <a:p>
            <a:pPr lvl="1"/>
            <a:r>
              <a:rPr lang="en-US" dirty="0" smtClean="0"/>
              <a:t>Students learn best and retain information longer when they have meaningful practice and exercise</a:t>
            </a:r>
            <a:endParaRPr lang="en-US" sz="2400" dirty="0" smtClean="0"/>
          </a:p>
          <a:p>
            <a:pPr lvl="1"/>
            <a:r>
              <a:rPr lang="en-US" dirty="0" smtClean="0"/>
              <a:t>Learning is strengthened when accompanied by a pleasant or satisfying feeling, and that learning is weakened when associated with an unpleasant feeling.</a:t>
            </a:r>
            <a:endParaRPr lang="en-US" sz="2400" dirty="0" smtClean="0"/>
          </a:p>
          <a:p>
            <a:pPr lvl="1"/>
            <a:r>
              <a:rPr lang="en-US" dirty="0" smtClean="0"/>
              <a:t>Things learned first create a strong impression in the mind that is difficult to erase.</a:t>
            </a:r>
            <a:endParaRPr lang="en-US" sz="2400" dirty="0" smtClean="0"/>
          </a:p>
          <a:p>
            <a:pPr>
              <a:lnSpc>
                <a:spcPct val="150000"/>
              </a:lnSpc>
              <a:buNone/>
            </a:pPr>
            <a:endParaRPr lang="en-US" sz="2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>
            <a:noAutofit/>
          </a:bodyPr>
          <a:lstStyle/>
          <a:p>
            <a:pPr algn="l"/>
            <a:r>
              <a:rPr lang="en-US" b="1" dirty="0" smtClean="0">
                <a:solidFill>
                  <a:srgbClr val="4F81BC"/>
                </a:solidFill>
                <a:latin typeface="Cambria"/>
                <a:ea typeface="Cambria"/>
                <a:cs typeface="Cambria"/>
              </a:rPr>
              <a:t>Principles (</a:t>
            </a:r>
            <a:r>
              <a:rPr lang="en-US" b="1" dirty="0" err="1" smtClean="0">
                <a:solidFill>
                  <a:srgbClr val="4F81BC"/>
                </a:solidFill>
                <a:latin typeface="Cambria"/>
                <a:ea typeface="Cambria"/>
                <a:cs typeface="Cambria"/>
              </a:rPr>
              <a:t>Contd</a:t>
            </a:r>
            <a:r>
              <a:rPr lang="en-US" b="1" dirty="0" smtClean="0">
                <a:solidFill>
                  <a:srgbClr val="4F81BC"/>
                </a:solidFill>
                <a:latin typeface="Cambria"/>
                <a:ea typeface="Cambria"/>
                <a:cs typeface="Cambria"/>
              </a:rPr>
              <a:t>)</a:t>
            </a:r>
            <a:endParaRPr lang="en-US" sz="32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5136360"/>
          </a:xfrm>
        </p:spPr>
        <p:txBody>
          <a:bodyPr>
            <a:normAutofit/>
          </a:bodyPr>
          <a:lstStyle/>
          <a:p>
            <a:pPr lvl="1"/>
            <a:r>
              <a:rPr lang="en-US" dirty="0" smtClean="0"/>
              <a:t>Things most recently learned are best remembered.</a:t>
            </a:r>
            <a:endParaRPr lang="en-US" sz="2400" dirty="0" smtClean="0"/>
          </a:p>
          <a:p>
            <a:pPr lvl="1"/>
            <a:r>
              <a:rPr lang="en-US" dirty="0" smtClean="0"/>
              <a:t>The principle of intensity implies that a student will learn more from the real thing than from a substitute.</a:t>
            </a:r>
            <a:endParaRPr lang="en-US" sz="2400" dirty="0" smtClean="0"/>
          </a:p>
          <a:p>
            <a:pPr lvl="1"/>
            <a:r>
              <a:rPr lang="en-US" dirty="0" smtClean="0"/>
              <a:t>Individuals must have some abilities and skills that may help them to learn.</a:t>
            </a:r>
          </a:p>
          <a:p>
            <a:pPr lvl="1"/>
            <a:r>
              <a:rPr lang="en-US" dirty="0" smtClean="0"/>
              <a:t>Things freely learned are best learned - the greater the freedom enjoyed by individuals, the higher the intellectual and moral advancement.</a:t>
            </a:r>
            <a:endParaRPr lang="en-US" sz="2400" dirty="0" smtClean="0"/>
          </a:p>
          <a:p>
            <a:pPr>
              <a:lnSpc>
                <a:spcPct val="150000"/>
              </a:lnSpc>
              <a:buNone/>
            </a:pPr>
            <a:endParaRPr lang="en-US" sz="2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>
            <a:noAutofit/>
          </a:bodyPr>
          <a:lstStyle/>
          <a:p>
            <a:pPr marL="742950" marR="0" lvl="1" indent="-285750">
              <a:spcBef>
                <a:spcPts val="500"/>
              </a:spcBef>
              <a:spcAft>
                <a:spcPts val="0"/>
              </a:spcAft>
              <a:tabLst>
                <a:tab pos="536575" algn="l"/>
              </a:tabLst>
            </a:pPr>
            <a:r>
              <a:rPr lang="en-US" sz="4000" b="1" dirty="0" smtClean="0">
                <a:solidFill>
                  <a:srgbClr val="4F81BC"/>
                </a:solidFill>
                <a:latin typeface="Cambria"/>
                <a:ea typeface="Cambria"/>
                <a:cs typeface="Cambria"/>
              </a:rPr>
              <a:t>3.2 Factors Influencing Learning</a:t>
            </a:r>
            <a:endParaRPr lang="en-US" sz="40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513636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Motivation</a:t>
            </a:r>
            <a:r>
              <a:rPr lang="en-US" sz="2800" b="1" dirty="0" smtClean="0"/>
              <a:t>: </a:t>
            </a:r>
            <a:r>
              <a:rPr lang="en-US" sz="2800" dirty="0" smtClean="0"/>
              <a:t>The stronger &amp; clearer the motives for learning, the greater effort to learn. High motives of learning , you become enthusiastic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Maturation</a:t>
            </a:r>
            <a:r>
              <a:rPr lang="en-US" sz="2800" b="1" dirty="0" smtClean="0"/>
              <a:t>: </a:t>
            </a:r>
            <a:r>
              <a:rPr lang="en-US" sz="2800" dirty="0" err="1" smtClean="0"/>
              <a:t>Neuro</a:t>
            </a:r>
            <a:r>
              <a:rPr lang="en-US" sz="2800" dirty="0" smtClean="0"/>
              <a:t>-muscular coordination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Health condition </a:t>
            </a:r>
            <a:r>
              <a:rPr lang="en-US" sz="2800" b="1" dirty="0" smtClean="0"/>
              <a:t>of the learner: </a:t>
            </a:r>
            <a:r>
              <a:rPr lang="en-US" sz="2800" dirty="0" smtClean="0"/>
              <a:t>Sensory defects, malnutrition, toxic conditions of the body, loss of sleep and fatigue hinder effective learning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Psychological wellbeing </a:t>
            </a:r>
            <a:r>
              <a:rPr lang="en-US" sz="2800" b="1" dirty="0" smtClean="0"/>
              <a:t>of the learner: </a:t>
            </a:r>
            <a:r>
              <a:rPr lang="en-US" sz="2800" dirty="0" smtClean="0"/>
              <a:t>worries, fears, feelings of loneliness and inferiority hinders learning self-respect,</a:t>
            </a:r>
            <a:r>
              <a:rPr lang="en-US" sz="2400" dirty="0" smtClean="0"/>
              <a:t> whereas</a:t>
            </a:r>
            <a:r>
              <a:rPr lang="en-US" sz="2800" dirty="0" smtClean="0"/>
              <a:t> self- reliance, and self-confidence are necessary for effective learning</a:t>
            </a:r>
            <a:endParaRPr lang="en-US" sz="2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>
            <a:noAutofit/>
          </a:bodyPr>
          <a:lstStyle/>
          <a:p>
            <a:pPr algn="l"/>
            <a:r>
              <a:rPr lang="en-US" sz="4000" b="1" dirty="0" smtClean="0">
                <a:solidFill>
                  <a:srgbClr val="4F81BC"/>
                </a:solidFill>
                <a:latin typeface="Cambria"/>
                <a:ea typeface="Cambria"/>
                <a:cs typeface="Cambria"/>
              </a:rPr>
              <a:t>Factors</a:t>
            </a:r>
            <a:r>
              <a:rPr lang="en-US" sz="3200" b="1" dirty="0" smtClean="0">
                <a:solidFill>
                  <a:srgbClr val="4F81BC"/>
                </a:solidFill>
                <a:latin typeface="Cambria"/>
                <a:ea typeface="Cambria"/>
                <a:cs typeface="Cambria"/>
              </a:rPr>
              <a:t> (</a:t>
            </a:r>
            <a:r>
              <a:rPr lang="en-US" sz="3200" b="1" dirty="0" err="1" smtClean="0">
                <a:solidFill>
                  <a:srgbClr val="4F81BC"/>
                </a:solidFill>
                <a:latin typeface="Cambria"/>
                <a:ea typeface="Cambria"/>
                <a:cs typeface="Cambria"/>
              </a:rPr>
              <a:t>Contd</a:t>
            </a:r>
            <a:r>
              <a:rPr lang="en-US" sz="3200" b="1" dirty="0" smtClean="0">
                <a:solidFill>
                  <a:srgbClr val="4F81BC"/>
                </a:solidFill>
                <a:latin typeface="Cambria"/>
                <a:ea typeface="Cambria"/>
                <a:cs typeface="Cambria"/>
              </a:rPr>
              <a:t>)</a:t>
            </a:r>
            <a:endParaRPr lang="en-US" sz="32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5136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Good working conditions </a:t>
            </a:r>
            <a:r>
              <a:rPr lang="en-US" sz="2800" b="1" dirty="0" smtClean="0"/>
              <a:t>– </a:t>
            </a:r>
            <a:r>
              <a:rPr lang="en-US" sz="2800" dirty="0" smtClean="0"/>
              <a:t>absence or presence of fresh air, light, comfortable surroundings, moderate temperature, noise and learning aids 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Background experiences</a:t>
            </a:r>
            <a:r>
              <a:rPr lang="en-US" sz="2800" b="1" dirty="0" smtClean="0"/>
              <a:t>: </a:t>
            </a:r>
            <a:r>
              <a:rPr lang="en-US" sz="2800" dirty="0" smtClean="0"/>
              <a:t>previously learned course 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Length of the working period</a:t>
            </a:r>
            <a:r>
              <a:rPr lang="en-US" sz="2800" b="1" dirty="0" smtClean="0"/>
              <a:t>: </a:t>
            </a:r>
            <a:r>
              <a:rPr lang="en-US" sz="2800" dirty="0" smtClean="0"/>
              <a:t>periods should neither be too short nor too long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Massed and distributed learning</a:t>
            </a:r>
            <a:r>
              <a:rPr lang="en-US" sz="2800" b="1" dirty="0" smtClean="0"/>
              <a:t>: </a:t>
            </a:r>
            <a:r>
              <a:rPr lang="en-US" sz="2800" dirty="0" smtClean="0"/>
              <a:t>reasonable time gaps</a:t>
            </a:r>
            <a:endParaRPr lang="en-US" sz="2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1066800"/>
          </a:xfrm>
        </p:spPr>
        <p:txBody>
          <a:bodyPr>
            <a:noAutofit/>
          </a:bodyPr>
          <a:lstStyle/>
          <a:p>
            <a:pPr marL="338138" marR="0" lvl="1" indent="-285750" algn="ctr">
              <a:spcBef>
                <a:spcPts val="495"/>
              </a:spcBef>
              <a:spcAft>
                <a:spcPts val="0"/>
              </a:spcAft>
              <a:tabLst>
                <a:tab pos="536575" algn="l"/>
              </a:tabLst>
            </a:pPr>
            <a:r>
              <a:rPr lang="en-US" sz="4000" b="1" dirty="0" smtClean="0">
                <a:solidFill>
                  <a:srgbClr val="4F81BC"/>
                </a:solidFill>
                <a:latin typeface="Cambria"/>
                <a:ea typeface="Cambria"/>
                <a:cs typeface="Cambria"/>
              </a:rPr>
              <a:t>3.3. Theories of Learning and their Applications</a:t>
            </a:r>
            <a:endParaRPr lang="en-US" sz="40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600200"/>
            <a:ext cx="8458200" cy="47553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3600" dirty="0" smtClean="0"/>
              <a:t>There </a:t>
            </a:r>
            <a:r>
              <a:rPr lang="en-US" sz="3600" b="1" dirty="0" smtClean="0">
                <a:solidFill>
                  <a:srgbClr val="FF0000"/>
                </a:solidFill>
              </a:rPr>
              <a:t>three</a:t>
            </a:r>
            <a:r>
              <a:rPr lang="en-US" sz="3600" dirty="0" smtClean="0"/>
              <a:t> major theories of learning</a:t>
            </a:r>
          </a:p>
          <a:p>
            <a:pPr>
              <a:buNone/>
            </a:pPr>
            <a:r>
              <a:rPr lang="en-US" sz="3600" dirty="0" smtClean="0"/>
              <a:t>1. Behaviorist theory, </a:t>
            </a:r>
          </a:p>
          <a:p>
            <a:pPr>
              <a:buNone/>
            </a:pPr>
            <a:r>
              <a:rPr lang="en-US" sz="3600" dirty="0" smtClean="0"/>
              <a:t>2. Social learning and </a:t>
            </a:r>
          </a:p>
          <a:p>
            <a:pPr>
              <a:buNone/>
            </a:pPr>
            <a:r>
              <a:rPr lang="en-US" sz="3600" dirty="0" smtClean="0"/>
              <a:t>3. Cognitive learning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1066800"/>
          </a:xfrm>
        </p:spPr>
        <p:txBody>
          <a:bodyPr>
            <a:noAutofit/>
          </a:bodyPr>
          <a:lstStyle/>
          <a:p>
            <a:pPr marL="338138" marR="0" lvl="1" indent="-285750" algn="ctr">
              <a:spcBef>
                <a:spcPts val="495"/>
              </a:spcBef>
              <a:spcAft>
                <a:spcPts val="0"/>
              </a:spcAft>
              <a:tabLst>
                <a:tab pos="536575" algn="l"/>
              </a:tabLst>
            </a:pPr>
            <a:r>
              <a:rPr kumimoji="0" lang="en-US" sz="4000" b="1" i="0" u="none" strike="noStrike" kern="0" cap="none" spc="-5" normalizeH="0" baseline="0" noProof="0" dirty="0" smtClean="0">
                <a:ln>
                  <a:noFill/>
                </a:ln>
                <a:solidFill>
                  <a:srgbClr val="4F81BC"/>
                </a:solidFill>
                <a:effectLst/>
                <a:uLnTx/>
                <a:uFillTx/>
                <a:latin typeface="Cambria"/>
                <a:ea typeface="Cambria"/>
                <a:cs typeface="Cambria"/>
              </a:rPr>
              <a:t>3.3.1. </a:t>
            </a:r>
            <a:r>
              <a:rPr kumimoji="0" lang="en-US" sz="3600" b="1" i="0" u="none" strike="noStrike" kern="0" cap="none" spc="-5" normalizeH="0" baseline="0" noProof="0" dirty="0" smtClean="0">
                <a:ln>
                  <a:noFill/>
                </a:ln>
                <a:solidFill>
                  <a:srgbClr val="4F81BC"/>
                </a:solidFill>
                <a:effectLst/>
                <a:uLnTx/>
                <a:uFillTx/>
                <a:latin typeface="Cambria"/>
                <a:ea typeface="Cambria"/>
                <a:cs typeface="Cambria"/>
              </a:rPr>
              <a:t>Behavioral Theory of Learning</a:t>
            </a:r>
            <a:endParaRPr lang="en-US" sz="40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295400"/>
            <a:ext cx="8458200" cy="50601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800" dirty="0" smtClean="0"/>
              <a:t>Occurs as a result of stimulus-response associations</a:t>
            </a:r>
          </a:p>
          <a:p>
            <a:pPr>
              <a:buFont typeface="Wingdings" pitchFamily="2" charset="2"/>
              <a:buChar char="v"/>
            </a:pPr>
            <a:r>
              <a:rPr lang="en-US" sz="2800" dirty="0" smtClean="0"/>
              <a:t>emphasize observable behaviors, </a:t>
            </a:r>
          </a:p>
          <a:p>
            <a:pPr>
              <a:buFont typeface="Wingdings" pitchFamily="2" charset="2"/>
              <a:buChar char="v"/>
            </a:pPr>
            <a:r>
              <a:rPr lang="en-US" sz="2800" dirty="0" smtClean="0"/>
              <a:t>seek laws to govern all organisms, and </a:t>
            </a:r>
          </a:p>
          <a:p>
            <a:pPr>
              <a:buFont typeface="Wingdings" pitchFamily="2" charset="2"/>
              <a:buChar char="v"/>
            </a:pPr>
            <a:r>
              <a:rPr lang="en-US" sz="2800" dirty="0" smtClean="0"/>
              <a:t>provide explanations which focus on consequences</a:t>
            </a:r>
          </a:p>
          <a:p>
            <a:pPr>
              <a:buFont typeface="Wingdings" pitchFamily="2" charset="2"/>
              <a:buChar char="v"/>
            </a:pPr>
            <a:r>
              <a:rPr lang="en-US" sz="2800" dirty="0" smtClean="0"/>
              <a:t>Behaviorists differ among themselves with respect to their views about the role of reinforcement in learning</a:t>
            </a:r>
          </a:p>
          <a:p>
            <a:pPr>
              <a:buNone/>
            </a:pPr>
            <a:r>
              <a:rPr lang="en-US" sz="2800" dirty="0" smtClean="0"/>
              <a:t>There are two major behavioral theories of learning</a:t>
            </a:r>
          </a:p>
          <a:p>
            <a:pPr marL="514350" indent="-514350">
              <a:buAutoNum type="arabicPeriod"/>
            </a:pPr>
            <a:r>
              <a:rPr lang="en-US" sz="2800" b="1" dirty="0" smtClean="0"/>
              <a:t>Classical</a:t>
            </a:r>
            <a:r>
              <a:rPr lang="en-US" sz="2800" dirty="0" smtClean="0"/>
              <a:t> Conditioning and </a:t>
            </a:r>
          </a:p>
          <a:p>
            <a:pPr marL="514350" indent="-514350">
              <a:buAutoNum type="arabicPeriod"/>
            </a:pPr>
            <a:r>
              <a:rPr lang="en-US" sz="2800" b="1" dirty="0" smtClean="0"/>
              <a:t>Operant</a:t>
            </a:r>
            <a:r>
              <a:rPr lang="en-US" sz="2800" dirty="0" smtClean="0"/>
              <a:t> Conditioning</a:t>
            </a:r>
            <a:endParaRPr lang="en-US" sz="2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>
            <a:noAutofit/>
          </a:bodyPr>
          <a:lstStyle/>
          <a:p>
            <a:pPr marL="228600" marR="0" lvl="2" indent="-228600">
              <a:spcBef>
                <a:spcPts val="0"/>
              </a:spcBef>
              <a:spcAft>
                <a:spcPts val="0"/>
              </a:spcAft>
              <a:tabLst>
                <a:tab pos="570230" algn="l"/>
              </a:tabLst>
            </a:pPr>
            <a:r>
              <a:rPr lang="en-US" sz="4400" b="1" spc="-15" dirty="0" smtClean="0">
                <a:latin typeface="Times New Roman"/>
                <a:ea typeface="Times New Roman"/>
              </a:rPr>
              <a:t>3.3.1.1 </a:t>
            </a:r>
            <a:r>
              <a:rPr lang="en-US" sz="4000" b="1" spc="-15" dirty="0" smtClean="0">
                <a:latin typeface="Times New Roman"/>
                <a:ea typeface="Times New Roman"/>
              </a:rPr>
              <a:t>Classical conditioning theory</a:t>
            </a:r>
            <a:endParaRPr lang="en-US" sz="40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513636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 smtClean="0"/>
              <a:t>Classical conditioning focuses on the learning of </a:t>
            </a:r>
            <a:r>
              <a:rPr lang="en-US" sz="2800" i="1" dirty="0" smtClean="0"/>
              <a:t>involuntary emotional </a:t>
            </a:r>
            <a:r>
              <a:rPr lang="en-US" sz="2800" dirty="0" smtClean="0"/>
              <a:t>or </a:t>
            </a:r>
            <a:r>
              <a:rPr lang="en-US" sz="2800" i="1" dirty="0" smtClean="0"/>
              <a:t>physiological responses to stimuli that normally elicit no response</a:t>
            </a:r>
          </a:p>
          <a:p>
            <a:pPr>
              <a:lnSpc>
                <a:spcPct val="150000"/>
              </a:lnSpc>
              <a:buNone/>
            </a:pPr>
            <a:r>
              <a:rPr lang="en-US" sz="2800" i="1" dirty="0" smtClean="0"/>
              <a:t>e.g. </a:t>
            </a:r>
            <a:r>
              <a:rPr lang="en-US" sz="2800" dirty="0" smtClean="0"/>
              <a:t>fear, increased heartbeat, salivation or sweating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 smtClean="0"/>
              <a:t>Therefore, Classical conditioning is a type of learning in which a neutral stimulus comes to bring about a response after it is paired with a stimulus that naturally brings about that response</a:t>
            </a:r>
            <a:endParaRPr lang="en-US" sz="2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>
            <a:noAutofit/>
          </a:bodyPr>
          <a:lstStyle/>
          <a:p>
            <a:pPr marL="228600" marR="0" lvl="3" indent="-228600">
              <a:spcBef>
                <a:spcPts val="0"/>
              </a:spcBef>
              <a:spcAft>
                <a:spcPts val="0"/>
              </a:spcAft>
              <a:tabLst>
                <a:tab pos="724535" algn="l"/>
              </a:tabLst>
            </a:pPr>
            <a:r>
              <a:rPr lang="en-US" sz="4000" b="1" spc="-15" dirty="0" smtClean="0">
                <a:latin typeface="Times New Roman"/>
                <a:ea typeface="Times New Roman"/>
              </a:rPr>
              <a:t>Classical conditioning (Contd.)</a:t>
            </a:r>
            <a:endParaRPr lang="en-US" sz="44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513636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 smtClean="0">
                <a:latin typeface="Times New Roman"/>
                <a:ea typeface="Times New Roman"/>
              </a:rPr>
              <a:t>Basics of Classical Condition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 smtClean="0"/>
              <a:t>Neutral stimulus: </a:t>
            </a:r>
            <a:r>
              <a:rPr lang="en-US" sz="2800" dirty="0" smtClean="0"/>
              <a:t>A stimulus that, before conditioning, does not naturally bring about the response of interest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 smtClean="0"/>
              <a:t>Unconditioned stimulus (UCS): </a:t>
            </a:r>
            <a:r>
              <a:rPr lang="en-US" sz="2800" dirty="0" smtClean="0"/>
              <a:t>A stimulus that naturally brings about a particular response without having been learned.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 smtClean="0"/>
              <a:t>Unconditioned response (UCR): </a:t>
            </a:r>
            <a:r>
              <a:rPr lang="en-US" sz="2800" dirty="0" smtClean="0"/>
              <a:t>A response that is natural and needs no training (e.g., salivation at the smell of food).</a:t>
            </a:r>
            <a:endParaRPr lang="en-US" sz="2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>
            <a:noAutofit/>
          </a:bodyPr>
          <a:lstStyle/>
          <a:p>
            <a:pPr marL="228600" marR="0" lvl="3" indent="-228600">
              <a:spcBef>
                <a:spcPts val="0"/>
              </a:spcBef>
              <a:spcAft>
                <a:spcPts val="0"/>
              </a:spcAft>
              <a:tabLst>
                <a:tab pos="724535" algn="l"/>
              </a:tabLst>
            </a:pPr>
            <a:r>
              <a:rPr lang="en-US" sz="4000" b="1" spc="-15" dirty="0" smtClean="0">
                <a:latin typeface="Times New Roman"/>
                <a:ea typeface="Times New Roman"/>
              </a:rPr>
              <a:t>Classical conditioning (Contd.)</a:t>
            </a:r>
            <a:endParaRPr lang="en-US" sz="44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5136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 smtClean="0">
                <a:latin typeface="Times New Roman"/>
                <a:ea typeface="Times New Roman"/>
              </a:rPr>
              <a:t>Basics of Classical Condition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 smtClean="0"/>
              <a:t>Conditioned stimulus (CS): </a:t>
            </a:r>
            <a:r>
              <a:rPr lang="en-US" sz="2800" dirty="0" smtClean="0"/>
              <a:t>A once neutral stimulus that has been paired with an unconditioned stimulus to bring about a response formerly caused only by the unconditioned stimulus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 smtClean="0"/>
              <a:t>Conditioned response (CR): </a:t>
            </a:r>
            <a:r>
              <a:rPr lang="en-US" sz="2800" dirty="0" smtClean="0"/>
              <a:t>A response that, after conditioning, follows a previously neutral stimulus </a:t>
            </a:r>
            <a:endParaRPr lang="en-US" sz="2800" dirty="0" smtClean="0">
              <a:latin typeface="Times New Roman"/>
              <a:ea typeface="Times New Roman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>
            <a:noAutofit/>
          </a:bodyPr>
          <a:lstStyle/>
          <a:p>
            <a:pPr marL="228600" marR="0" lvl="3" indent="-228600">
              <a:spcBef>
                <a:spcPts val="0"/>
              </a:spcBef>
              <a:spcAft>
                <a:spcPts val="0"/>
              </a:spcAft>
              <a:tabLst>
                <a:tab pos="724535" algn="l"/>
              </a:tabLst>
            </a:pPr>
            <a:r>
              <a:rPr lang="en-US" sz="4000" b="1" spc="-15" dirty="0" smtClean="0">
                <a:latin typeface="Times New Roman"/>
                <a:ea typeface="Times New Roman"/>
              </a:rPr>
              <a:t>Classical conditioning (Contd.)</a:t>
            </a:r>
            <a:endParaRPr lang="en-US" sz="44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513636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 smtClean="0"/>
              <a:t>Hence, the theory of classical conditioning represents a process in which a neutral stimulus, by pairing with a natural stimulus, acquires all the characteristics of natural stimulus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 smtClean="0"/>
              <a:t>It is also called </a:t>
            </a:r>
            <a:r>
              <a:rPr lang="en-US" sz="2800" i="1" dirty="0" smtClean="0"/>
              <a:t>substitution learning </a:t>
            </a:r>
            <a:r>
              <a:rPr lang="en-US" sz="2800" dirty="0" smtClean="0"/>
              <a:t>b/c it involves substituting a neutral stimulus in place of natural stimulus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 smtClean="0"/>
              <a:t>Let us consider Pavlov’s experiment (Summary)</a:t>
            </a:r>
            <a:endParaRPr lang="en-US" b="1" dirty="0" smtClean="0">
              <a:latin typeface="Times New Roman"/>
              <a:ea typeface="Times New Roman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534400" cy="685800"/>
          </a:xfrm>
        </p:spPr>
        <p:txBody>
          <a:bodyPr>
            <a:normAutofit fontScale="90000"/>
          </a:bodyPr>
          <a:lstStyle/>
          <a:p>
            <a:pPr marL="63500" marR="0" lvl="1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tabLst/>
              <a:defRPr/>
            </a:pPr>
            <a:r>
              <a:rPr lang="en-US" sz="3200" b="1" dirty="0">
                <a:solidFill>
                  <a:prstClr val="black"/>
                </a:solidFill>
                <a:latin typeface="Constantia"/>
              </a:rPr>
              <a:t>Summary of classical conditioning </a:t>
            </a:r>
            <a:r>
              <a:rPr lang="en-US" sz="3200" b="1" dirty="0" smtClean="0">
                <a:solidFill>
                  <a:prstClr val="black"/>
                </a:solidFill>
                <a:latin typeface="Constantia"/>
              </a:rPr>
              <a:t>procedure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90600"/>
            <a:ext cx="8305800" cy="5334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3600" b="1" dirty="0" smtClean="0">
                <a:solidFill>
                  <a:srgbClr val="FF0000"/>
                </a:solidFill>
              </a:rPr>
              <a:t>A. Before conditioning</a:t>
            </a:r>
            <a:endParaRPr lang="en-US" sz="3600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2800" dirty="0" smtClean="0"/>
              <a:t>Food </a:t>
            </a:r>
            <a:r>
              <a:rPr lang="en-US" sz="2800" b="1" dirty="0" smtClean="0"/>
              <a:t>(UCS)</a:t>
            </a:r>
            <a:r>
              <a:rPr lang="en-US" sz="2800" dirty="0" smtClean="0"/>
              <a:t>                                 Salivation </a:t>
            </a:r>
            <a:r>
              <a:rPr lang="en-US" sz="2800" b="1" dirty="0" smtClean="0"/>
              <a:t>(UCR)</a:t>
            </a:r>
          </a:p>
          <a:p>
            <a:pPr>
              <a:buNone/>
            </a:pPr>
            <a:r>
              <a:rPr lang="en-US" sz="2800" dirty="0" smtClean="0"/>
              <a:t>Bell </a:t>
            </a:r>
            <a:r>
              <a:rPr lang="en-US" sz="2800" b="1" dirty="0" smtClean="0"/>
              <a:t>(NS)</a:t>
            </a:r>
            <a:r>
              <a:rPr lang="en-US" sz="2800" dirty="0" smtClean="0"/>
              <a:t>                                       No salivation </a:t>
            </a:r>
          </a:p>
          <a:p>
            <a:pPr>
              <a:buNone/>
            </a:pPr>
            <a:endParaRPr lang="en-US" sz="1400" b="1" dirty="0" smtClean="0">
              <a:solidFill>
                <a:srgbClr val="FFFF00"/>
              </a:solidFill>
            </a:endParaRPr>
          </a:p>
          <a:p>
            <a:pPr>
              <a:buNone/>
            </a:pPr>
            <a:r>
              <a:rPr lang="en-US" sz="3600" b="1" dirty="0" smtClean="0">
                <a:solidFill>
                  <a:srgbClr val="FF0000"/>
                </a:solidFill>
              </a:rPr>
              <a:t>B. During conditioning</a:t>
            </a:r>
          </a:p>
          <a:p>
            <a:pPr>
              <a:buNone/>
            </a:pPr>
            <a:r>
              <a:rPr lang="en-US" sz="2800" dirty="0" smtClean="0"/>
              <a:t>Bell + food                                   Salivation</a:t>
            </a:r>
          </a:p>
          <a:p>
            <a:pPr>
              <a:buNone/>
            </a:pPr>
            <a:r>
              <a:rPr lang="en-US" sz="2800" b="1" dirty="0" smtClean="0"/>
              <a:t>NS   +  UCS                                  UCR</a:t>
            </a:r>
          </a:p>
          <a:p>
            <a:pPr>
              <a:buNone/>
            </a:pPr>
            <a:endParaRPr lang="en-US" sz="1200" b="1" dirty="0" smtClean="0"/>
          </a:p>
          <a:p>
            <a:pPr>
              <a:buNone/>
            </a:pPr>
            <a:r>
              <a:rPr lang="en-US" sz="3600" b="1" dirty="0" smtClean="0">
                <a:solidFill>
                  <a:srgbClr val="FF0000"/>
                </a:solidFill>
              </a:rPr>
              <a:t>C. After conditioning    </a:t>
            </a:r>
            <a:endParaRPr lang="en-US" sz="3600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2800" dirty="0" smtClean="0"/>
              <a:t>Bell                                        Salivation </a:t>
            </a:r>
          </a:p>
          <a:p>
            <a:pPr>
              <a:buNone/>
            </a:pPr>
            <a:r>
              <a:rPr lang="en-US" sz="2800" b="1" dirty="0" smtClean="0"/>
              <a:t>CS</a:t>
            </a:r>
            <a:r>
              <a:rPr lang="en-US" sz="2800" dirty="0" smtClean="0"/>
              <a:t>                                          </a:t>
            </a:r>
            <a:r>
              <a:rPr lang="en-US" sz="2800" b="1" dirty="0" smtClean="0"/>
              <a:t>CR</a:t>
            </a:r>
            <a:endParaRPr lang="en-US" sz="2800" dirty="0" smtClean="0"/>
          </a:p>
          <a:p>
            <a:pPr>
              <a:buNone/>
            </a:pPr>
            <a:endParaRPr lang="en-US" sz="2000" b="1" dirty="0" smtClean="0"/>
          </a:p>
          <a:p>
            <a:pPr>
              <a:buNone/>
            </a:pPr>
            <a:endParaRPr lang="en-US" sz="2000" b="1" dirty="0" smtClean="0"/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1457B-7433-42AD-BA61-05DF5B53CDC1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2514600" y="1676400"/>
            <a:ext cx="1981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2514600" y="2133600"/>
            <a:ext cx="1981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/>
          <p:cNvSpPr/>
          <p:nvPr/>
        </p:nvSpPr>
        <p:spPr>
          <a:xfrm>
            <a:off x="1447800" y="5638800"/>
            <a:ext cx="2438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>
            <a:off x="1447800" y="5105400"/>
            <a:ext cx="25146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/>
          <p:cNvSpPr/>
          <p:nvPr/>
        </p:nvSpPr>
        <p:spPr>
          <a:xfrm>
            <a:off x="2438400" y="3886200"/>
            <a:ext cx="22860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/>
          <p:cNvSpPr/>
          <p:nvPr/>
        </p:nvSpPr>
        <p:spPr>
          <a:xfrm>
            <a:off x="2438400" y="3429000"/>
            <a:ext cx="22860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lus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458200" cy="533400"/>
          </a:xfrm>
        </p:spPr>
        <p:txBody>
          <a:bodyPr>
            <a:noAutofit/>
          </a:bodyPr>
          <a:lstStyle/>
          <a:p>
            <a:pPr algn="l"/>
            <a:r>
              <a:rPr lang="en-US" sz="3200" b="1" dirty="0" smtClean="0">
                <a:latin typeface="Times New Roman"/>
                <a:ea typeface="Times New Roman"/>
              </a:rPr>
              <a:t>Principles of Classical Condition</a:t>
            </a:r>
            <a:endParaRPr lang="en-US" sz="32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0" y="533400"/>
            <a:ext cx="9144000" cy="632460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Extinction: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presenting the </a:t>
            </a:r>
            <a:r>
              <a:rPr lang="en-US" sz="2800" b="1" i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repeatedly without the </a:t>
            </a:r>
            <a:r>
              <a:rPr lang="en-US" sz="28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UCS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(meat), the </a:t>
            </a:r>
            <a:r>
              <a:rPr lang="en-US" sz="28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will diminish and eventually stop</a:t>
            </a:r>
          </a:p>
          <a:p>
            <a:pPr algn="just">
              <a:lnSpc>
                <a:spcPct val="150000"/>
              </a:lnSpc>
            </a:pP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Spontaneous recovery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is the reemergence of an extinguished conditioned response after extinction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Stimulus generalization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is a process in which, after a stimulus has been conditioned to produce a particular response, stimuli that are similar to the original stimulus begin to produce the same responses</a:t>
            </a:r>
          </a:p>
          <a:p>
            <a:pPr algn="just">
              <a:lnSpc>
                <a:spcPct val="150000"/>
              </a:lnSpc>
            </a:pP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Stimulus discrimination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is the process of distinguishing two similar stimuli; the ability to differentiate between stimuli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81000"/>
            <a:ext cx="8229600" cy="609600"/>
          </a:xfrm>
        </p:spPr>
        <p:txBody>
          <a:bodyPr>
            <a:normAutofit/>
          </a:bodyPr>
          <a:lstStyle/>
          <a:p>
            <a:pPr marL="55563" lvl="0"/>
            <a:r>
              <a:rPr lang="en-US" sz="2000" b="1" dirty="0" smtClean="0"/>
              <a:t> </a:t>
            </a:r>
            <a:r>
              <a:rPr lang="en-US" sz="2800" b="1" dirty="0" smtClean="0">
                <a:ln>
                  <a:noFill/>
                </a:ln>
                <a:solidFill>
                  <a:srgbClr val="92D050"/>
                </a:solidFill>
                <a:effectLst/>
              </a:rPr>
              <a:t>Applications of </a:t>
            </a:r>
            <a:r>
              <a:rPr lang="en-US" sz="2400" b="1" dirty="0" smtClean="0">
                <a:ln>
                  <a:noFill/>
                </a:ln>
                <a:solidFill>
                  <a:srgbClr val="92D050"/>
                </a:solidFill>
                <a:effectLst/>
              </a:rPr>
              <a:t>classical conditioning</a:t>
            </a:r>
            <a:r>
              <a:rPr lang="en-US" sz="2000" b="1" dirty="0" smtClean="0">
                <a:ln>
                  <a:noFill/>
                </a:ln>
                <a:solidFill>
                  <a:srgbClr val="92D050"/>
                </a:solidFill>
                <a:effectLst/>
              </a:rPr>
              <a:t> </a:t>
            </a:r>
            <a:r>
              <a:rPr lang="en-US" sz="2400" b="1" dirty="0" smtClean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(contd.)</a:t>
            </a:r>
            <a:endParaRPr lang="en-US" sz="24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09" y="990600"/>
            <a:ext cx="8686800" cy="57150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Classical conditioning </a:t>
            </a:r>
            <a:r>
              <a:rPr lang="en-US" sz="2400" dirty="0" smtClean="0">
                <a:solidFill>
                  <a:schemeClr val="tx1">
                    <a:lumMod val="95000"/>
                  </a:schemeClr>
                </a:solidFill>
              </a:rPr>
              <a:t>provides explanations for many of our </a:t>
            </a:r>
            <a:r>
              <a:rPr lang="en-US" sz="2400" b="1" dirty="0" smtClean="0">
                <a:solidFill>
                  <a:srgbClr val="FFFF00"/>
                </a:solidFill>
              </a:rPr>
              <a:t>phobias</a:t>
            </a:r>
            <a:r>
              <a:rPr lang="en-US" sz="2400" dirty="0" smtClean="0">
                <a:solidFill>
                  <a:schemeClr val="tx1">
                    <a:lumMod val="95000"/>
                  </a:schemeClr>
                </a:solidFill>
              </a:rPr>
              <a:t> (</a:t>
            </a:r>
            <a:r>
              <a:rPr lang="en-US" sz="2400" b="1" dirty="0" smtClean="0">
                <a:solidFill>
                  <a:schemeClr val="tx1">
                    <a:lumMod val="95000"/>
                  </a:schemeClr>
                </a:solidFill>
              </a:rPr>
              <a:t>irrational or unreasonable fears</a:t>
            </a:r>
            <a:r>
              <a:rPr lang="en-US" sz="2400" dirty="0" smtClean="0">
                <a:solidFill>
                  <a:schemeClr val="tx1">
                    <a:lumMod val="95000"/>
                  </a:schemeClr>
                </a:solidFill>
              </a:rPr>
              <a:t>); for example</a:t>
            </a:r>
          </a:p>
          <a:p>
            <a:pPr marL="911225">
              <a:buFont typeface="Wingdings" pitchFamily="2" charset="2"/>
              <a:buChar char="Ø"/>
            </a:pPr>
            <a:r>
              <a:rPr lang="en-US" sz="2400" b="1" i="1" dirty="0" smtClean="0">
                <a:solidFill>
                  <a:schemeClr val="tx1">
                    <a:lumMod val="95000"/>
                  </a:schemeClr>
                </a:solidFill>
              </a:rPr>
              <a:t>Developing </a:t>
            </a:r>
            <a:r>
              <a:rPr lang="en-US" sz="2400" b="1" i="1" dirty="0" smtClean="0">
                <a:solidFill>
                  <a:srgbClr val="FF0000"/>
                </a:solidFill>
              </a:rPr>
              <a:t>fear of a doctor </a:t>
            </a:r>
            <a:r>
              <a:rPr lang="en-US" sz="2400" b="1" i="1" dirty="0" smtClean="0">
                <a:solidFill>
                  <a:schemeClr val="tx1">
                    <a:lumMod val="95000"/>
                  </a:schemeClr>
                </a:solidFill>
              </a:rPr>
              <a:t>(hospital) because of painful experiences by needle. </a:t>
            </a:r>
          </a:p>
          <a:p>
            <a:pPr marL="911225" lvl="0">
              <a:buFont typeface="Wingdings" pitchFamily="2" charset="2"/>
              <a:buChar char="Ø"/>
            </a:pPr>
            <a:r>
              <a:rPr lang="en-US" sz="2400" b="1" i="1" dirty="0" smtClean="0">
                <a:solidFill>
                  <a:schemeClr val="tx1">
                    <a:lumMod val="95000"/>
                  </a:schemeClr>
                </a:solidFill>
              </a:rPr>
              <a:t>Developing </a:t>
            </a:r>
            <a:r>
              <a:rPr lang="en-US" sz="2400" b="1" i="1" dirty="0" smtClean="0">
                <a:solidFill>
                  <a:srgbClr val="FF0000"/>
                </a:solidFill>
              </a:rPr>
              <a:t>fear of a car </a:t>
            </a:r>
            <a:r>
              <a:rPr lang="en-US" sz="2400" b="1" i="1" dirty="0" smtClean="0">
                <a:solidFill>
                  <a:schemeClr val="tx1">
                    <a:lumMod val="95000"/>
                  </a:schemeClr>
                </a:solidFill>
              </a:rPr>
              <a:t>(driving) after having been in an automobile accident.</a:t>
            </a:r>
          </a:p>
          <a:p>
            <a:pPr marL="911225" lvl="0">
              <a:buFont typeface="Wingdings" pitchFamily="2" charset="2"/>
              <a:buChar char="Ø"/>
            </a:pPr>
            <a:r>
              <a:rPr lang="en-US" sz="2400" b="1" i="1" dirty="0" smtClean="0">
                <a:solidFill>
                  <a:schemeClr val="tx1">
                    <a:lumMod val="95000"/>
                  </a:schemeClr>
                </a:solidFill>
              </a:rPr>
              <a:t>Developing fear of </a:t>
            </a:r>
            <a:r>
              <a:rPr lang="en-US" sz="2400" b="1" i="1" dirty="0" smtClean="0">
                <a:solidFill>
                  <a:srgbClr val="FF0000"/>
                </a:solidFill>
              </a:rPr>
              <a:t>fear of dogs</a:t>
            </a:r>
            <a:r>
              <a:rPr lang="en-US" sz="2400" b="1" i="1" dirty="0" smtClean="0">
                <a:solidFill>
                  <a:schemeClr val="tx1">
                    <a:lumMod val="95000"/>
                  </a:schemeClr>
                </a:solidFill>
              </a:rPr>
              <a:t> after having been bitten by one dog. </a:t>
            </a:r>
          </a:p>
          <a:p>
            <a:pPr>
              <a:buFont typeface="Wingdings" pitchFamily="2" charset="2"/>
              <a:buChar char="§"/>
            </a:pPr>
            <a:r>
              <a:rPr lang="en-GB" sz="2400" b="1" dirty="0" smtClean="0">
                <a:solidFill>
                  <a:schemeClr val="tx1">
                    <a:lumMod val="95000"/>
                  </a:schemeClr>
                </a:solidFill>
              </a:rPr>
              <a:t>To develop good habits or </a:t>
            </a:r>
            <a:r>
              <a:rPr lang="en-GB" sz="2400" b="1" dirty="0" smtClean="0"/>
              <a:t>positive attitude</a:t>
            </a:r>
            <a:r>
              <a:rPr lang="en-GB" sz="2400" b="1" dirty="0" smtClean="0">
                <a:solidFill>
                  <a:schemeClr val="tx1">
                    <a:lumMod val="95000"/>
                  </a:schemeClr>
                </a:solidFill>
              </a:rPr>
              <a:t>, </a:t>
            </a:r>
          </a:p>
          <a:p>
            <a:pPr>
              <a:buFont typeface="Wingdings" pitchFamily="2" charset="2"/>
              <a:buChar char="§"/>
            </a:pPr>
            <a:r>
              <a:rPr lang="en-GB" sz="2400" b="1" dirty="0" smtClean="0">
                <a:solidFill>
                  <a:schemeClr val="tx1">
                    <a:lumMod val="95000"/>
                  </a:schemeClr>
                </a:solidFill>
              </a:rPr>
              <a:t>Used in psychotherapy, to eliminate conditioned fears (phobias) and to break bad habits (by </a:t>
            </a:r>
            <a:r>
              <a:rPr lang="en-US" sz="2400" b="1" dirty="0" smtClean="0"/>
              <a:t>counter conditioning) </a:t>
            </a:r>
            <a:endParaRPr lang="en-GB" sz="24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September, 2008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1457B-7433-42AD-BA61-05DF5B53CDC1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ransition spd="slow">
    <p:split orient="vert"/>
    <p:sndAc>
      <p:stSnd>
        <p:snd r:embed="rId2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685800"/>
          </a:xfrm>
        </p:spPr>
        <p:txBody>
          <a:bodyPr>
            <a:noAutofit/>
          </a:bodyPr>
          <a:lstStyle/>
          <a:p>
            <a:pPr marL="280988" marR="0" lvl="3" indent="-228600">
              <a:spcBef>
                <a:spcPts val="0"/>
              </a:spcBef>
              <a:spcAft>
                <a:spcPts val="0"/>
              </a:spcAft>
              <a:tabLst>
                <a:tab pos="808355" algn="l"/>
              </a:tabLst>
            </a:pPr>
            <a:r>
              <a:rPr lang="en-US" sz="4000" b="1" kern="0" spc="-15" dirty="0" smtClean="0">
                <a:latin typeface="Times New Roman"/>
                <a:ea typeface="Times New Roman"/>
              </a:rPr>
              <a:t>3.3.1.2. </a:t>
            </a:r>
            <a:r>
              <a:rPr lang="en-US" sz="3200" b="1" kern="0" spc="-15" dirty="0" smtClean="0">
                <a:latin typeface="Times New Roman"/>
                <a:ea typeface="Times New Roman"/>
              </a:rPr>
              <a:t>Operant/Instrumental conditioning</a:t>
            </a:r>
            <a:endParaRPr lang="en-US" sz="40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066800"/>
            <a:ext cx="8458200" cy="528876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i="1" dirty="0" smtClean="0"/>
              <a:t>Operant conditioning </a:t>
            </a:r>
            <a:r>
              <a:rPr lang="en-US" sz="2800" dirty="0" smtClean="0"/>
              <a:t>is learning in which a voluntary response is strengthened or weakened, depending on its favorable or unfavorable consequences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 smtClean="0"/>
              <a:t>It is a form of association learning in which the consequences of behavior produce changes in the probability of the behavior’s occurrence</a:t>
            </a:r>
            <a:endParaRPr lang="en-US" sz="2800" dirty="0" smtClean="0"/>
          </a:p>
          <a:p>
            <a:pPr>
              <a:lnSpc>
                <a:spcPct val="150000"/>
              </a:lnSpc>
              <a:buNone/>
            </a:pPr>
            <a:r>
              <a:rPr lang="en-US" sz="2800" b="1" dirty="0" smtClean="0">
                <a:solidFill>
                  <a:srgbClr val="00B0F0"/>
                </a:solidFill>
              </a:rPr>
              <a:t>Also known as instrumental conditioning </a:t>
            </a:r>
            <a:endParaRPr lang="en-US" sz="2800" b="1" dirty="0" smtClean="0"/>
          </a:p>
          <a:p>
            <a:pPr>
              <a:lnSpc>
                <a:spcPct val="150000"/>
              </a:lnSpc>
              <a:buNone/>
            </a:pPr>
            <a:r>
              <a:rPr lang="en-US" sz="2800" dirty="0" smtClean="0"/>
              <a:t>In operant conditioning, the organism's response operates on the environment and the environment, in turn, operates the organism's response</a:t>
            </a:r>
            <a:endParaRPr lang="en-US" sz="2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>
            <a:noAutofit/>
          </a:bodyPr>
          <a:lstStyle/>
          <a:p>
            <a:pPr algn="l"/>
            <a:r>
              <a:rPr lang="en-US" sz="3200" b="1" dirty="0" smtClean="0"/>
              <a:t>BASIC OPERATIONS</a:t>
            </a:r>
            <a:endParaRPr lang="en-US" sz="32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513636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 smtClean="0"/>
              <a:t>As Skinner‘s analysis, a response (operant) can lead to three types of consequences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 smtClean="0"/>
              <a:t>1</a:t>
            </a:r>
            <a:r>
              <a:rPr lang="en-US" sz="2800" dirty="0" smtClean="0"/>
              <a:t>) A neutral consequence </a:t>
            </a:r>
            <a:r>
              <a:rPr lang="en-US" sz="2800" b="1" dirty="0" smtClean="0"/>
              <a:t>2)</a:t>
            </a:r>
            <a:r>
              <a:rPr lang="en-US" sz="2800" dirty="0" smtClean="0"/>
              <a:t> A reinforcement or </a:t>
            </a:r>
            <a:r>
              <a:rPr lang="en-US" sz="2800" b="1" dirty="0" smtClean="0"/>
              <a:t>3</a:t>
            </a:r>
            <a:r>
              <a:rPr lang="en-US" sz="2800" dirty="0" smtClean="0"/>
              <a:t>) punishment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800" b="1" dirty="0" smtClean="0"/>
              <a:t>A neutral Consequence </a:t>
            </a:r>
            <a:r>
              <a:rPr lang="en-US" sz="2800" dirty="0" smtClean="0"/>
              <a:t>that does not alter the response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800" b="1" dirty="0" smtClean="0"/>
              <a:t>A reinforcement </a:t>
            </a:r>
            <a:r>
              <a:rPr lang="en-US" sz="2800" dirty="0" smtClean="0"/>
              <a:t>that strengthens the response by a </a:t>
            </a:r>
            <a:r>
              <a:rPr lang="en-US" sz="2800" b="1" dirty="0" smtClean="0">
                <a:solidFill>
                  <a:srgbClr val="FF0000"/>
                </a:solidFill>
              </a:rPr>
              <a:t>reinforcer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sz="2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>
            <a:noAutofit/>
          </a:bodyPr>
          <a:lstStyle/>
          <a:p>
            <a:pPr algn="l"/>
            <a:r>
              <a:rPr lang="en-US" sz="3200" b="1" dirty="0" smtClean="0"/>
              <a:t>BASIC OPERATIONS (</a:t>
            </a:r>
            <a:r>
              <a:rPr lang="en-US" sz="3200" b="1" dirty="0" err="1" smtClean="0"/>
              <a:t>Contd</a:t>
            </a:r>
            <a:r>
              <a:rPr lang="en-US" sz="3200" b="1" dirty="0" smtClean="0"/>
              <a:t>)</a:t>
            </a:r>
            <a:endParaRPr lang="en-US" sz="32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5136360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None/>
            </a:pPr>
            <a:r>
              <a:rPr lang="en-US" sz="2800" dirty="0" smtClean="0"/>
              <a:t>A </a:t>
            </a:r>
            <a:r>
              <a:rPr lang="en-US" sz="2800" b="1" dirty="0" smtClean="0"/>
              <a:t>reinforcer</a:t>
            </a:r>
            <a:r>
              <a:rPr lang="en-US" sz="2800" dirty="0" smtClean="0"/>
              <a:t> is any event that increases the probability that the behavior that precedes it will be repeated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en-US" sz="2800" dirty="0" smtClean="0"/>
              <a:t>There are </a:t>
            </a:r>
            <a:r>
              <a:rPr lang="en-US" sz="2800" b="1" dirty="0" smtClean="0"/>
              <a:t>two</a:t>
            </a:r>
            <a:r>
              <a:rPr lang="en-US" sz="2800" dirty="0" smtClean="0"/>
              <a:t> basic types of reinforcers</a:t>
            </a:r>
          </a:p>
          <a:p>
            <a:pPr marL="514350" indent="-5143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b="1" dirty="0" smtClean="0"/>
              <a:t>Primary reinforcers: </a:t>
            </a:r>
            <a:r>
              <a:rPr lang="en-US" sz="2800" dirty="0" smtClean="0"/>
              <a:t>Food, water, light, stroking of the skin, and a comfortable air temperature</a:t>
            </a:r>
          </a:p>
          <a:p>
            <a:pPr marL="514350" indent="-5143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b="1" dirty="0" smtClean="0"/>
              <a:t>Secondary Reinforcers:</a:t>
            </a:r>
            <a:r>
              <a:rPr lang="en-US" sz="2800" dirty="0" smtClean="0"/>
              <a:t> . Money, praise, applause, good grades, awards, and gold stars</a:t>
            </a:r>
            <a:endParaRPr lang="en-US" sz="2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>
            <a:noAutofit/>
          </a:bodyPr>
          <a:lstStyle/>
          <a:p>
            <a:pPr algn="l"/>
            <a:r>
              <a:rPr lang="en-US" sz="3200" b="1" dirty="0" smtClean="0"/>
              <a:t>BASIC OPERATIONS (</a:t>
            </a:r>
            <a:r>
              <a:rPr lang="en-US" sz="3200" b="1" dirty="0" err="1" smtClean="0"/>
              <a:t>Contd</a:t>
            </a:r>
            <a:r>
              <a:rPr lang="en-US" sz="3200" b="1" dirty="0" smtClean="0"/>
              <a:t>)</a:t>
            </a:r>
            <a:endParaRPr lang="en-US" sz="32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5136360"/>
          </a:xfrm>
        </p:spPr>
        <p:txBody>
          <a:bodyPr>
            <a:normAutofit lnSpcReduction="10000"/>
          </a:bodyPr>
          <a:lstStyle/>
          <a:p>
            <a:pPr marL="514350" indent="-514350">
              <a:lnSpc>
                <a:spcPct val="150000"/>
              </a:lnSpc>
              <a:buNone/>
            </a:pPr>
            <a:r>
              <a:rPr lang="en-US" sz="2800" dirty="0" smtClean="0"/>
              <a:t>Both primary and secondary reinforcers can be </a:t>
            </a:r>
            <a:r>
              <a:rPr lang="en-US" sz="2800" b="1" dirty="0" smtClean="0">
                <a:solidFill>
                  <a:srgbClr val="FF0000"/>
                </a:solidFill>
              </a:rPr>
              <a:t>positive or negative</a:t>
            </a:r>
          </a:p>
          <a:p>
            <a:r>
              <a:rPr lang="en-US" sz="2800" b="1" i="1" dirty="0" smtClean="0"/>
              <a:t>Positive reinforcement </a:t>
            </a:r>
            <a:r>
              <a:rPr lang="en-US" sz="2800" dirty="0" smtClean="0"/>
              <a:t>is the process whereby presentation of a stimulus makes behavior more likely to occur again</a:t>
            </a:r>
          </a:p>
          <a:p>
            <a:r>
              <a:rPr lang="en-US" sz="2800" b="1" i="1" dirty="0" smtClean="0"/>
              <a:t>Negative reinforcement </a:t>
            </a:r>
            <a:r>
              <a:rPr lang="en-US" sz="2800" dirty="0" smtClean="0"/>
              <a:t>is the process whereby elimination of an aversive stimulus makes behavior more likely to occur </a:t>
            </a:r>
          </a:p>
          <a:p>
            <a:pPr>
              <a:buNone/>
            </a:pPr>
            <a:r>
              <a:rPr lang="en-US" sz="2800" dirty="0" smtClean="0"/>
              <a:t>For e.g., if someone nags you all the time to study, but stops nagging when you comply, your studying is likely to increase- e.g. </a:t>
            </a:r>
            <a:r>
              <a:rPr lang="en-US" sz="2800" b="1" i="1" dirty="0" smtClean="0">
                <a:solidFill>
                  <a:srgbClr val="FF0000"/>
                </a:solidFill>
              </a:rPr>
              <a:t>escape</a:t>
            </a:r>
            <a:r>
              <a:rPr lang="en-US" sz="2800" i="1" dirty="0" smtClean="0"/>
              <a:t> </a:t>
            </a:r>
            <a:r>
              <a:rPr lang="en-US" sz="2800" b="1" i="1" dirty="0" smtClean="0">
                <a:solidFill>
                  <a:srgbClr val="FF0000"/>
                </a:solidFill>
              </a:rPr>
              <a:t>learning,</a:t>
            </a:r>
            <a:r>
              <a:rPr lang="en-US" sz="2800" b="1" dirty="0" smtClean="0"/>
              <a:t> </a:t>
            </a:r>
            <a:r>
              <a:rPr lang="en-US" sz="2800" b="1" dirty="0" smtClean="0">
                <a:solidFill>
                  <a:srgbClr val="FF0000"/>
                </a:solidFill>
              </a:rPr>
              <a:t>avoidance Learning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>
            <a:noAutofit/>
          </a:bodyPr>
          <a:lstStyle/>
          <a:p>
            <a:pPr algn="l"/>
            <a:r>
              <a:rPr lang="en-US" sz="3200" b="1" dirty="0" smtClean="0"/>
              <a:t>BASIC OPERATIONS (</a:t>
            </a:r>
            <a:r>
              <a:rPr lang="en-US" sz="3200" b="1" dirty="0" err="1" smtClean="0"/>
              <a:t>Contd</a:t>
            </a:r>
            <a:r>
              <a:rPr lang="en-US" sz="3200" b="1" dirty="0" smtClean="0"/>
              <a:t>)</a:t>
            </a:r>
            <a:endParaRPr lang="en-US" sz="32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5136360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None/>
            </a:pPr>
            <a:r>
              <a:rPr lang="en-US" b="1" i="1" dirty="0" smtClean="0"/>
              <a:t>Schedules of reinforcement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en-US" sz="2800" dirty="0" smtClean="0"/>
              <a:t>A response can be reinforced each time it occurs- a procedure as </a:t>
            </a:r>
            <a:r>
              <a:rPr lang="en-US" sz="2800" b="1" dirty="0" smtClean="0"/>
              <a:t>continuous reinforcement or</a:t>
            </a:r>
            <a:r>
              <a:rPr lang="en-US" sz="2800" dirty="0" smtClean="0"/>
              <a:t> once a response has become reliable reinforcing only some responses, not all of them, a procedure called </a:t>
            </a:r>
            <a:r>
              <a:rPr lang="en-US" sz="2800" b="1" i="1" dirty="0" smtClean="0"/>
              <a:t>intermittent (partial) </a:t>
            </a:r>
            <a:r>
              <a:rPr lang="en-US" sz="2800" dirty="0" smtClean="0"/>
              <a:t>schedule of reinforcement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en-US" sz="2800" dirty="0" smtClean="0"/>
              <a:t>There are </a:t>
            </a:r>
            <a:r>
              <a:rPr lang="en-US" sz="2800" b="1" dirty="0" smtClean="0">
                <a:solidFill>
                  <a:srgbClr val="FF0000"/>
                </a:solidFill>
              </a:rPr>
              <a:t>four</a:t>
            </a:r>
            <a:r>
              <a:rPr lang="en-US" sz="2800" dirty="0" smtClean="0"/>
              <a:t> types of intermittent schedules</a:t>
            </a:r>
            <a:endParaRPr lang="en-US" sz="2800" b="1" dirty="0" smtClean="0"/>
          </a:p>
          <a:p>
            <a:pPr marL="514350" indent="-514350">
              <a:lnSpc>
                <a:spcPct val="150000"/>
              </a:lnSpc>
              <a:buNone/>
            </a:pPr>
            <a:endParaRPr lang="en-US" sz="2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>
            <a:noAutofit/>
          </a:bodyPr>
          <a:lstStyle/>
          <a:p>
            <a:pPr algn="l"/>
            <a:r>
              <a:rPr lang="en-US" sz="3200" b="1" dirty="0" smtClean="0"/>
              <a:t>BASIC OPERATIONS (</a:t>
            </a:r>
            <a:r>
              <a:rPr lang="en-US" sz="3200" b="1" dirty="0" err="1" smtClean="0"/>
              <a:t>Contd</a:t>
            </a:r>
            <a:r>
              <a:rPr lang="en-US" sz="3200" b="1" dirty="0" smtClean="0"/>
              <a:t>)</a:t>
            </a:r>
            <a:endParaRPr lang="en-US" sz="32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513636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800" b="1" dirty="0" smtClean="0"/>
              <a:t>Fixed-ratio schedules: </a:t>
            </a:r>
            <a:r>
              <a:rPr lang="en-US" sz="2800" dirty="0" smtClean="0"/>
              <a:t>reinforcing a response after a fixed number of responses.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800" b="1" dirty="0" smtClean="0"/>
              <a:t>Variable-Ratio Schedule: </a:t>
            </a:r>
            <a:r>
              <a:rPr lang="en-US" sz="2800" dirty="0" smtClean="0"/>
              <a:t>reinforcing a response after some average number of responses, but with varying from reinforcement to reinforcement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800" b="1" dirty="0" smtClean="0"/>
              <a:t>Fixed Interval Schedule: </a:t>
            </a:r>
            <a:r>
              <a:rPr lang="en-US" sz="2800" dirty="0" smtClean="0"/>
              <a:t>reinforcing a response only after a fixed amount of time has passed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800" b="1" dirty="0" smtClean="0"/>
              <a:t>Variable Interval Schedule: </a:t>
            </a:r>
            <a:r>
              <a:rPr lang="en-US" sz="2800" dirty="0" smtClean="0"/>
              <a:t>reinforcing a response only after a variable amount of time has passed</a:t>
            </a:r>
            <a:endParaRPr lang="en-US" sz="2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>
            <a:noAutofit/>
          </a:bodyPr>
          <a:lstStyle/>
          <a:p>
            <a:pPr algn="l"/>
            <a:r>
              <a:rPr lang="en-US" sz="3200" b="1" dirty="0" smtClean="0"/>
              <a:t>BASIC OPERATIONS (</a:t>
            </a:r>
            <a:r>
              <a:rPr lang="en-US" sz="3200" b="1" dirty="0" err="1" smtClean="0"/>
              <a:t>Contd</a:t>
            </a:r>
            <a:r>
              <a:rPr lang="en-US" sz="3200" b="1" dirty="0" smtClean="0"/>
              <a:t>)</a:t>
            </a:r>
            <a:endParaRPr lang="en-US" sz="32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513636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lnSpc>
                <a:spcPct val="150000"/>
              </a:lnSpc>
              <a:buNone/>
            </a:pPr>
            <a:r>
              <a:rPr lang="en-US" sz="2800" dirty="0" smtClean="0"/>
              <a:t>3. </a:t>
            </a:r>
            <a:r>
              <a:rPr lang="en-US" sz="2800" b="1" dirty="0" smtClean="0"/>
              <a:t>Punishment- is a stimulus </a:t>
            </a:r>
            <a:r>
              <a:rPr lang="en-US" sz="2800" dirty="0" smtClean="0"/>
              <a:t>that weakens the response or makes it less likely to recur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en-US" sz="2800" dirty="0" smtClean="0"/>
              <a:t>It is an undesirable event that follows a behavior it intends to reduce/ weaken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en-US" sz="2800" b="1" dirty="0" smtClean="0"/>
              <a:t>Punishers</a:t>
            </a:r>
            <a:r>
              <a:rPr lang="en-US" sz="2800" dirty="0" smtClean="0"/>
              <a:t> can also be primary or secondary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en-US" sz="2800" b="1" dirty="0" smtClean="0"/>
              <a:t>primary punishers: </a:t>
            </a:r>
            <a:r>
              <a:rPr lang="en-US" sz="2800" dirty="0" smtClean="0"/>
              <a:t>Pain and extreme heat or cold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en-US" sz="2800" b="1" dirty="0" smtClean="0"/>
              <a:t>Secondary punishers: </a:t>
            </a:r>
            <a:r>
              <a:rPr lang="en-US" sz="2800" dirty="0" smtClean="0"/>
              <a:t>Criticism, demerits, catcalls, scolding, fines, and bad grades</a:t>
            </a:r>
            <a:endParaRPr lang="en-US" sz="2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>
            <a:noAutofit/>
          </a:bodyPr>
          <a:lstStyle/>
          <a:p>
            <a:pPr algn="l"/>
            <a:r>
              <a:rPr lang="en-US" sz="3200" b="1" dirty="0" smtClean="0"/>
              <a:t>The Pros and Cons of Punishment</a:t>
            </a:r>
            <a:endParaRPr lang="en-US" sz="32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5136360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b="1" dirty="0" smtClean="0"/>
              <a:t>Immediacy </a:t>
            </a:r>
            <a:r>
              <a:rPr lang="en-US" sz="2800" dirty="0" smtClean="0"/>
              <a:t>–punishment follows immediately after the behavior to be punished</a:t>
            </a:r>
          </a:p>
          <a:p>
            <a:pPr marL="514350" indent="-5143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b="1" dirty="0" smtClean="0"/>
              <a:t>Consistency</a:t>
            </a:r>
            <a:r>
              <a:rPr lang="en-US" sz="2800" dirty="0" smtClean="0"/>
              <a:t>- using punishment evenly/steadily </a:t>
            </a:r>
          </a:p>
          <a:p>
            <a:pPr marL="514350" indent="-5143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b="1" dirty="0" smtClean="0"/>
              <a:t>Intensity</a:t>
            </a:r>
            <a:r>
              <a:rPr lang="en-US" sz="2800" dirty="0" smtClean="0"/>
              <a:t>- use severe punishments</a:t>
            </a:r>
            <a:endParaRPr lang="en-US" sz="2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>
            <a:noAutofit/>
          </a:bodyPr>
          <a:lstStyle/>
          <a:p>
            <a:pPr algn="l"/>
            <a:r>
              <a:rPr lang="en-US" sz="3200" b="1" dirty="0" smtClean="0"/>
              <a:t>The Pros and Cons of Punishment (Contd.)</a:t>
            </a:r>
            <a:endParaRPr lang="en-US" sz="32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513636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i="1" dirty="0" smtClean="0"/>
              <a:t>When punishment fails: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 smtClean="0"/>
              <a:t>administering punishment inappropriately or mindlessly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 smtClean="0"/>
              <a:t>recipient of punishment often responds with anxiety, fear or rage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 smtClean="0"/>
              <a:t>depending heavily on the presence of the punishing person or circumstances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 smtClean="0"/>
              <a:t>hard to punish immediately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 smtClean="0"/>
              <a:t>Punishment conveys little information - instead of punishing it may be reinforcing because it brings attention</a:t>
            </a:r>
            <a:endParaRPr lang="en-US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>
            <a:noAutofit/>
          </a:bodyPr>
          <a:lstStyle/>
          <a:p>
            <a:pPr algn="l"/>
            <a:r>
              <a:rPr lang="en-US" sz="3200" dirty="0" smtClean="0">
                <a:latin typeface="Times New Roman"/>
                <a:ea typeface="Times New Roman"/>
              </a:rPr>
              <a:t>Schedules of reinforcement</a:t>
            </a:r>
            <a:endParaRPr lang="en-US" sz="32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5136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 smtClean="0"/>
              <a:t>Shaping: </a:t>
            </a:r>
            <a:r>
              <a:rPr lang="en-US" sz="2800" dirty="0" smtClean="0"/>
              <a:t>an operant conditioning procedure in which successive approximations of a desired response are reinforced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 smtClean="0"/>
              <a:t>It is establishing novel behaviors by reinforcing responses that gradually approach the behavior that is desired</a:t>
            </a:r>
            <a:endParaRPr lang="en-US" sz="2800" b="1" dirty="0" smtClean="0"/>
          </a:p>
          <a:p>
            <a:pPr>
              <a:lnSpc>
                <a:spcPct val="150000"/>
              </a:lnSpc>
              <a:buNone/>
            </a:pPr>
            <a:endParaRPr lang="en-US" sz="2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458200" cy="685800"/>
          </a:xfrm>
        </p:spPr>
        <p:txBody>
          <a:bodyPr>
            <a:noAutofit/>
          </a:bodyPr>
          <a:lstStyle/>
          <a:p>
            <a:pPr algn="l"/>
            <a:r>
              <a:rPr lang="en-US" sz="3200" b="1" dirty="0" smtClean="0">
                <a:latin typeface="Times New Roman"/>
                <a:ea typeface="Times New Roman"/>
              </a:rPr>
              <a:t>Applications of operant conditioning</a:t>
            </a:r>
            <a:endParaRPr lang="en-US" sz="32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838200"/>
            <a:ext cx="8458200" cy="5517360"/>
          </a:xfrm>
        </p:spPr>
        <p:txBody>
          <a:bodyPr>
            <a:normAutofit fontScale="92500" lnSpcReduction="20000"/>
          </a:bodyPr>
          <a:lstStyle/>
          <a:p>
            <a:pPr lvl="0">
              <a:lnSpc>
                <a:spcPct val="120000"/>
              </a:lnSpc>
            </a:pPr>
            <a:r>
              <a:rPr lang="en-US" sz="2800" b="1" i="1" dirty="0" smtClean="0"/>
              <a:t>Conditioning study behavior:</a:t>
            </a:r>
            <a:r>
              <a:rPr lang="en-US" sz="2800" dirty="0" smtClean="0"/>
              <a:t> arranging effective contingencies of reinforcement, e.g., for Self-learning reinforcing a student using incentives such as prize, medal, smile, praise, patting on the back or giving higher marks </a:t>
            </a:r>
            <a:endParaRPr lang="en-US" sz="2800" b="1" i="1" dirty="0" smtClean="0"/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800" b="1" i="1" dirty="0" smtClean="0"/>
              <a:t>Conditioning and classroom behavior: </a:t>
            </a:r>
            <a:r>
              <a:rPr lang="en-US" sz="2800" dirty="0" smtClean="0"/>
              <a:t>acquiring unpleasant experience which becomes conditioned to the teacher, subject and the classroom and students begin to dislike the subject and the teacher</a:t>
            </a:r>
            <a:endParaRPr lang="en-US" sz="2800" b="1" i="1" dirty="0" smtClean="0"/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800" b="1" i="1" dirty="0" smtClean="0"/>
              <a:t>Managing Behavioral Problem </a:t>
            </a:r>
            <a:r>
              <a:rPr lang="en-US" sz="2800" dirty="0" smtClean="0"/>
              <a:t>: used as therapy to shape students’ behavior by admitting positive contingencies like praise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>
            <a:noAutofit/>
          </a:bodyPr>
          <a:lstStyle/>
          <a:p>
            <a:pPr algn="l"/>
            <a:r>
              <a:rPr lang="en-US" sz="3200" b="1" dirty="0" smtClean="0">
                <a:latin typeface="Times New Roman"/>
                <a:ea typeface="Times New Roman"/>
              </a:rPr>
              <a:t>Applications of operant conditioning (</a:t>
            </a:r>
            <a:r>
              <a:rPr lang="en-US" sz="3200" b="1" dirty="0" err="1" smtClean="0">
                <a:latin typeface="Times New Roman"/>
                <a:ea typeface="Times New Roman"/>
              </a:rPr>
              <a:t>Contd</a:t>
            </a:r>
            <a:r>
              <a:rPr lang="en-US" sz="3200" b="1" dirty="0" smtClean="0">
                <a:latin typeface="Times New Roman"/>
                <a:ea typeface="Times New Roman"/>
              </a:rPr>
              <a:t>)</a:t>
            </a:r>
            <a:endParaRPr lang="en-US" sz="32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5136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800" b="1" i="1" dirty="0" smtClean="0"/>
              <a:t>Dealing with anxieties through conditioning</a:t>
            </a:r>
            <a:r>
              <a:rPr lang="en-US" sz="2800" dirty="0" smtClean="0"/>
              <a:t>: used to break fear habits  using use desensitization technique- initially provide very weak form of conditioned stimulus, gradually increasing the strength of stimulus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800" b="1" i="1" dirty="0" smtClean="0"/>
              <a:t>Conditioning group behavior</a:t>
            </a:r>
            <a:r>
              <a:rPr lang="en-US" sz="2800" dirty="0" smtClean="0"/>
              <a:t>: reinforcement breaks undesired and antisocial behavior of a group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>
            <a:noAutofit/>
          </a:bodyPr>
          <a:lstStyle/>
          <a:p>
            <a:pPr algn="l"/>
            <a:r>
              <a:rPr lang="en-US" sz="3200" b="1" dirty="0" smtClean="0">
                <a:latin typeface="Times New Roman"/>
                <a:ea typeface="Times New Roman"/>
              </a:rPr>
              <a:t>Applications of operant conditioning (</a:t>
            </a:r>
            <a:r>
              <a:rPr lang="en-US" sz="3200" b="1" dirty="0" err="1" smtClean="0">
                <a:latin typeface="Times New Roman"/>
                <a:ea typeface="Times New Roman"/>
              </a:rPr>
              <a:t>Contd</a:t>
            </a:r>
            <a:r>
              <a:rPr lang="en-US" sz="3200" b="1" dirty="0" smtClean="0">
                <a:latin typeface="Times New Roman"/>
                <a:ea typeface="Times New Roman"/>
              </a:rPr>
              <a:t>)</a:t>
            </a:r>
            <a:endParaRPr lang="en-US" sz="32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5136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800" b="1" i="1" dirty="0" smtClean="0"/>
              <a:t>Conditioning and Cognitive Processes</a:t>
            </a:r>
            <a:r>
              <a:rPr lang="en-US" sz="2800" dirty="0" smtClean="0"/>
              <a:t>: to bring a progress of knowledge, reinforcing in the feedback form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800" b="1" i="1" dirty="0" smtClean="0"/>
              <a:t>Shaping Complex Behavior</a:t>
            </a:r>
            <a:r>
              <a:rPr lang="en-US" sz="2800" dirty="0" smtClean="0"/>
              <a:t>: Controlling complex behavior that exist in the form of a chain of small behaviors</a:t>
            </a:r>
            <a:endParaRPr lang="en-US" sz="2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1143000"/>
          </a:xfrm>
        </p:spPr>
        <p:txBody>
          <a:bodyPr>
            <a:noAutofit/>
          </a:bodyPr>
          <a:lstStyle/>
          <a:p>
            <a:pPr marL="287338" marR="0" lvl="2" indent="-228600">
              <a:spcBef>
                <a:spcPts val="1030"/>
              </a:spcBef>
              <a:spcAft>
                <a:spcPts val="0"/>
              </a:spcAft>
              <a:tabLst>
                <a:tab pos="568960" algn="l"/>
              </a:tabLst>
            </a:pPr>
            <a:r>
              <a:rPr lang="en-US" sz="3600" b="1" spc="-5" dirty="0" smtClean="0">
                <a:solidFill>
                  <a:srgbClr val="4F81BC"/>
                </a:solidFill>
                <a:latin typeface="Cambria"/>
                <a:ea typeface="Cambria"/>
                <a:cs typeface="Cambria"/>
              </a:rPr>
              <a:t>3.3.2. Social Learning Theory (observational learning)theory</a:t>
            </a:r>
            <a:endParaRPr lang="en-US" sz="36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447800"/>
            <a:ext cx="8458200" cy="490776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i="1" dirty="0" smtClean="0"/>
              <a:t>A tendency for individuals to reproduce the actions, attitudes or emotional responses displayed by real life or symbolized models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 smtClean="0"/>
              <a:t>As </a:t>
            </a:r>
            <a:r>
              <a:rPr lang="en-US" sz="2800" dirty="0" err="1" smtClean="0"/>
              <a:t>Bandura</a:t>
            </a:r>
            <a:r>
              <a:rPr lang="en-US" sz="2800" dirty="0" smtClean="0"/>
              <a:t>, three forms of reinforcement can encourage observational learning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800" b="1" i="1" dirty="0" smtClean="0"/>
              <a:t>direct reinforcement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800" b="1" i="1" dirty="0" smtClean="0"/>
              <a:t>vicarious reinforcement</a:t>
            </a:r>
            <a:r>
              <a:rPr lang="en-US" sz="2800" i="1" dirty="0" smtClean="0"/>
              <a:t> 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800" b="1" i="1" dirty="0" smtClean="0"/>
              <a:t>self-reinforcement</a:t>
            </a:r>
            <a:endParaRPr lang="en-US" sz="2800" dirty="0" smtClean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609600"/>
          </a:xfrm>
        </p:spPr>
        <p:txBody>
          <a:bodyPr>
            <a:noAutofit/>
          </a:bodyPr>
          <a:lstStyle/>
          <a:p>
            <a:pPr algn="l"/>
            <a:r>
              <a:rPr lang="en-US" sz="4000" dirty="0" smtClean="0">
                <a:solidFill>
                  <a:prstClr val="black"/>
                </a:solidFill>
              </a:rPr>
              <a:t>Processes of Social learning</a:t>
            </a:r>
            <a:endParaRPr lang="en-US" sz="32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914400"/>
            <a:ext cx="8458200" cy="544116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 err="1" smtClean="0"/>
              <a:t>Bandura</a:t>
            </a:r>
            <a:r>
              <a:rPr lang="en-US" sz="2800" dirty="0" smtClean="0"/>
              <a:t> mentions </a:t>
            </a:r>
            <a:r>
              <a:rPr lang="en-US" sz="2800" i="1" dirty="0" smtClean="0"/>
              <a:t>four conditions </a:t>
            </a:r>
            <a:r>
              <a:rPr lang="en-US" sz="2800" dirty="0" smtClean="0"/>
              <a:t>that are necessary in the p</a:t>
            </a:r>
            <a:r>
              <a:rPr lang="en-US" sz="2800" dirty="0" smtClean="0">
                <a:solidFill>
                  <a:prstClr val="black"/>
                </a:solidFill>
              </a:rPr>
              <a:t>rocesses of observational learning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800" b="1" i="1" dirty="0" smtClean="0"/>
              <a:t>Attention</a:t>
            </a:r>
            <a:r>
              <a:rPr lang="en-US" sz="2800" b="1" dirty="0" smtClean="0"/>
              <a:t>: </a:t>
            </a:r>
            <a:r>
              <a:rPr lang="en-US" sz="2800" dirty="0" smtClean="0"/>
              <a:t>paying attention to the model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800" b="1" i="1" dirty="0" smtClean="0"/>
              <a:t>Retention</a:t>
            </a:r>
            <a:r>
              <a:rPr lang="en-US" sz="2800" b="1" dirty="0" smtClean="0"/>
              <a:t>: </a:t>
            </a:r>
            <a:r>
              <a:rPr lang="en-US" sz="2800" dirty="0" smtClean="0"/>
              <a:t>encoding and storing of observed behavior in memory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800" b="1" i="1" dirty="0" smtClean="0"/>
              <a:t>Motor reproduction</a:t>
            </a:r>
            <a:r>
              <a:rPr lang="en-US" sz="2800" dirty="0" smtClean="0"/>
              <a:t>: replicating the observed behavior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800" b="1" i="1" dirty="0" smtClean="0"/>
              <a:t>Motivation</a:t>
            </a:r>
            <a:r>
              <a:rPr lang="en-US" sz="2800" b="1" dirty="0" smtClean="0"/>
              <a:t>: </a:t>
            </a:r>
            <a:r>
              <a:rPr lang="en-US" sz="2800" i="1" dirty="0" smtClean="0"/>
              <a:t>motivation</a:t>
            </a:r>
            <a:r>
              <a:rPr lang="en-US" sz="2800" dirty="0" smtClean="0"/>
              <a:t>; the desire </a:t>
            </a:r>
            <a:r>
              <a:rPr lang="en-US" sz="2800" i="1" dirty="0" smtClean="0"/>
              <a:t>to demonstrate (</a:t>
            </a:r>
            <a:r>
              <a:rPr lang="en-US" sz="2800" dirty="0" smtClean="0"/>
              <a:t>perform) the learned behavior frequently</a:t>
            </a:r>
            <a:endParaRPr lang="en-US" sz="2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>
            <a:noAutofit/>
          </a:bodyPr>
          <a:lstStyle/>
          <a:p>
            <a:pPr algn="l"/>
            <a:r>
              <a:rPr lang="en-US" sz="4000" dirty="0" smtClean="0"/>
              <a:t>Implications of Social learning theory</a:t>
            </a:r>
            <a:endParaRPr lang="en-US" sz="40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4800" y="1219200"/>
            <a:ext cx="8534400" cy="513636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i="1" dirty="0" smtClean="0"/>
              <a:t>learn a great </a:t>
            </a:r>
            <a:r>
              <a:rPr lang="en-US" sz="2800" dirty="0" smtClean="0"/>
              <a:t>deal simply by </a:t>
            </a:r>
            <a:r>
              <a:rPr lang="en-US" sz="2800" i="1" dirty="0" smtClean="0"/>
              <a:t>observing </a:t>
            </a:r>
            <a:r>
              <a:rPr lang="en-US" sz="2800" dirty="0" smtClean="0"/>
              <a:t>other people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i="1" dirty="0" smtClean="0"/>
              <a:t>Describing </a:t>
            </a:r>
            <a:r>
              <a:rPr lang="en-US" sz="2800" dirty="0" smtClean="0"/>
              <a:t>the </a:t>
            </a:r>
            <a:r>
              <a:rPr lang="en-US" sz="2800" i="1" dirty="0" smtClean="0"/>
              <a:t>consequences </a:t>
            </a:r>
            <a:r>
              <a:rPr lang="en-US" sz="2800" dirty="0" smtClean="0"/>
              <a:t>of behavior to increase appropriate behaviors and decrease inappropriate ones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smtClean="0"/>
              <a:t>Provides an </a:t>
            </a:r>
            <a:r>
              <a:rPr lang="en-US" sz="2800" i="1" dirty="0" smtClean="0"/>
              <a:t>alternative to shaping </a:t>
            </a:r>
            <a:r>
              <a:rPr lang="en-US" sz="2800" dirty="0" smtClean="0"/>
              <a:t>for teaching new behaviors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smtClean="0"/>
              <a:t>Taking care to </a:t>
            </a:r>
            <a:r>
              <a:rPr lang="en-US" sz="2800" i="1" dirty="0" smtClean="0"/>
              <a:t>model appropriate behaviors but not </a:t>
            </a:r>
            <a:r>
              <a:rPr lang="en-US" sz="2800" dirty="0" smtClean="0"/>
              <a:t>inappropriate behaviors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smtClean="0"/>
              <a:t>To break down traditional stereotypes, </a:t>
            </a:r>
            <a:r>
              <a:rPr lang="en-US" sz="2800" i="1" dirty="0" smtClean="0"/>
              <a:t>exposing </a:t>
            </a:r>
            <a:r>
              <a:rPr lang="en-US" sz="2800" dirty="0" smtClean="0"/>
              <a:t>students to a </a:t>
            </a:r>
            <a:r>
              <a:rPr lang="en-US" sz="2800" i="1" dirty="0" smtClean="0"/>
              <a:t>variety </a:t>
            </a:r>
            <a:r>
              <a:rPr lang="en-US" sz="2800" dirty="0" smtClean="0"/>
              <a:t>of other </a:t>
            </a:r>
            <a:r>
              <a:rPr lang="en-US" sz="2800" i="1" dirty="0" smtClean="0"/>
              <a:t>models</a:t>
            </a:r>
            <a:endParaRPr lang="en-US" sz="2800" dirty="0" smtClean="0"/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endParaRPr lang="en-US" sz="2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>
            <a:noAutofit/>
          </a:bodyPr>
          <a:lstStyle/>
          <a:p>
            <a:pPr algn="l"/>
            <a:r>
              <a:rPr lang="en-US" sz="4000" dirty="0" smtClean="0">
                <a:solidFill>
                  <a:prstClr val="black"/>
                </a:solidFill>
              </a:rPr>
              <a:t>Implications (Contd.)</a:t>
            </a:r>
            <a:endParaRPr lang="en-US" sz="32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5136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smtClean="0"/>
              <a:t>To develop a sense of </a:t>
            </a:r>
            <a:r>
              <a:rPr lang="en-US" sz="2800" i="1" dirty="0" smtClean="0"/>
              <a:t>self-efficacy - believe </a:t>
            </a:r>
            <a:r>
              <a:rPr lang="en-US" sz="2800" dirty="0" smtClean="0"/>
              <a:t>that someone is </a:t>
            </a:r>
            <a:r>
              <a:rPr lang="en-US" sz="2800" i="1" dirty="0" smtClean="0"/>
              <a:t>capable </a:t>
            </a:r>
            <a:r>
              <a:rPr lang="en-US" sz="2800" dirty="0" smtClean="0"/>
              <a:t>of accomplishing school tasks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smtClean="0"/>
              <a:t>To set </a:t>
            </a:r>
            <a:r>
              <a:rPr lang="en-US" sz="2800" i="1" dirty="0" smtClean="0"/>
              <a:t>realistic expectations </a:t>
            </a:r>
            <a:r>
              <a:rPr lang="en-US" sz="2800" dirty="0" smtClean="0"/>
              <a:t>for academic accomplishments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smtClean="0"/>
              <a:t>Helps to improve elf-regulation behavior</a:t>
            </a:r>
            <a:endParaRPr lang="en-US" sz="2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685800"/>
          </a:xfrm>
        </p:spPr>
        <p:txBody>
          <a:bodyPr>
            <a:noAutofit/>
          </a:bodyPr>
          <a:lstStyle/>
          <a:p>
            <a:pPr marL="228600" marR="0" lvl="2" indent="-228600">
              <a:spcBef>
                <a:spcPts val="500"/>
              </a:spcBef>
              <a:spcAft>
                <a:spcPts val="0"/>
              </a:spcAft>
              <a:tabLst>
                <a:tab pos="568960" algn="l"/>
              </a:tabLst>
            </a:pPr>
            <a:r>
              <a:rPr lang="en-US" sz="3600" b="1" spc="-5" dirty="0" smtClean="0">
                <a:solidFill>
                  <a:srgbClr val="4F81BC"/>
                </a:solidFill>
                <a:latin typeface="Cambria"/>
                <a:ea typeface="Cambria"/>
                <a:cs typeface="Cambria"/>
              </a:rPr>
              <a:t>3.3.3. Cognitive Learning Theory</a:t>
            </a:r>
            <a:endParaRPr lang="en-US" sz="36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914400"/>
            <a:ext cx="8458200" cy="544116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 smtClean="0"/>
              <a:t>Human beings, unlike the rat and the rabbit, are full of attitudes, beliefs and expectations that affect the way they acquire information, make decisions, reason, and solve problems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 smtClean="0"/>
              <a:t>These mental processes affect individuals’ behavior and personality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 smtClean="0"/>
              <a:t>These theory deals with the mental mechanisms that mediate the processing of information in some meaningful fashion. 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 smtClean="0"/>
              <a:t>It extends into the realms of memory, thinking, problem solving and the use of language</a:t>
            </a:r>
            <a:endParaRPr lang="en-US" sz="2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>
            <a:noAutofit/>
          </a:bodyPr>
          <a:lstStyle/>
          <a:p>
            <a:pPr algn="l"/>
            <a:r>
              <a:rPr lang="en-US" dirty="0" smtClean="0"/>
              <a:t>Forms of Cognitive learning</a:t>
            </a:r>
            <a:endParaRPr lang="en-US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51363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Examples</a:t>
            </a:r>
            <a:r>
              <a:rPr lang="en-US" sz="2800" b="1" dirty="0" smtClean="0">
                <a:solidFill>
                  <a:srgbClr val="FFFF00"/>
                </a:solidFill>
              </a:rPr>
              <a:t>:</a:t>
            </a:r>
          </a:p>
          <a:p>
            <a:r>
              <a:rPr lang="en-US" sz="2800" b="1" dirty="0" smtClean="0">
                <a:solidFill>
                  <a:srgbClr val="7030A0"/>
                </a:solidFill>
              </a:rPr>
              <a:t>Latent learning </a:t>
            </a:r>
            <a:r>
              <a:rPr lang="en-US" sz="2800" b="1" dirty="0" smtClean="0"/>
              <a:t>- </a:t>
            </a:r>
            <a:r>
              <a:rPr lang="en-US" sz="2800" dirty="0" smtClean="0"/>
              <a:t>a hidden form of learning in which  a behavior is not manifested for the time being but it might appear when situations are favorable </a:t>
            </a:r>
          </a:p>
          <a:p>
            <a:pPr>
              <a:buNone/>
            </a:pPr>
            <a:r>
              <a:rPr lang="en-US" sz="2800" dirty="0" smtClean="0"/>
              <a:t>It involves changes in the way information is processed and occurs without reinforcement and responses</a:t>
            </a:r>
          </a:p>
          <a:p>
            <a:r>
              <a:rPr lang="en-US" sz="2800" b="1" dirty="0" smtClean="0">
                <a:solidFill>
                  <a:srgbClr val="7030A0"/>
                </a:solidFill>
              </a:rPr>
              <a:t>Insight learning</a:t>
            </a:r>
            <a:r>
              <a:rPr lang="en-US" sz="2800" b="1" dirty="0" smtClean="0">
                <a:solidFill>
                  <a:srgbClr val="FFFF00"/>
                </a:solidFill>
              </a:rPr>
              <a:t> </a:t>
            </a:r>
            <a:r>
              <a:rPr lang="en-US" sz="2800" b="1" dirty="0" smtClean="0"/>
              <a:t>- </a:t>
            </a:r>
            <a:r>
              <a:rPr lang="en-US" sz="2800" dirty="0" smtClean="0"/>
              <a:t>a sudden change in our perception that comes while encounter and struggle with life challenging problem</a:t>
            </a:r>
            <a:endParaRPr lang="en-US" sz="2800" dirty="0"/>
          </a:p>
          <a:p>
            <a:pPr>
              <a:buNone/>
            </a:pPr>
            <a:r>
              <a:rPr lang="en-US" sz="2800" dirty="0" smtClean="0"/>
              <a:t>It doesn‘t depend on conditioning of particular behaviors for its occurrence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Octoberr, 2019 (2012 E. C.)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W. 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33400"/>
            <a:ext cx="7772400" cy="2286000"/>
          </a:xfrm>
        </p:spPr>
        <p:txBody>
          <a:bodyPr/>
          <a:lstStyle/>
          <a:p>
            <a:pPr lvl="0" algn="ctr"/>
            <a:r>
              <a:rPr lang="en-US" sz="5400" b="1" dirty="0" smtClean="0">
                <a:solidFill>
                  <a:srgbClr val="00B0F0"/>
                </a:solidFill>
                <a:latin typeface="Lucida Calligraphy" pitchFamily="66" charset="0"/>
              </a:rPr>
              <a:t>THE END OF THIS UNIT</a:t>
            </a:r>
            <a:endParaRPr lang="en-US" sz="5400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514600"/>
            <a:ext cx="7772400" cy="3840960"/>
          </a:xfrm>
        </p:spPr>
        <p:txBody>
          <a:bodyPr>
            <a:normAutofit/>
          </a:bodyPr>
          <a:lstStyle/>
          <a:p>
            <a:pPr marL="274320" lvl="0" indent="-274320" algn="ctr">
              <a:spcBef>
                <a:spcPct val="20000"/>
              </a:spcBef>
              <a:buClr>
                <a:srgbClr val="D16349"/>
              </a:buClr>
              <a:buSzPct val="85000"/>
              <a:buNone/>
            </a:pPr>
            <a:endParaRPr lang="en-US" sz="3200" dirty="0" smtClean="0">
              <a:solidFill>
                <a:srgbClr val="FFFF00"/>
              </a:solidFill>
              <a:latin typeface="Lucida Calligraphy" pitchFamily="66" charset="0"/>
            </a:endParaRPr>
          </a:p>
          <a:p>
            <a:pPr marL="274320" lvl="0" indent="-274320" algn="ctr">
              <a:spcBef>
                <a:spcPct val="20000"/>
              </a:spcBef>
              <a:buClr>
                <a:srgbClr val="D16349"/>
              </a:buClr>
              <a:buSzPct val="85000"/>
              <a:buNone/>
            </a:pPr>
            <a:r>
              <a:rPr lang="en-US" sz="6000" b="1" dirty="0" smtClean="0">
                <a:solidFill>
                  <a:srgbClr val="FFFF00"/>
                </a:solidFill>
                <a:latin typeface="Lucida Calligraphy" pitchFamily="66" charset="0"/>
              </a:rPr>
              <a:t>THANK YOU VERY MUCH</a:t>
            </a:r>
            <a:r>
              <a:rPr lang="en-US" sz="6000" b="1" dirty="0" smtClean="0">
                <a:solidFill>
                  <a:srgbClr val="FF0000"/>
                </a:solidFill>
                <a:latin typeface="Lucida Calligraphy" pitchFamily="66" charset="0"/>
              </a:rPr>
              <a:t>!!</a:t>
            </a:r>
          </a:p>
          <a:p>
            <a:endParaRPr lang="en-US" sz="5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6172201"/>
            <a:ext cx="7696200" cy="609600"/>
          </a:xfrm>
        </p:spPr>
        <p:txBody>
          <a:bodyPr/>
          <a:lstStyle/>
          <a:p>
            <a:r>
              <a:rPr lang="en-US" sz="2000" dirty="0" smtClean="0"/>
              <a:t>October, 2019 (2012 EC)                                                                      E.. W. G.</a:t>
            </a:r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1457B-7433-42AD-BA61-05DF5B53CDC1}" type="slidenum">
              <a:rPr lang="en-US" smtClean="0"/>
              <a:pPr/>
              <a:t>38</a:t>
            </a:fld>
            <a:endParaRPr lang="en-US" dirty="0"/>
          </a:p>
        </p:txBody>
      </p:sp>
    </p:spTree>
  </p:cSld>
  <p:clrMapOvr>
    <a:masterClrMapping/>
  </p:clrMapOvr>
  <p:transition spd="slow">
    <p:cover dir="d"/>
    <p:sndAc>
      <p:stSnd>
        <p:snd r:embed="rId2" name="coin.wav"/>
      </p:stSnd>
    </p:sndAc>
  </p:transition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2286</TotalTime>
  <Words>2779</Words>
  <Application>Microsoft Office PowerPoint</Application>
  <PresentationFormat>On-screen Show (4:3)</PresentationFormat>
  <Paragraphs>310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0" baseType="lpstr">
      <vt:lpstr>Office Theme</vt:lpstr>
      <vt:lpstr>1_Metro</vt:lpstr>
      <vt:lpstr>UNIT 3</vt:lpstr>
      <vt:lpstr>Discussion</vt:lpstr>
      <vt:lpstr>3.1.1. Definition of Learning</vt:lpstr>
      <vt:lpstr>Definition (Contd)</vt:lpstr>
      <vt:lpstr>3.1.2. Characteristics of Learning</vt:lpstr>
      <vt:lpstr>3.1.3. Principles of Learning</vt:lpstr>
      <vt:lpstr>Principles (Contd)</vt:lpstr>
      <vt:lpstr>3.2 Factors Influencing Learning</vt:lpstr>
      <vt:lpstr>Factors (Contd)</vt:lpstr>
      <vt:lpstr>3.3. Theories of Learning and their Applications</vt:lpstr>
      <vt:lpstr>3.3.1. Behavioral Theory of Learning</vt:lpstr>
      <vt:lpstr>3.3.1.1 Classical conditioning theory</vt:lpstr>
      <vt:lpstr>Classical conditioning (Contd.)</vt:lpstr>
      <vt:lpstr>Classical conditioning (Contd.)</vt:lpstr>
      <vt:lpstr>Classical conditioning (Contd.)</vt:lpstr>
      <vt:lpstr>Summary of classical conditioning procedure</vt:lpstr>
      <vt:lpstr>Principles of Classical Condition</vt:lpstr>
      <vt:lpstr> Applications of classical conditioning (contd.)</vt:lpstr>
      <vt:lpstr>3.3.1.2. Operant/Instrumental conditioning</vt:lpstr>
      <vt:lpstr>BASIC OPERATIONS</vt:lpstr>
      <vt:lpstr>BASIC OPERATIONS (Contd)</vt:lpstr>
      <vt:lpstr>BASIC OPERATIONS (Contd)</vt:lpstr>
      <vt:lpstr>BASIC OPERATIONS (Contd)</vt:lpstr>
      <vt:lpstr>BASIC OPERATIONS (Contd)</vt:lpstr>
      <vt:lpstr>BASIC OPERATIONS (Contd)</vt:lpstr>
      <vt:lpstr>The Pros and Cons of Punishment</vt:lpstr>
      <vt:lpstr>The Pros and Cons of Punishment (Contd.)</vt:lpstr>
      <vt:lpstr>Schedules of reinforcement</vt:lpstr>
      <vt:lpstr>Applications of operant conditioning</vt:lpstr>
      <vt:lpstr>Applications of operant conditioning (Contd)</vt:lpstr>
      <vt:lpstr>Applications of operant conditioning (Contd)</vt:lpstr>
      <vt:lpstr>3.3.2. Social Learning Theory (observational learning)theory</vt:lpstr>
      <vt:lpstr>Processes of Social learning</vt:lpstr>
      <vt:lpstr>Implications of Social learning theory</vt:lpstr>
      <vt:lpstr>Implications (Contd.)</vt:lpstr>
      <vt:lpstr>3.3.3. Cognitive Learning Theory</vt:lpstr>
      <vt:lpstr>Forms of Cognitive learning</vt:lpstr>
      <vt:lpstr>THE END OF THIS UNIT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ONE:  SUBJECT MATTER OF PSYCHOLOGY  </dc:title>
  <dc:creator>Meme</dc:creator>
  <cp:lastModifiedBy>Dell</cp:lastModifiedBy>
  <cp:revision>300</cp:revision>
  <dcterms:created xsi:type="dcterms:W3CDTF">2012-04-24T00:49:53Z</dcterms:created>
  <dcterms:modified xsi:type="dcterms:W3CDTF">2019-11-18T08:32:58Z</dcterms:modified>
</cp:coreProperties>
</file>