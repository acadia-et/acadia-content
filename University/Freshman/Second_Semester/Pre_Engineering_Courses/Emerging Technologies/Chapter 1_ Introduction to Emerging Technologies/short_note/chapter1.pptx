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5"/>
  </p:handoutMasterIdLst>
  <p:sldIdLst>
    <p:sldId id="411" r:id="rId3"/>
    <p:sldId id="653" r:id="rId5"/>
    <p:sldId id="655" r:id="rId6"/>
    <p:sldId id="656" r:id="rId7"/>
    <p:sldId id="657" r:id="rId8"/>
    <p:sldId id="658" r:id="rId9"/>
    <p:sldId id="659" r:id="rId10"/>
    <p:sldId id="660" r:id="rId11"/>
    <p:sldId id="661" r:id="rId12"/>
    <p:sldId id="662" r:id="rId13"/>
    <p:sldId id="663" r:id="rId14"/>
    <p:sldId id="664" r:id="rId15"/>
    <p:sldId id="665" r:id="rId16"/>
    <p:sldId id="666" r:id="rId17"/>
    <p:sldId id="667" r:id="rId18"/>
    <p:sldId id="668" r:id="rId19"/>
    <p:sldId id="669" r:id="rId20"/>
    <p:sldId id="670" r:id="rId21"/>
    <p:sldId id="671" r:id="rId22"/>
    <p:sldId id="672" r:id="rId23"/>
    <p:sldId id="648" r:id="rId24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400" b="0" i="0" u="none" kern="1200" baseline="0">
        <a:solidFill>
          <a:schemeClr val="tx2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400" b="0" i="0" u="none" kern="1200" baseline="0">
        <a:solidFill>
          <a:schemeClr val="tx2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400" b="0" i="0" u="none" kern="1200" baseline="0">
        <a:solidFill>
          <a:schemeClr val="tx2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400" b="0" i="0" u="none" kern="1200" baseline="0">
        <a:solidFill>
          <a:schemeClr val="tx2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400" b="0" i="0" u="none" kern="1200" baseline="0">
        <a:solidFill>
          <a:schemeClr val="tx2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400" b="0" i="0" u="none" kern="1200" baseline="0">
        <a:solidFill>
          <a:schemeClr val="tx2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400" b="0" i="0" u="none" kern="1200" baseline="0">
        <a:solidFill>
          <a:schemeClr val="tx2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400" b="0" i="0" u="none" kern="1200" baseline="0">
        <a:solidFill>
          <a:schemeClr val="tx2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400" b="0" i="0" u="none" kern="1200" baseline="0">
        <a:solidFill>
          <a:schemeClr val="tx2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3333FF"/>
    <a:srgbClr val="FF5050"/>
    <a:srgbClr val="BA2212"/>
    <a:srgbClr val="0809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20000"/>
    <p:restoredTop sz="94660"/>
  </p:normalViewPr>
  <p:slideViewPr>
    <p:cSldViewPr showGuides="1">
      <p:cViewPr varScale="1">
        <p:scale>
          <a:sx n="92" d="100"/>
          <a:sy n="92" d="100"/>
        </p:scale>
        <p:origin x="54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image" Target="../media/image7.png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96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1"/>
              </a:buBlip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1"/>
              </a:buBlip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396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1"/>
              </a:buBlip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1"/>
              </a:buBlip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396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1"/>
              </a:buBlip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1"/>
              </a:buBlip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396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1"/>
              </a:buBlip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1"/>
              </a:buBlip>
              <a:defRPr/>
            </a:pPr>
            <a:fld id="{A3D9E840-E045-444E-8CBB-687BC14AB5D1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>
                <a:solidFill>
                  <a:schemeClr val="tx1"/>
                </a:solidFill>
                <a:latin typeface="Tahoma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solidFill>
                  <a:schemeClr val="tx1"/>
                </a:solidFill>
                <a:latin typeface="Tahoma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9220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81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Click to edit Master text styles</a:t>
            </a:r>
            <a:endParaRPr kumimoji="1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Second level</a:t>
            </a:r>
            <a:endParaRPr kumimoji="1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Third level</a:t>
            </a:r>
            <a:endParaRPr kumimoji="1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Fourth level</a:t>
            </a:r>
            <a:endParaRPr kumimoji="1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Fifth level</a:t>
            </a:r>
            <a:endParaRPr kumimoji="1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81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>
                <a:solidFill>
                  <a:schemeClr val="tx1"/>
                </a:solidFill>
                <a:latin typeface="Tahoma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481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solidFill>
                  <a:schemeClr val="tx1"/>
                </a:solidFill>
                <a:latin typeface="Tahoma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04E2A49-BD8D-4177-A79B-EC51B87E8706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n-US" dirty="0">
                <a:latin typeface="Tahoma" pitchFamily="34" charset="0"/>
              </a:rPr>
            </a:fld>
            <a:endParaRPr lang="en-US" altLang="en-US" dirty="0">
              <a:latin typeface="Tahoma" pitchFamily="34" charset="0"/>
            </a:endParaRPr>
          </a:p>
        </p:txBody>
      </p:sp>
      <p:sp>
        <p:nvSpPr>
          <p:cNvPr id="12291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CA" altLang="en-US" sz="1200" dirty="0">
                <a:solidFill>
                  <a:schemeClr val="tx1"/>
                </a:solidFill>
                <a:latin typeface="Tahoma" pitchFamily="34" charset="0"/>
                <a:ea typeface="MS PGothic" panose="020B0600070205080204" pitchFamily="34" charset="-128"/>
              </a:rPr>
            </a:fld>
            <a:endParaRPr lang="en-CA" altLang="en-US" sz="1200" dirty="0">
              <a:solidFill>
                <a:schemeClr val="tx1"/>
              </a:solidFill>
              <a:latin typeface="Tahoma" pitchFamily="34" charset="0"/>
              <a:ea typeface="MS PGothic" panose="020B0600070205080204" pitchFamily="34" charset="-128"/>
            </a:endParaRPr>
          </a:p>
        </p:txBody>
      </p:sp>
      <p:sp>
        <p:nvSpPr>
          <p:cNvPr id="14339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 bwMode="white">
          <a:xfrm>
            <a:off x="0" y="5970588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-9525" y="6053138"/>
            <a:ext cx="2249488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8" name="Date Placeholder 27"/>
          <p:cNvSpPr>
            <a:spLocks noGrp="1"/>
          </p:cNvSpPr>
          <p:nvPr>
            <p:ph type="dt" sz="half" idx="2"/>
          </p:nvPr>
        </p:nvSpPr>
        <p:spPr>
          <a:xfrm>
            <a:off x="76200" y="6069013"/>
            <a:ext cx="2057400" cy="685800"/>
          </a:xfrm>
          <a:prstGeom prst="rect">
            <a:avLst/>
          </a:prstGeom>
        </p:spPr>
        <p:txBody>
          <a:bodyPr vert="horz" anchor="ctr" anchorCtr="0"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9" name="Footer Placeholder 16"/>
          <p:cNvSpPr>
            <a:spLocks noGrp="1"/>
          </p:cNvSpPr>
          <p:nvPr>
            <p:ph type="ftr" sz="quarter" idx="3"/>
          </p:nvPr>
        </p:nvSpPr>
        <p:spPr>
          <a:xfrm>
            <a:off x="2085975" y="236538"/>
            <a:ext cx="5867400" cy="365125"/>
          </a:xfrm>
          <a:prstGeom prst="rect">
            <a:avLst/>
          </a:prstGeom>
        </p:spPr>
        <p:txBody>
          <a:bodyPr vert="horz" anchor="ctr"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0" name="Slide Number Placeholder 28"/>
          <p:cNvSpPr>
            <a:spLocks noGrp="1"/>
          </p:cNvSpPr>
          <p:nvPr>
            <p:ph type="sldNum" sz="quarter" idx="4"/>
          </p:nvPr>
        </p:nvSpPr>
        <p:spPr>
          <a:xfrm>
            <a:off x="8001000" y="228600"/>
            <a:ext cx="838200" cy="3810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C8D436C-8F72-416B-8FF8-A6C57269CF71}" type="slidenum"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zoom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7DAA5C-A5FF-4323-96E1-AA30544113BF}" type="slidenum"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8" name="Date Placeholder 11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9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0" y="1752600"/>
            <a:ext cx="1295400" cy="7016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Autofit/>
          </a:bodyPr>
          <a:lstStyle>
            <a:lvl1pPr>
              <a:defRPr sz="2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7EDBC9-2CA1-4928-B308-6879E2086258}" type="slidenum"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0" name="Footer Placeholder 13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zoom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5" name="Date Placeholder 7"/>
          <p:cNvSpPr>
            <a:spLocks noGrp="1"/>
          </p:cNvSpPr>
          <p:nvPr>
            <p:ph type="dt" sz="half" idx="1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rtlCol="0" anchor="ctr" anchorCtr="0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B64A596-38C4-4A1A-9A4E-F0A11459935E}" type="slidenum"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Footer Placeholder 11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rtlCol="0" anchor="ctr" anchorCtr="0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11"/>
          <p:cNvSpPr>
            <a:spLocks noGrp="1"/>
          </p:cNvSpPr>
          <p:nvPr>
            <p:ph type="sldNum" sz="quarter" idx="1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ACE422C-41B0-432D-BAE4-5969BA5EAE42}" type="slidenum"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Footer Placeholder 13"/>
          <p:cNvSpPr>
            <a:spLocks noGrp="1"/>
          </p:cNvSpPr>
          <p:nvPr>
            <p:ph type="ftr" sz="quarter" idx="1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3" autoUpdateAnimBg="0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7DAA5C-A5FF-4323-96E1-AA30544113BF}" type="slidenum"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0" y="6248400"/>
            <a:ext cx="533400" cy="3810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A6D27C2-1333-49BC-A461-1C4D5E93FEF2}" type="slidenum"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7DAA5C-A5FF-4323-96E1-AA30544113BF}" type="slidenum"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544638" y="4654550"/>
            <a:ext cx="7599363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>
              <a:buNone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Date Placeholder 11"/>
          <p:cNvSpPr>
            <a:spLocks noGrp="1"/>
          </p:cNvSpPr>
          <p:nvPr>
            <p:ph type="dt" sz="half" idx="12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</p:spPr>
        <p:txBody>
          <a:bodyPr vert="horz" rtlCol="0" anchor="ctr" anchorCtr="0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0" name="Slide Number Placeholder 12"/>
          <p:cNvSpPr>
            <a:spLocks noGrp="1"/>
          </p:cNvSpPr>
          <p:nvPr>
            <p:ph type="sldNum" sz="quarter" idx="4"/>
          </p:nvPr>
        </p:nvSpPr>
        <p:spPr>
          <a:xfrm>
            <a:off x="0" y="4667250"/>
            <a:ext cx="1447800" cy="6635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>
              <a:defRPr sz="28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6989C1-AB91-4E9A-8C9B-D9100C4AF704}" type="slidenum">
              <a:rPr kumimoji="0" lang="en-US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en-US" sz="2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1" name="Footer Placeholder 13"/>
          <p:cNvSpPr>
            <a:spLocks noGrp="1"/>
          </p:cNvSpPr>
          <p:nvPr>
            <p:ph type="ftr" sz="quarter" idx="3"/>
          </p:nvPr>
        </p:nvSpPr>
        <p:spPr>
          <a:xfrm>
            <a:off x="1600200" y="6248400"/>
            <a:ext cx="4572000" cy="365125"/>
          </a:xfrm>
          <a:prstGeom prst="rect">
            <a:avLst/>
          </a:prstGeom>
        </p:spPr>
        <p:txBody>
          <a:bodyPr vert="horz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zoom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7DAA5C-A5FF-4323-96E1-AA30544113BF}" type="slidenum"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6553200" y="6248400"/>
            <a:ext cx="2209800" cy="365125"/>
          </a:xfrm>
          <a:prstGeom prst="rect">
            <a:avLst/>
          </a:prstGeom>
        </p:spPr>
        <p:txBody>
          <a:bodyPr vert="horz" anchor="ctr" anchorCtr="0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248400"/>
            <a:ext cx="5573713" cy="365125"/>
          </a:xfrm>
          <a:prstGeom prst="rect">
            <a:avLst/>
          </a:prstGeom>
        </p:spPr>
        <p:txBody>
          <a:bodyPr vert="horz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"/>
          </p:nvPr>
        </p:nvSpPr>
        <p:spPr>
          <a:xfrm rot="5400000">
            <a:off x="5989638" y="144463"/>
            <a:ext cx="5334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CEE8A8-2B41-4ACE-BB74-5F793FF2A7A7}" type="slidenum"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zoom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775" y="1600200"/>
            <a:ext cx="81534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algn="ctr" eaLnBrk="1" hangingPunct="1">
              <a:defRPr sz="1400" b="1">
                <a:solidFill>
                  <a:srgbClr val="FFFFFF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77DAA5C-A5FF-4323-96E1-AA30544113BF}" type="slidenum"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altLang="en-US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34" name="AutoShape 1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543800" y="6248400"/>
            <a:ext cx="533400" cy="609600"/>
          </a:xfrm>
          <a:prstGeom prst="actionButtonBackPrevious">
            <a:avLst/>
          </a:prstGeom>
          <a:solidFill>
            <a:srgbClr val="B2B2B2">
              <a:alpha val="50195"/>
            </a:srgbClr>
          </a:solidFill>
          <a:ln w="12700">
            <a:solidFill>
              <a:srgbClr val="3333CC"/>
            </a:solidFill>
            <a:miter lim="800000"/>
          </a:ln>
          <a:effectLst>
            <a:outerShdw dist="45791" dir="2021404" algn="ctr" rotWithShape="0">
              <a:srgbClr val="9999FF"/>
            </a:outerShdw>
          </a:effectLst>
        </p:spPr>
        <p:txBody>
          <a:bodyPr wrap="none" anchor="ctr"/>
          <a:lstStyle>
            <a:lvl1pPr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4400" b="0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35" name="AutoShape 1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153400" y="6248400"/>
            <a:ext cx="533400" cy="609600"/>
          </a:xfrm>
          <a:prstGeom prst="actionButtonForwardNext">
            <a:avLst/>
          </a:prstGeom>
          <a:solidFill>
            <a:srgbClr val="B2B2B2">
              <a:alpha val="50195"/>
            </a:srgbClr>
          </a:solidFill>
          <a:ln w="12700">
            <a:solidFill>
              <a:srgbClr val="3333CC"/>
            </a:solidFill>
            <a:miter lim="800000"/>
          </a:ln>
          <a:effectLst>
            <a:outerShdw dist="45791" dir="2021404" algn="ctr" rotWithShape="0">
              <a:srgbClr val="9999FF"/>
            </a:outerShdw>
          </a:effectLst>
        </p:spPr>
        <p:txBody>
          <a:bodyPr wrap="none" anchor="ctr"/>
          <a:lstStyle>
            <a:lvl1pPr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4400" b="0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36" name="Text Box 20"/>
          <p:cNvSpPr txBox="1">
            <a:spLocks noChangeArrowheads="1"/>
          </p:cNvSpPr>
          <p:nvPr/>
        </p:nvSpPr>
        <p:spPr bwMode="auto">
          <a:xfrm>
            <a:off x="228600" y="6172200"/>
            <a:ext cx="609600" cy="336550"/>
          </a:xfrm>
          <a:prstGeom prst="rect">
            <a:avLst/>
          </a:prstGeom>
          <a:noFill/>
          <a:ln>
            <a:noFill/>
          </a:ln>
          <a:effectLst>
            <a:outerShdw dist="45791" dir="2021404" algn="ctr" rotWithShape="0">
              <a:srgbClr val="9999FF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3" autoUpdateAnimBg="0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anose="020B0602020104020603" pitchFamily="34" charset="0"/>
        </a:defRPr>
      </a:lvl9pPr>
    </p:titleStyle>
    <p:bodyStyle>
      <a:lvl1pPr marL="319405" indent="-319405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228600" y="838200"/>
            <a:ext cx="8229600" cy="4648200"/>
          </a:xfrm>
        </p:spPr>
        <p:txBody>
          <a:bodyPr vert="horz" wrap="square" lIns="91440" tIns="45720" rIns="91440" bIns="45720" numCol="1" anchor="ctr" anchorCtr="0" compatLnSpc="1">
            <a:norm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en-US" sz="9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CHAPTER 1 </a:t>
            </a:r>
            <a:r>
              <a:rPr kumimoji="0" lang="en-US" sz="5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Introduction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to Emerging Technologies 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br>
              <a:rPr kumimoji="0" lang="en-US" alt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altLang="en-US" sz="4400" b="1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dobe Garamond Pro" pitchFamily="18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9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303213"/>
            <a:ext cx="7796213" cy="8397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Outline</a:t>
            </a:r>
            <a:endParaRPr kumimoji="0" lang="en-US" altLang="en-US" sz="44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3315" name="Rectangle 5"/>
          <p:cNvSpPr>
            <a:spLocks noGrp="1"/>
          </p:cNvSpPr>
          <p:nvPr>
            <p:ph sz="quarter" idx="1"/>
          </p:nvPr>
        </p:nvSpPr>
        <p:spPr>
          <a:xfrm>
            <a:off x="228600" y="1600200"/>
            <a:ext cx="8599488" cy="5257800"/>
          </a:xfrm>
          <a:ln/>
        </p:spPr>
        <p:txBody>
          <a:bodyPr vert="horz" wrap="square" lIns="91440" tIns="45720" rIns="91440" bIns="45720" anchor="t" anchorCtr="0"/>
          <a:p>
            <a:pPr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Garamond" panose="02020404030301010803" pitchFamily="18" charset="0"/>
              </a:rPr>
              <a:t>Introduction to emerging technologies: evolution of technologies</a:t>
            </a:r>
            <a:endParaRPr lang="en-US" altLang="en-US" sz="2000" dirty="0">
              <a:latin typeface="Garamond" panose="02020404030301010803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Garamond" panose="02020404030301010803" pitchFamily="18" charset="0"/>
              </a:rPr>
              <a:t>Introduction to the industrial revolution (IR) </a:t>
            </a:r>
            <a:endParaRPr lang="en-US" altLang="en-US" sz="2000" dirty="0">
              <a:latin typeface="Garamond" panose="02020404030301010803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Garamond" panose="02020404030301010803" pitchFamily="18" charset="0"/>
              </a:rPr>
              <a:t>The most important inventions of the industrial revolution </a:t>
            </a:r>
            <a:endParaRPr lang="en-US" altLang="en-US" sz="2000" dirty="0">
              <a:latin typeface="Garamond" panose="02020404030301010803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Garamond" panose="02020404030301010803" pitchFamily="18" charset="0"/>
              </a:rPr>
              <a:t>Historical background (IR 1.0, ir 2.0, ir 3.0)</a:t>
            </a:r>
            <a:endParaRPr lang="en-US" altLang="en-US" sz="2000" dirty="0">
              <a:latin typeface="Garamond" panose="02020404030301010803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Garamond" panose="02020404030301010803" pitchFamily="18" charset="0"/>
              </a:rPr>
              <a:t>Role of data for emerging technologies</a:t>
            </a:r>
            <a:endParaRPr lang="en-US" altLang="en-US" sz="2000" dirty="0">
              <a:latin typeface="Garamond" panose="02020404030301010803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Garamond" panose="02020404030301010803" pitchFamily="18" charset="0"/>
              </a:rPr>
              <a:t>Enabling devices and network (programmable devices)</a:t>
            </a:r>
            <a:endParaRPr lang="en-US" altLang="en-US" sz="2000" dirty="0">
              <a:latin typeface="Garamond" panose="02020404030301010803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Garamond" panose="02020404030301010803" pitchFamily="18" charset="0"/>
              </a:rPr>
              <a:t>Human to machine interaction</a:t>
            </a:r>
            <a:endParaRPr lang="en-US" altLang="en-US" sz="2000" dirty="0">
              <a:latin typeface="Garamond" panose="02020404030301010803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Garamond" panose="02020404030301010803" pitchFamily="18" charset="0"/>
              </a:rPr>
              <a:t>Disciplines contributing to human-computer interaction (HCI)</a:t>
            </a:r>
            <a:endParaRPr lang="en-US" altLang="en-US" sz="2000" dirty="0">
              <a:latin typeface="Garamond" panose="02020404030301010803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Garamond" panose="02020404030301010803" pitchFamily="18" charset="0"/>
              </a:rPr>
              <a:t>Future trends in emerging technologies </a:t>
            </a:r>
            <a:endParaRPr lang="en-US" altLang="en-US" sz="2000" dirty="0">
              <a:latin typeface="Garamond" panose="02020404030301010803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Garamond" panose="02020404030301010803" pitchFamily="18" charset="0"/>
              </a:rPr>
              <a:t>Emerging technology trends in 2019</a:t>
            </a:r>
            <a:endParaRPr lang="en-US" altLang="en-US" sz="2000" dirty="0">
              <a:latin typeface="Garamond" panose="02020404030301010803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Garamond" panose="02020404030301010803" pitchFamily="18" charset="0"/>
              </a:rPr>
              <a:t>Some emerging technologies that will shape the future of you and your business.</a:t>
            </a:r>
            <a:endParaRPr lang="en-US" altLang="en-US" sz="2000" dirty="0">
              <a:latin typeface="Garamond" panose="02020404030301010803" pitchFamily="18" charset="0"/>
            </a:endParaRPr>
          </a:p>
          <a:p>
            <a:pPr eaLnBrk="1" hangingPunct="1">
              <a:buFont typeface="Wingdings" panose="05000000000000000000" pitchFamily="2" charset="2"/>
              <a:buChar char="v"/>
            </a:pPr>
            <a:endParaRPr lang="en-US" altLang="en-US" sz="2000" dirty="0">
              <a:latin typeface="Garamond" panose="02020404030301010803" pitchFamily="18" charset="0"/>
            </a:endParaRPr>
          </a:p>
        </p:txBody>
      </p:sp>
      <p:sp>
        <p:nvSpPr>
          <p:cNvPr id="13316" name="Slide Number Placeholder 12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>
              <a:lnSpc>
                <a:spcPct val="80000"/>
              </a:lnSpc>
            </a:pPr>
            <a:fld id="{9A0DB2DC-4C9A-4742-B13C-FB6460FD3503}" type="slidenum">
              <a:rPr lang="en-US" altLang="en-US" sz="1200" b="1" dirty="0">
                <a:solidFill>
                  <a:schemeClr val="tx1"/>
                </a:solidFill>
              </a:rPr>
            </a:fld>
            <a:endParaRPr lang="en-US" altLang="en-US" sz="1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Title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Evolution of Technologies </a:t>
            </a:r>
            <a:endParaRPr kumimoji="0" lang="en-US" altLang="en-US" sz="44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6387" name="Content Placeholder 2"/>
          <p:cNvSpPr>
            <a:spLocks noGrp="1" noChangeArrowheads="1"/>
          </p:cNvSpPr>
          <p:nvPr>
            <p:ph sz="quarter" idx="1"/>
          </p:nvPr>
        </p:nvSpPr>
        <p:spPr>
          <a:xfrm>
            <a:off x="239713" y="1600200"/>
            <a:ext cx="8599488" cy="4953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19405" marR="0" lvl="0" indent="-319405" algn="just" defTabSz="9144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/>
            </a:pPr>
            <a:r>
              <a:rPr kumimoji="0" lang="en-US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Technology</a:t>
            </a: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: 1610s, "discourse or treatise on an art or the arts," from Greek </a:t>
            </a:r>
            <a:r>
              <a:rPr kumimoji="0" lang="en-US" alt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tekhnologia</a:t>
            </a: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"systematic treatment of an art, craft, or technique," originally referring to grammar, from </a:t>
            </a:r>
            <a:r>
              <a:rPr kumimoji="0" lang="en-US" alt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tekhno</a:t>
            </a: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- (see techno-) + -logy. The meaning "science of the mechanical and industrial arts" is first recorded in 1859.</a:t>
            </a:r>
            <a:endParaRPr kumimoji="0" lang="en-US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319405" marR="0" lvl="0" indent="-319405" algn="just" defTabSz="9144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/>
            </a:pPr>
            <a:r>
              <a:rPr kumimoji="0" lang="en-US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Evolution</a:t>
            </a: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: evolution means the process of developing by gradual changes. This noun is from Latin </a:t>
            </a:r>
            <a:r>
              <a:rPr kumimoji="0" lang="en-US" alt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evolutio</a:t>
            </a: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, "an unrolling or opening," combined from the </a:t>
            </a:r>
            <a:r>
              <a:rPr kumimoji="0" lang="en-US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prefix </a:t>
            </a: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e-, "out," plus </a:t>
            </a:r>
            <a:r>
              <a:rPr kumimoji="0" lang="en-US" alt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volvere</a:t>
            </a: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, "to roll.“</a:t>
            </a:r>
            <a:endParaRPr kumimoji="0" lang="en-US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</a:t>
            </a:r>
            <a:br>
              <a:rPr kumimoji="0" lang="en-US" altLang="en-US" sz="2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</a:br>
            <a:endParaRPr kumimoji="0" lang="en-US" altLang="en-US" sz="29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5364" name="Slide Number Placeholder 12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>
              <a:lnSpc>
                <a:spcPct val="80000"/>
              </a:lnSpc>
            </a:pPr>
            <a:fld id="{9A0DB2DC-4C9A-4742-B13C-FB6460FD3503}" type="slidenum">
              <a:rPr lang="en-US" altLang="en-US" sz="1200" b="1" dirty="0">
                <a:solidFill>
                  <a:schemeClr val="tx1"/>
                </a:solidFill>
              </a:rPr>
            </a:fld>
            <a:endParaRPr lang="en-US" altLang="en-US" sz="1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itle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…Cont’d</a:t>
            </a:r>
            <a:endParaRPr kumimoji="0" lang="en-US" altLang="en-US" sz="44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600200"/>
            <a:ext cx="8613775" cy="449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19405" marR="0" lvl="0" indent="-319405" algn="just" defTabSz="9144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Emerging technology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640080" marR="0" lvl="1" indent="-273050" algn="just" defTabSz="914400" rtl="0" eaLnBrk="0" fontAlgn="base" latinLnBrk="0" hangingPunct="0">
              <a:lnSpc>
                <a:spcPct val="100000"/>
              </a:lnSpc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Char char="√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new technology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640080" marR="0" lvl="1" indent="-273050" algn="just" defTabSz="914400" rtl="0" eaLnBrk="0" fontAlgn="base" latinLnBrk="0" hangingPunct="0">
              <a:lnSpc>
                <a:spcPct val="100000"/>
              </a:lnSpc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Char char="√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continuing development of existing technology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640080" marR="0" lvl="1" indent="-273050" algn="just" defTabSz="914400" rtl="0" eaLnBrk="0" fontAlgn="base" latinLnBrk="0" hangingPunct="0">
              <a:lnSpc>
                <a:spcPct val="100000"/>
              </a:lnSpc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Arial" panose="020B0604020202020204" pitchFamily="34" charset="0"/>
              <a:buChar char="√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technologies that are currently developing, or that are expected to be available within the next five to ten years.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319405" marR="0" lvl="0" indent="-319405" algn="just" defTabSz="9144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Technological evolution is a theory of radical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transformation of society through technological development. </a:t>
            </a: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br>
              <a:rPr kumimoji="0" lang="en-US" sz="2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</a:br>
            <a:endParaRPr kumimoji="0" lang="en-US" sz="2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/>
            </a:pPr>
            <a:b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</a:br>
            <a:b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</a:br>
            <a:b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</a:br>
            <a:b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</a:b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16388" name="Slide Number Placeholder 12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>
              <a:lnSpc>
                <a:spcPct val="80000"/>
              </a:lnSpc>
            </a:pPr>
            <a:fld id="{9A0DB2DC-4C9A-4742-B13C-FB6460FD3503}" type="slidenum">
              <a:rPr lang="en-US" altLang="en-US" sz="1200" b="1" dirty="0">
                <a:solidFill>
                  <a:schemeClr val="tx1"/>
                </a:solidFill>
              </a:rPr>
            </a:fld>
            <a:endParaRPr lang="en-US" altLang="en-US" sz="1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Title 1"/>
          <p:cNvSpPr>
            <a:spLocks noGrp="1" noChangeArrowheads="1"/>
          </p:cNvSpPr>
          <p:nvPr>
            <p:ph type="title"/>
          </p:nvPr>
        </p:nvSpPr>
        <p:spPr>
          <a:xfrm>
            <a:off x="228600" y="303213"/>
            <a:ext cx="8305800" cy="9921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List of some currently available emerged Technologies </a:t>
            </a:r>
            <a:endParaRPr kumimoji="0" lang="en-US" altLang="en-US" sz="32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7411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600200"/>
            <a:ext cx="8537575" cy="44958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2400" dirty="0">
                <a:latin typeface="Garamond" panose="02020404030301010803" pitchFamily="18" charset="0"/>
              </a:rPr>
              <a:t>Artificial Intelligence</a:t>
            </a:r>
            <a:endParaRPr lang="en-US" altLang="en-US" sz="2400" dirty="0">
              <a:latin typeface="Garamond" panose="02020404030301010803" pitchFamily="18" charset="0"/>
            </a:endParaRPr>
          </a:p>
          <a:p>
            <a:r>
              <a:rPr lang="en-US" altLang="en-US" sz="2400" dirty="0">
                <a:latin typeface="Garamond" panose="02020404030301010803" pitchFamily="18" charset="0"/>
              </a:rPr>
              <a:t>Block chain</a:t>
            </a:r>
            <a:endParaRPr lang="en-US" altLang="en-US" sz="2400" dirty="0">
              <a:latin typeface="Garamond" panose="02020404030301010803" pitchFamily="18" charset="0"/>
            </a:endParaRPr>
          </a:p>
          <a:p>
            <a:r>
              <a:rPr lang="en-US" altLang="en-US" sz="2400" dirty="0">
                <a:latin typeface="Garamond" panose="02020404030301010803" pitchFamily="18" charset="0"/>
              </a:rPr>
              <a:t>Augmented Reality and Virtual Reality</a:t>
            </a:r>
            <a:endParaRPr lang="en-US" altLang="en-US" sz="2400" dirty="0">
              <a:latin typeface="Garamond" panose="02020404030301010803" pitchFamily="18" charset="0"/>
            </a:endParaRPr>
          </a:p>
          <a:p>
            <a:r>
              <a:rPr lang="en-US" altLang="en-US" sz="2400" dirty="0">
                <a:latin typeface="Garamond" panose="02020404030301010803" pitchFamily="18" charset="0"/>
              </a:rPr>
              <a:t>Cloud Computing</a:t>
            </a:r>
            <a:endParaRPr lang="en-US" altLang="en-US" sz="2400" dirty="0">
              <a:latin typeface="Garamond" panose="02020404030301010803" pitchFamily="18" charset="0"/>
            </a:endParaRPr>
          </a:p>
          <a:p>
            <a:r>
              <a:rPr lang="en-US" altLang="en-US" sz="2400" dirty="0">
                <a:latin typeface="Garamond" panose="02020404030301010803" pitchFamily="18" charset="0"/>
              </a:rPr>
              <a:t>Angular and React</a:t>
            </a:r>
            <a:endParaRPr lang="en-US" altLang="en-US" sz="2400" dirty="0">
              <a:latin typeface="Garamond" panose="02020404030301010803" pitchFamily="18" charset="0"/>
            </a:endParaRPr>
          </a:p>
          <a:p>
            <a:r>
              <a:rPr lang="en-US" altLang="en-US" sz="2400" dirty="0">
                <a:latin typeface="Garamond" panose="02020404030301010803" pitchFamily="18" charset="0"/>
              </a:rPr>
              <a:t>DevOps</a:t>
            </a:r>
            <a:endParaRPr lang="en-US" altLang="en-US" sz="2400" dirty="0">
              <a:latin typeface="Garamond" panose="02020404030301010803" pitchFamily="18" charset="0"/>
            </a:endParaRPr>
          </a:p>
          <a:p>
            <a:r>
              <a:rPr lang="en-US" altLang="en-US" sz="2400" dirty="0">
                <a:latin typeface="Garamond" panose="02020404030301010803" pitchFamily="18" charset="0"/>
              </a:rPr>
              <a:t>Internet of Things (IoT)</a:t>
            </a:r>
            <a:endParaRPr lang="en-US" altLang="en-US" sz="2400" dirty="0">
              <a:latin typeface="Garamond" panose="02020404030301010803" pitchFamily="18" charset="0"/>
            </a:endParaRPr>
          </a:p>
          <a:p>
            <a:r>
              <a:rPr lang="en-US" altLang="en-US" sz="2400" dirty="0">
                <a:latin typeface="Garamond" panose="02020404030301010803" pitchFamily="18" charset="0"/>
              </a:rPr>
              <a:t>Intelligent Apps (I-Apps)</a:t>
            </a:r>
            <a:endParaRPr lang="en-US" altLang="en-US" sz="2400" dirty="0">
              <a:latin typeface="Garamond" panose="02020404030301010803" pitchFamily="18" charset="0"/>
            </a:endParaRPr>
          </a:p>
          <a:p>
            <a:r>
              <a:rPr lang="en-US" altLang="en-US" sz="2400" dirty="0">
                <a:latin typeface="Garamond" panose="02020404030301010803" pitchFamily="18" charset="0"/>
              </a:rPr>
              <a:t>Big Data</a:t>
            </a:r>
            <a:endParaRPr lang="en-US" altLang="en-US" sz="2400" dirty="0">
              <a:latin typeface="Garamond" panose="02020404030301010803" pitchFamily="18" charset="0"/>
            </a:endParaRPr>
          </a:p>
          <a:p>
            <a:r>
              <a:rPr lang="en-US" altLang="en-US" sz="2400" dirty="0">
                <a:latin typeface="Garamond" panose="02020404030301010803" pitchFamily="18" charset="0"/>
              </a:rPr>
              <a:t>Robotic Processor Automation (RPA) </a:t>
            </a:r>
            <a:endParaRPr lang="en-US" altLang="en-US" sz="2400" dirty="0">
              <a:latin typeface="Garamond" panose="02020404030301010803" pitchFamily="18" charset="0"/>
            </a:endParaRPr>
          </a:p>
        </p:txBody>
      </p:sp>
      <p:sp>
        <p:nvSpPr>
          <p:cNvPr id="17412" name="Slide Number Placeholder 12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>
              <a:lnSpc>
                <a:spcPct val="80000"/>
              </a:lnSpc>
            </a:pPr>
            <a:fld id="{9A0DB2DC-4C9A-4742-B13C-FB6460FD3503}" type="slidenum">
              <a:rPr lang="en-US" altLang="en-US" sz="1200" b="1" dirty="0">
                <a:solidFill>
                  <a:schemeClr val="tx1"/>
                </a:solidFill>
              </a:rPr>
            </a:fld>
            <a:endParaRPr lang="en-US" altLang="en-US" sz="1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Title 1"/>
          <p:cNvSpPr>
            <a:spLocks noGrp="1" noChangeArrowheads="1"/>
          </p:cNvSpPr>
          <p:nvPr>
            <p:ph type="title"/>
          </p:nvPr>
        </p:nvSpPr>
        <p:spPr>
          <a:xfrm>
            <a:off x="228600" y="303213"/>
            <a:ext cx="8382000" cy="9921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Introduction to the Industrial Revolution (IR) </a:t>
            </a:r>
            <a:endParaRPr kumimoji="0" lang="en-US" altLang="en-US" sz="32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8435" name="Content Placeholder 2"/>
          <p:cNvSpPr>
            <a:spLocks noGrp="1"/>
          </p:cNvSpPr>
          <p:nvPr>
            <p:ph sz="quarter" idx="1"/>
          </p:nvPr>
        </p:nvSpPr>
        <p:spPr>
          <a:xfrm>
            <a:off x="239713" y="1600200"/>
            <a:ext cx="8751887" cy="4800600"/>
          </a:xfrm>
          <a:ln/>
        </p:spPr>
        <p:txBody>
          <a:bodyPr vert="horz" wrap="square" lIns="91440" tIns="45720" rIns="91440" bIns="45720" anchor="t" anchorCtr="0"/>
          <a:p>
            <a:pPr algn="just"/>
            <a:r>
              <a:rPr lang="en-US" altLang="en-US" sz="2400" dirty="0">
                <a:latin typeface="Garamond" panose="02020404030301010803" pitchFamily="18" charset="0"/>
              </a:rPr>
              <a:t>Industrial Revolution</a:t>
            </a:r>
            <a:endParaRPr lang="en-US" altLang="en-US" sz="2400" dirty="0">
              <a:latin typeface="Garamond" panose="02020404030301010803" pitchFamily="18" charset="0"/>
            </a:endParaRPr>
          </a:p>
          <a:p>
            <a:pPr lvl="1" algn="just"/>
            <a:r>
              <a:rPr lang="en-US" altLang="en-US" sz="2400" i="1" dirty="0">
                <a:solidFill>
                  <a:srgbClr val="7030A0"/>
                </a:solidFill>
                <a:latin typeface="Garamond" panose="02020404030301010803" pitchFamily="18" charset="0"/>
              </a:rPr>
              <a:t>a change from making things by hand to making them in factories.</a:t>
            </a:r>
            <a:endParaRPr lang="en-US" altLang="en-US" sz="2400" i="1" dirty="0">
              <a:solidFill>
                <a:srgbClr val="7030A0"/>
              </a:solidFill>
              <a:latin typeface="Garamond" panose="02020404030301010803" pitchFamily="18" charset="0"/>
            </a:endParaRPr>
          </a:p>
          <a:p>
            <a:pPr algn="just" eaLnBrk="1" hangingPunct="1"/>
            <a:r>
              <a:rPr lang="en-US" altLang="en-US" sz="2400" dirty="0">
                <a:latin typeface="Garamond" panose="02020404030301010803" pitchFamily="18" charset="0"/>
              </a:rPr>
              <a:t>Before the Industrial Revolution, people relied on the horse and their own feet to get around.</a:t>
            </a:r>
            <a:endParaRPr lang="en-US" altLang="en-US" sz="2400" dirty="0">
              <a:latin typeface="Garamond" panose="02020404030301010803" pitchFamily="18" charset="0"/>
            </a:endParaRPr>
          </a:p>
          <a:p>
            <a:pPr algn="just" eaLnBrk="1" hangingPunct="1"/>
            <a:r>
              <a:rPr lang="en-US" altLang="en-US" sz="2400" dirty="0">
                <a:latin typeface="Garamond" panose="02020404030301010803" pitchFamily="18" charset="0"/>
              </a:rPr>
              <a:t>With the invention of the steam locomotive, transportation took a huge step forward.</a:t>
            </a:r>
            <a:endParaRPr lang="en-US" altLang="en-US" sz="2400" dirty="0">
              <a:latin typeface="Garamond" panose="02020404030301010803" pitchFamily="18" charset="0"/>
            </a:endParaRPr>
          </a:p>
          <a:p>
            <a:pPr algn="just" eaLnBrk="1" hangingPunct="1"/>
            <a:r>
              <a:rPr lang="en-US" altLang="en-US" sz="2400" dirty="0">
                <a:latin typeface="Garamond" panose="02020404030301010803" pitchFamily="18" charset="0"/>
              </a:rPr>
              <a:t>The revolution started in England, with a series of</a:t>
            </a:r>
            <a:br>
              <a:rPr lang="en-US" altLang="en-US" sz="2400" dirty="0">
                <a:latin typeface="Garamond" panose="02020404030301010803" pitchFamily="18" charset="0"/>
              </a:rPr>
            </a:br>
            <a:r>
              <a:rPr lang="en-US" altLang="en-US" sz="2400" dirty="0">
                <a:latin typeface="Garamond" panose="02020404030301010803" pitchFamily="18" charset="0"/>
              </a:rPr>
              <a:t>innovations to make labor more efficient and productive. </a:t>
            </a:r>
            <a:endParaRPr lang="en-US" altLang="en-US" sz="2400" dirty="0">
              <a:latin typeface="Garamond" panose="02020404030301010803" pitchFamily="18" charset="0"/>
            </a:endParaRPr>
          </a:p>
          <a:p>
            <a:pPr algn="just" eaLnBrk="1" hangingPunct="1"/>
            <a:r>
              <a:rPr lang="en-US" altLang="en-US" sz="2400" dirty="0">
                <a:latin typeface="Garamond" panose="02020404030301010803" pitchFamily="18" charset="0"/>
              </a:rPr>
              <a:t>This shift brought about changes in culture as people moved from rural areas to big cities in order to work.</a:t>
            </a:r>
            <a:endParaRPr lang="en-US" altLang="en-US" sz="2400" dirty="0">
              <a:latin typeface="Garamond" panose="02020404030301010803" pitchFamily="18" charset="0"/>
            </a:endParaRPr>
          </a:p>
        </p:txBody>
      </p:sp>
      <p:sp>
        <p:nvSpPr>
          <p:cNvPr id="18436" name="Slide Number Placeholder 12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>
              <a:lnSpc>
                <a:spcPct val="80000"/>
              </a:lnSpc>
            </a:pPr>
            <a:fld id="{9A0DB2DC-4C9A-4742-B13C-FB6460FD3503}" type="slidenum">
              <a:rPr lang="en-US" altLang="en-US" sz="1200" b="1" dirty="0">
                <a:solidFill>
                  <a:schemeClr val="tx1"/>
                </a:solidFill>
              </a:rPr>
            </a:fld>
            <a:endParaRPr lang="en-US" altLang="en-US" sz="1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Title 1"/>
          <p:cNvSpPr>
            <a:spLocks noGrp="1" noChangeArrowheads="1"/>
          </p:cNvSpPr>
          <p:nvPr>
            <p:ph type="title"/>
          </p:nvPr>
        </p:nvSpPr>
        <p:spPr>
          <a:xfrm>
            <a:off x="228600" y="303213"/>
            <a:ext cx="8305800" cy="611188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…Cont’d</a:t>
            </a:r>
            <a:endParaRPr kumimoji="0" lang="en-US" altLang="en-US" sz="44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9459" name="Content Placeholder 2"/>
          <p:cNvSpPr>
            <a:spLocks noGrp="1"/>
          </p:cNvSpPr>
          <p:nvPr>
            <p:ph sz="quarter" idx="1"/>
          </p:nvPr>
        </p:nvSpPr>
        <p:spPr>
          <a:xfrm>
            <a:off x="87313" y="1676400"/>
            <a:ext cx="8751887" cy="5029200"/>
          </a:xfrm>
          <a:ln/>
        </p:spPr>
        <p:txBody>
          <a:bodyPr vert="horz" wrap="square" lIns="91440" tIns="45720" rIns="91440" bIns="45720" anchor="t" anchorCtr="0"/>
          <a:p>
            <a:pPr algn="just"/>
            <a:r>
              <a:rPr lang="en-US" altLang="en-US" sz="2400" dirty="0">
                <a:latin typeface="Garamond" panose="02020404030301010803" pitchFamily="18" charset="0"/>
              </a:rPr>
              <a:t>The American Industrial Revolution commonly referred to as the Second Industrial Revolution, started sometime between 1820 and 1870. The impact of changing the way items was manufactured had a wide reach. Industries such as textile manufacturing, mining, glass making, and agriculture all had undergone changes. </a:t>
            </a:r>
            <a:endParaRPr lang="en-US" altLang="en-US" sz="2400" dirty="0">
              <a:latin typeface="Garamond" panose="02020404030301010803" pitchFamily="18" charset="0"/>
            </a:endParaRPr>
          </a:p>
          <a:p>
            <a:r>
              <a:rPr lang="en-US" altLang="en-US" sz="2400" dirty="0">
                <a:latin typeface="Garamond" panose="02020404030301010803" pitchFamily="18" charset="0"/>
              </a:rPr>
              <a:t>The Most Important Inventions of the Industrial Revolution</a:t>
            </a:r>
            <a:endParaRPr lang="en-US" altLang="en-US" sz="2400" dirty="0">
              <a:latin typeface="Garamond" panose="02020404030301010803" pitchFamily="18" charset="0"/>
            </a:endParaRPr>
          </a:p>
          <a:p>
            <a:pPr marL="879475" lvl="2" indent="-285750">
              <a:buFont typeface="Wingdings" panose="05000000000000000000" pitchFamily="2" charset="2"/>
              <a:buChar char="ü"/>
            </a:pPr>
            <a:r>
              <a:rPr lang="en-US" altLang="en-US" sz="2400" b="1" dirty="0">
                <a:latin typeface="Garamond" panose="02020404030301010803" pitchFamily="18" charset="0"/>
              </a:rPr>
              <a:t>Transportation</a:t>
            </a:r>
            <a:r>
              <a:rPr lang="en-US" altLang="en-US" sz="2400" dirty="0">
                <a:latin typeface="Garamond" panose="02020404030301010803" pitchFamily="18" charset="0"/>
              </a:rPr>
              <a:t>: The Steam Engine, The Railroad, The Diesel Engine, The Airplane.</a:t>
            </a:r>
            <a:endParaRPr lang="en-US" altLang="en-US" sz="2400" dirty="0">
              <a:latin typeface="Garamond" panose="02020404030301010803" pitchFamily="18" charset="0"/>
            </a:endParaRPr>
          </a:p>
          <a:p>
            <a:pPr marL="879475" lvl="2" indent="-285750">
              <a:buFont typeface="Wingdings" panose="05000000000000000000" pitchFamily="2" charset="2"/>
              <a:buChar char="ü"/>
            </a:pPr>
            <a:r>
              <a:rPr lang="en-US" altLang="en-US" sz="2400" b="1" dirty="0">
                <a:latin typeface="Garamond" panose="02020404030301010803" pitchFamily="18" charset="0"/>
              </a:rPr>
              <a:t>Communication</a:t>
            </a:r>
            <a:r>
              <a:rPr lang="en-US" altLang="en-US" sz="2400" dirty="0">
                <a:latin typeface="Garamond" panose="02020404030301010803" pitchFamily="18" charset="0"/>
              </a:rPr>
              <a:t>.: The Telegraph. The Transatlantic Cable. The Phonograph. The Telephone.</a:t>
            </a:r>
            <a:endParaRPr lang="en-US" altLang="en-US" sz="2400" dirty="0">
              <a:latin typeface="Garamond" panose="02020404030301010803" pitchFamily="18" charset="0"/>
            </a:endParaRPr>
          </a:p>
          <a:p>
            <a:pPr marL="879475" lvl="2" indent="-285750">
              <a:buFont typeface="Wingdings" panose="05000000000000000000" pitchFamily="2" charset="2"/>
              <a:buChar char="ü"/>
            </a:pPr>
            <a:r>
              <a:rPr lang="en-US" altLang="en-US" sz="2400" dirty="0">
                <a:latin typeface="Garamond" panose="02020404030301010803" pitchFamily="18" charset="0"/>
              </a:rPr>
              <a:t> </a:t>
            </a:r>
            <a:r>
              <a:rPr lang="en-US" altLang="en-US" sz="2400" b="1" dirty="0">
                <a:latin typeface="Garamond" panose="02020404030301010803" pitchFamily="18" charset="0"/>
              </a:rPr>
              <a:t>Industry</a:t>
            </a:r>
            <a:r>
              <a:rPr lang="en-US" altLang="en-US" sz="2400" dirty="0">
                <a:latin typeface="Garamond" panose="02020404030301010803" pitchFamily="18" charset="0"/>
              </a:rPr>
              <a:t>: The Cotton Gin. The Sewing Machine. Electric Lights. </a:t>
            </a:r>
            <a:br>
              <a:rPr lang="en-US" altLang="en-US" sz="1800" dirty="0">
                <a:latin typeface="Garamond" panose="02020404030301010803" pitchFamily="18" charset="0"/>
              </a:rPr>
            </a:br>
            <a:br>
              <a:rPr lang="en-US" altLang="en-US" dirty="0">
                <a:latin typeface="Garamond" panose="02020404030301010803" pitchFamily="18" charset="0"/>
              </a:rPr>
            </a:br>
            <a:endParaRPr lang="en-US" altLang="en-US" dirty="0">
              <a:latin typeface="Garamond" panose="02020404030301010803" pitchFamily="18" charset="0"/>
            </a:endParaRPr>
          </a:p>
        </p:txBody>
      </p:sp>
      <p:sp>
        <p:nvSpPr>
          <p:cNvPr id="19460" name="Slide Number Placeholder 12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>
              <a:lnSpc>
                <a:spcPct val="80000"/>
              </a:lnSpc>
            </a:pPr>
            <a:fld id="{9A0DB2DC-4C9A-4742-B13C-FB6460FD3503}" type="slidenum">
              <a:rPr lang="en-US" altLang="en-US" sz="1200" b="1" dirty="0">
                <a:solidFill>
                  <a:schemeClr val="tx1"/>
                </a:solidFill>
              </a:rPr>
            </a:fld>
            <a:endParaRPr lang="en-US" altLang="en-US" sz="1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Title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…Cont’d</a:t>
            </a:r>
            <a:endParaRPr kumimoji="0" lang="en-US" altLang="en-US" sz="44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0483" name="Content Placeholder 2"/>
          <p:cNvSpPr>
            <a:spLocks noGrp="1"/>
          </p:cNvSpPr>
          <p:nvPr>
            <p:ph sz="quarter" idx="1"/>
          </p:nvPr>
        </p:nvSpPr>
        <p:spPr>
          <a:xfrm>
            <a:off x="76200" y="1600200"/>
            <a:ext cx="8839200" cy="4495800"/>
          </a:xfrm>
          <a:ln/>
        </p:spPr>
        <p:txBody>
          <a:bodyPr vert="horz" wrap="square" lIns="91440" tIns="45720" rIns="91440" bIns="45720" anchor="t" anchorCtr="0"/>
          <a:p>
            <a:pPr algn="just"/>
            <a:r>
              <a:rPr lang="en-US" altLang="en-US" sz="2800" dirty="0">
                <a:latin typeface="Garamond" panose="02020404030301010803" pitchFamily="18" charset="0"/>
              </a:rPr>
              <a:t>Generally, the following industrial revolutions fundamentally changed and transfer the world around us into modern society.</a:t>
            </a:r>
            <a:endParaRPr lang="en-US" altLang="en-US" sz="2800" dirty="0">
              <a:latin typeface="Garamond" panose="02020404030301010803" pitchFamily="18" charset="0"/>
            </a:endParaRPr>
          </a:p>
          <a:p>
            <a:pPr marL="1016000" lvl="2" indent="-342900">
              <a:buFont typeface="Wingdings" panose="05000000000000000000" pitchFamily="2" charset="2"/>
              <a:buChar char="ü"/>
            </a:pPr>
            <a:r>
              <a:rPr lang="en-US" altLang="en-US" sz="2500" dirty="0">
                <a:latin typeface="Garamond" panose="02020404030301010803" pitchFamily="18" charset="0"/>
              </a:rPr>
              <a:t>The steam engine,</a:t>
            </a:r>
            <a:endParaRPr lang="en-US" altLang="en-US" sz="2500" dirty="0">
              <a:latin typeface="Garamond" panose="02020404030301010803" pitchFamily="18" charset="0"/>
            </a:endParaRPr>
          </a:p>
          <a:p>
            <a:pPr marL="1016000" lvl="2" indent="-342900">
              <a:buFont typeface="Wingdings" panose="05000000000000000000" pitchFamily="2" charset="2"/>
              <a:buChar char="ü"/>
            </a:pPr>
            <a:r>
              <a:rPr lang="en-US" altLang="en-US" sz="2500" dirty="0">
                <a:latin typeface="Garamond" panose="02020404030301010803" pitchFamily="18" charset="0"/>
              </a:rPr>
              <a:t> The age of science and mass production, and</a:t>
            </a:r>
            <a:endParaRPr lang="en-US" altLang="en-US" sz="2500" dirty="0">
              <a:latin typeface="Garamond" panose="02020404030301010803" pitchFamily="18" charset="0"/>
            </a:endParaRPr>
          </a:p>
          <a:p>
            <a:pPr marL="1016000" lvl="2" indent="-342900">
              <a:buFont typeface="Wingdings" panose="05000000000000000000" pitchFamily="2" charset="2"/>
              <a:buChar char="ü"/>
            </a:pPr>
            <a:r>
              <a:rPr lang="en-US" altLang="en-US" sz="2500" dirty="0">
                <a:latin typeface="Garamond" panose="02020404030301010803" pitchFamily="18" charset="0"/>
              </a:rPr>
              <a:t> The rise of digital technology</a:t>
            </a:r>
            <a:endParaRPr lang="en-US" altLang="en-US" sz="2500" dirty="0">
              <a:latin typeface="Garamond" panose="02020404030301010803" pitchFamily="18" charset="0"/>
            </a:endParaRPr>
          </a:p>
          <a:p>
            <a:pPr marL="1016000" lvl="2" indent="-342900">
              <a:buFont typeface="Wingdings" panose="05000000000000000000" pitchFamily="2" charset="2"/>
              <a:buChar char="ü"/>
            </a:pPr>
            <a:r>
              <a:rPr lang="en-US" altLang="en-US" sz="2500" dirty="0">
                <a:latin typeface="Garamond" panose="02020404030301010803" pitchFamily="18" charset="0"/>
              </a:rPr>
              <a:t>Smart and autonomous systems fueled by data and machine learning </a:t>
            </a:r>
            <a:br>
              <a:rPr lang="en-US" altLang="en-US" dirty="0">
                <a:solidFill>
                  <a:schemeClr val="bg2"/>
                </a:solidFill>
                <a:latin typeface="Garamond" panose="02020404030301010803" pitchFamily="18" charset="0"/>
              </a:rPr>
            </a:br>
            <a:endParaRPr lang="en-US" altLang="en-US" dirty="0">
              <a:solidFill>
                <a:schemeClr val="bg2"/>
              </a:solidFill>
              <a:latin typeface="Garamond" panose="02020404030301010803" pitchFamily="18" charset="0"/>
            </a:endParaRPr>
          </a:p>
        </p:txBody>
      </p:sp>
      <p:sp>
        <p:nvSpPr>
          <p:cNvPr id="20484" name="Slide Number Placeholder 12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>
              <a:lnSpc>
                <a:spcPct val="80000"/>
              </a:lnSpc>
            </a:pPr>
            <a:fld id="{9A0DB2DC-4C9A-4742-B13C-FB6460FD3503}" type="slidenum">
              <a:rPr lang="en-US" altLang="en-US" sz="1200" b="1" dirty="0">
                <a:solidFill>
                  <a:schemeClr val="tx1"/>
                </a:solidFill>
              </a:rPr>
            </a:fld>
            <a:endParaRPr lang="en-US" altLang="en-US" sz="1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Title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Historical Background </a:t>
            </a:r>
            <a:endParaRPr kumimoji="0" lang="en-US" altLang="en-US" sz="44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1507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600200"/>
            <a:ext cx="8839200" cy="50292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dirty="0">
                <a:latin typeface="Garamond" panose="02020404030301010803" pitchFamily="18" charset="0"/>
              </a:rPr>
              <a:t>began in Great Britain in the late 1770s before spreading to the rest of Europe </a:t>
            </a:r>
            <a:endParaRPr lang="en-US" altLang="en-US" dirty="0">
              <a:latin typeface="Garamond" panose="02020404030301010803" pitchFamily="18" charset="0"/>
            </a:endParaRPr>
          </a:p>
          <a:p>
            <a:r>
              <a:rPr lang="en-US" altLang="en-US" dirty="0">
                <a:latin typeface="Garamond" panose="02020404030301010803" pitchFamily="18" charset="0"/>
              </a:rPr>
              <a:t>The four types of industries are:</a:t>
            </a:r>
            <a:endParaRPr lang="en-US" altLang="en-US" dirty="0">
              <a:latin typeface="Garamond" panose="02020404030301010803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Garamond" panose="02020404030301010803" pitchFamily="18" charset="0"/>
              </a:rPr>
              <a:t>The primary industry </a:t>
            </a:r>
            <a:r>
              <a:rPr lang="en-US" altLang="en-US" dirty="0">
                <a:latin typeface="Garamond" panose="02020404030301010803" pitchFamily="18" charset="0"/>
              </a:rPr>
              <a:t>involves getting raw materials e.g. mining, farming, and fishing.</a:t>
            </a:r>
            <a:endParaRPr lang="en-US" altLang="en-US" dirty="0">
              <a:latin typeface="Garamond" panose="02020404030301010803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Garamond" panose="02020404030301010803" pitchFamily="18" charset="0"/>
              </a:rPr>
              <a:t>The secondary industry </a:t>
            </a:r>
            <a:r>
              <a:rPr lang="en-US" altLang="en-US" dirty="0">
                <a:latin typeface="Garamond" panose="02020404030301010803" pitchFamily="18" charset="0"/>
              </a:rPr>
              <a:t>involves manufacturing e.g. making cars and steel.</a:t>
            </a:r>
            <a:endParaRPr lang="en-US" altLang="en-US" dirty="0">
              <a:latin typeface="Garamond" panose="02020404030301010803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Garamond" panose="02020404030301010803" pitchFamily="18" charset="0"/>
              </a:rPr>
              <a:t>Tertiary industries </a:t>
            </a:r>
            <a:r>
              <a:rPr lang="en-US" altLang="en-US" dirty="0">
                <a:latin typeface="Garamond" panose="02020404030301010803" pitchFamily="18" charset="0"/>
              </a:rPr>
              <a:t>provide a service e.g. teaching and nursing.</a:t>
            </a:r>
            <a:endParaRPr lang="en-US" altLang="en-US" dirty="0">
              <a:latin typeface="Garamond" panose="02020404030301010803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Garamond" panose="02020404030301010803" pitchFamily="18" charset="0"/>
              </a:rPr>
              <a:t>The quaternary industry </a:t>
            </a:r>
            <a:r>
              <a:rPr lang="en-US" altLang="en-US" dirty="0">
                <a:latin typeface="Garamond" panose="02020404030301010803" pitchFamily="18" charset="0"/>
              </a:rPr>
              <a:t>involves research and development industries e.g. IT. </a:t>
            </a:r>
            <a:br>
              <a:rPr lang="en-US" altLang="en-US" dirty="0">
                <a:latin typeface="Garamond" panose="02020404030301010803" pitchFamily="18" charset="0"/>
              </a:rPr>
            </a:br>
            <a:endParaRPr lang="en-US" altLang="en-US" dirty="0">
              <a:latin typeface="Garamond" panose="02020404030301010803" pitchFamily="18" charset="0"/>
            </a:endParaRPr>
          </a:p>
        </p:txBody>
      </p:sp>
      <p:sp>
        <p:nvSpPr>
          <p:cNvPr id="21508" name="Slide Number Placeholder 12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>
              <a:lnSpc>
                <a:spcPct val="80000"/>
              </a:lnSpc>
            </a:pPr>
            <a:fld id="{9A0DB2DC-4C9A-4742-B13C-FB6460FD3503}" type="slidenum">
              <a:rPr lang="en-US" altLang="en-US" sz="1200" b="1" dirty="0">
                <a:solidFill>
                  <a:schemeClr val="tx1"/>
                </a:solidFill>
              </a:rPr>
            </a:fld>
            <a:endParaRPr lang="en-US" altLang="en-US" sz="1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Title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Industrial Revolution</a:t>
            </a:r>
            <a:endParaRPr kumimoji="0" lang="en-US" altLang="en-US" sz="44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2531" name="Content Placeholder 2"/>
          <p:cNvSpPr>
            <a:spLocks noGrp="1"/>
          </p:cNvSpPr>
          <p:nvPr>
            <p:ph sz="quarter" idx="1"/>
          </p:nvPr>
        </p:nvSpPr>
        <p:spPr>
          <a:xfrm>
            <a:off x="239713" y="1600200"/>
            <a:ext cx="8675687" cy="5105400"/>
          </a:xfrm>
          <a:ln/>
        </p:spPr>
        <p:txBody>
          <a:bodyPr vert="horz" wrap="square" lIns="91440" tIns="45720" rIns="91440" bIns="45720" anchor="t" anchorCtr="0"/>
          <a:p>
            <a:pPr algn="just"/>
            <a:r>
              <a:rPr lang="en-US" altLang="en-US" sz="2800" i="1" dirty="0">
                <a:latin typeface="Garamond" panose="02020404030301010803" pitchFamily="18" charset="0"/>
              </a:rPr>
              <a:t>Industrial Revolution (IR 1.0)</a:t>
            </a:r>
            <a:endParaRPr lang="en-US" altLang="en-US" sz="2800" dirty="0">
              <a:latin typeface="Garamond" panose="02020404030301010803" pitchFamily="18" charset="0"/>
            </a:endParaRPr>
          </a:p>
          <a:p>
            <a:pPr lvl="1" algn="just"/>
            <a:r>
              <a:rPr lang="en-US" altLang="en-US" sz="2800" dirty="0">
                <a:latin typeface="Garamond" panose="02020404030301010803" pitchFamily="18" charset="0"/>
              </a:rPr>
              <a:t>first coined in the 1760s, </a:t>
            </a:r>
            <a:endParaRPr lang="en-US" altLang="en-US" sz="2800" dirty="0">
              <a:latin typeface="Garamond" panose="02020404030301010803" pitchFamily="18" charset="0"/>
            </a:endParaRPr>
          </a:p>
          <a:p>
            <a:pPr lvl="1" algn="just"/>
            <a:r>
              <a:rPr lang="en-US" altLang="en-US" sz="2800" dirty="0">
                <a:latin typeface="Garamond" panose="02020404030301010803" pitchFamily="18" charset="0"/>
              </a:rPr>
              <a:t>The transitions in the first IR included going from </a:t>
            </a:r>
            <a:r>
              <a:rPr lang="en-US" altLang="en-US" sz="2800" i="1" dirty="0">
                <a:solidFill>
                  <a:srgbClr val="7030A0"/>
                </a:solidFill>
                <a:latin typeface="Garamond" panose="02020404030301010803" pitchFamily="18" charset="0"/>
              </a:rPr>
              <a:t>hand production methods </a:t>
            </a:r>
            <a:r>
              <a:rPr lang="en-US" altLang="en-US" sz="2800" dirty="0">
                <a:latin typeface="Garamond" panose="02020404030301010803" pitchFamily="18" charset="0"/>
              </a:rPr>
              <a:t>to </a:t>
            </a:r>
            <a:r>
              <a:rPr lang="en-US" altLang="en-US" sz="2800" i="1" dirty="0">
                <a:latin typeface="Garamond" panose="02020404030301010803" pitchFamily="18" charset="0"/>
              </a:rPr>
              <a:t>machines</a:t>
            </a:r>
            <a:r>
              <a:rPr lang="en-US" altLang="en-US" sz="2800" dirty="0">
                <a:latin typeface="Garamond" panose="02020404030301010803" pitchFamily="18" charset="0"/>
              </a:rPr>
              <a:t>, the increasing use of </a:t>
            </a:r>
            <a:r>
              <a:rPr lang="en-US" altLang="en-US" sz="2800" i="1" dirty="0">
                <a:solidFill>
                  <a:srgbClr val="7030A0"/>
                </a:solidFill>
                <a:latin typeface="Garamond" panose="02020404030301010803" pitchFamily="18" charset="0"/>
              </a:rPr>
              <a:t>steam power</a:t>
            </a:r>
            <a:r>
              <a:rPr lang="en-US" altLang="en-US" sz="2800" dirty="0">
                <a:latin typeface="Garamond" panose="02020404030301010803" pitchFamily="18" charset="0"/>
              </a:rPr>
              <a:t> , the development of </a:t>
            </a:r>
            <a:r>
              <a:rPr lang="en-US" altLang="en-US" sz="2800" i="1" dirty="0">
                <a:solidFill>
                  <a:srgbClr val="7030A0"/>
                </a:solidFill>
                <a:latin typeface="Garamond" panose="02020404030301010803" pitchFamily="18" charset="0"/>
              </a:rPr>
              <a:t>machine tools </a:t>
            </a:r>
            <a:r>
              <a:rPr lang="en-US" altLang="en-US" sz="2800" dirty="0">
                <a:latin typeface="Garamond" panose="02020404030301010803" pitchFamily="18" charset="0"/>
              </a:rPr>
              <a:t>and the rise of the </a:t>
            </a:r>
            <a:r>
              <a:rPr lang="en-US" altLang="en-US" sz="2800" i="1" dirty="0">
                <a:solidFill>
                  <a:srgbClr val="7030A0"/>
                </a:solidFill>
                <a:latin typeface="Garamond" panose="02020404030301010803" pitchFamily="18" charset="0"/>
              </a:rPr>
              <a:t>factory system</a:t>
            </a:r>
            <a:r>
              <a:rPr lang="en-US" altLang="en-US" sz="2800" dirty="0">
                <a:latin typeface="Garamond" panose="02020404030301010803" pitchFamily="18" charset="0"/>
              </a:rPr>
              <a:t>. </a:t>
            </a:r>
            <a:endParaRPr lang="en-US" altLang="en-US" sz="2800" i="1" dirty="0">
              <a:latin typeface="Garamond" panose="02020404030301010803" pitchFamily="18" charset="0"/>
            </a:endParaRPr>
          </a:p>
          <a:p>
            <a:endParaRPr lang="en-US" altLang="en-US" sz="3600" dirty="0">
              <a:latin typeface="Garamond" panose="02020404030301010803" pitchFamily="18" charset="0"/>
            </a:endParaRPr>
          </a:p>
        </p:txBody>
      </p:sp>
      <p:sp>
        <p:nvSpPr>
          <p:cNvPr id="22532" name="Slide Number Placeholder 12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>
              <a:lnSpc>
                <a:spcPct val="80000"/>
              </a:lnSpc>
            </a:pPr>
            <a:fld id="{9A0DB2DC-4C9A-4742-B13C-FB6460FD3503}" type="slidenum">
              <a:rPr lang="en-US" altLang="en-US" sz="1200" b="1" dirty="0">
                <a:solidFill>
                  <a:schemeClr val="tx1"/>
                </a:solidFill>
              </a:rPr>
            </a:fld>
            <a:endParaRPr lang="en-US" altLang="en-US" sz="1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Title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Industrial Revolution (IR 2.0) </a:t>
            </a:r>
            <a:endParaRPr kumimoji="0" lang="en-US" altLang="en-US" sz="44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4579" name="Content Placeholder 2"/>
          <p:cNvSpPr>
            <a:spLocks noGrp="1" noChangeArrowheads="1"/>
          </p:cNvSpPr>
          <p:nvPr>
            <p:ph sz="quarter" idx="1"/>
          </p:nvPr>
        </p:nvSpPr>
        <p:spPr>
          <a:xfrm>
            <a:off x="76200" y="1600200"/>
            <a:ext cx="8686800" cy="4800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19405" marR="0" lvl="0" indent="-319405" algn="just" defTabSz="9144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/>
            </a:pP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began somewhere in the 1870s </a:t>
            </a:r>
            <a:endParaRPr kumimoji="0" lang="en-US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319405" marR="0" lvl="0" indent="-319405" algn="just" defTabSz="9144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/>
            </a:pP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also known as the Technological Revolution</a:t>
            </a:r>
            <a:endParaRPr kumimoji="0" lang="en-US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319405" marR="0" lvl="0" indent="-319405" algn="just" defTabSz="9144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/>
            </a:pP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included the development of methods for manufacturing interchangeable parts and widespread adoption of pre-existing technological systems such as </a:t>
            </a:r>
            <a:r>
              <a:rPr kumimoji="0" lang="en-US" altLang="en-US" sz="2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telegraph and railroad networks. </a:t>
            </a:r>
            <a:endParaRPr kumimoji="0" lang="en-US" altLang="en-US" sz="2800" b="0" i="1" u="none" strike="noStrike" kern="1200" cap="none" spc="0" normalizeH="0" baseline="0" noProof="0" dirty="0" smtClean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319405" marR="0" lvl="0" indent="-319405" algn="just" defTabSz="9144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/>
            </a:pPr>
            <a:r>
              <a:rPr kumimoji="0" lang="en-US" altLang="en-US" sz="2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Electrical power </a:t>
            </a: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and </a:t>
            </a:r>
            <a:r>
              <a:rPr kumimoji="0" lang="en-US" altLang="en-US" sz="2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telephone</a:t>
            </a: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system were introduced at this period.</a:t>
            </a:r>
            <a:endParaRPr kumimoji="0" lang="en-US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</a:t>
            </a:r>
            <a:br>
              <a:rPr kumimoji="0" lang="en-US" altLang="en-US" sz="2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</a:br>
            <a:r>
              <a:rPr kumimoji="0" lang="en-US" altLang="en-US" sz="2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</a:t>
            </a:r>
            <a:br>
              <a:rPr kumimoji="0" lang="en-US" altLang="en-US" sz="2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</a:br>
            <a:br>
              <a:rPr kumimoji="0" lang="en-US" altLang="en-US" sz="2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</a:br>
            <a:endParaRPr kumimoji="0" lang="en-US" altLang="en-US" sz="29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3556" name="Slide Number Placeholder 12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>
              <a:lnSpc>
                <a:spcPct val="80000"/>
              </a:lnSpc>
            </a:pPr>
            <a:fld id="{9A0DB2DC-4C9A-4742-B13C-FB6460FD3503}" type="slidenum">
              <a:rPr lang="en-US" altLang="en-US" sz="1200" b="1" dirty="0">
                <a:solidFill>
                  <a:schemeClr val="tx1"/>
                </a:solidFill>
              </a:rPr>
            </a:fld>
            <a:endParaRPr lang="en-US" altLang="en-US" sz="1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Title 1"/>
          <p:cNvSpPr>
            <a:spLocks noGrp="1" noChangeArrowheads="1"/>
          </p:cNvSpPr>
          <p:nvPr>
            <p:ph type="title"/>
          </p:nvPr>
        </p:nvSpPr>
        <p:spPr>
          <a:xfrm>
            <a:off x="244475" y="304800"/>
            <a:ext cx="7796213" cy="8382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br>
              <a:rPr kumimoji="0" lang="en-US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Industrial Revolution (IR 3.0) </a:t>
            </a:r>
            <a:br>
              <a:rPr kumimoji="0" lang="en-US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endParaRPr kumimoji="0" lang="en-US" altLang="en-US" sz="44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5603" name="Content Placeholder 2"/>
          <p:cNvSpPr>
            <a:spLocks noGrp="1" noChangeArrowheads="1"/>
          </p:cNvSpPr>
          <p:nvPr>
            <p:ph sz="quarter" idx="1"/>
          </p:nvPr>
        </p:nvSpPr>
        <p:spPr>
          <a:xfrm>
            <a:off x="239713" y="1600200"/>
            <a:ext cx="8599488" cy="4800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19405" marR="0" lvl="0" indent="-319405" algn="just" defTabSz="9144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/>
            </a:pP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Began from the late 1950s </a:t>
            </a:r>
            <a:endParaRPr kumimoji="0" lang="en-US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319405" marR="0" lvl="0" indent="-319405" algn="just" defTabSz="9144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/>
            </a:pP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Known as Digital Revolution </a:t>
            </a:r>
            <a:endParaRPr kumimoji="0" lang="en-US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319405" marR="0" lvl="0" indent="-319405" algn="just" defTabSz="9144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/>
            </a:pP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introduced the transition from mechanical and analog electronic technology to </a:t>
            </a:r>
            <a:r>
              <a:rPr kumimoji="0" lang="en-US" altLang="en-US" sz="2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digital electronics</a:t>
            </a: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.</a:t>
            </a:r>
            <a:endParaRPr kumimoji="0" lang="en-US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319405" marR="0" lvl="0" indent="-319405" algn="just" defTabSz="9144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/>
            </a:pP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The core factor of this revolution is the mass production and widespread use of digital logic circuits and its derived technologies such as the computer, hand phones and the Internet. </a:t>
            </a:r>
            <a:endParaRPr kumimoji="0" lang="en-US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br>
              <a:rPr kumimoji="0" lang="en-US" altLang="en-US" sz="2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</a:br>
            <a:r>
              <a:rPr kumimoji="0" lang="en-US" altLang="en-US" sz="2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</a:t>
            </a:r>
            <a:br>
              <a:rPr kumimoji="0" lang="en-US" altLang="en-US" sz="2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</a:br>
            <a:endParaRPr kumimoji="0" lang="en-US" altLang="en-US" sz="29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4580" name="Slide Number Placeholder 12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>
              <a:lnSpc>
                <a:spcPct val="80000"/>
              </a:lnSpc>
            </a:pPr>
            <a:fld id="{9A0DB2DC-4C9A-4742-B13C-FB6460FD3503}" type="slidenum">
              <a:rPr lang="en-US" altLang="en-US" sz="1200" b="1" dirty="0">
                <a:solidFill>
                  <a:schemeClr val="tx1"/>
                </a:solidFill>
              </a:rPr>
            </a:fld>
            <a:endParaRPr lang="en-US" altLang="en-US" sz="1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Title 1"/>
          <p:cNvSpPr>
            <a:spLocks noGrp="1" noChangeArrowheads="1"/>
          </p:cNvSpPr>
          <p:nvPr>
            <p:ph type="title"/>
          </p:nvPr>
        </p:nvSpPr>
        <p:spPr>
          <a:xfrm>
            <a:off x="239713" y="228600"/>
            <a:ext cx="8526463" cy="9906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Fourth Industrial Revolution (IR 4.0) </a:t>
            </a:r>
            <a:endParaRPr kumimoji="0" lang="en-US" altLang="en-US" sz="44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5603" name="Content Placeholder 2"/>
          <p:cNvSpPr>
            <a:spLocks noGrp="1"/>
          </p:cNvSpPr>
          <p:nvPr>
            <p:ph sz="quarter" idx="1"/>
          </p:nvPr>
        </p:nvSpPr>
        <p:spPr>
          <a:xfrm>
            <a:off x="239713" y="1600200"/>
            <a:ext cx="8599487" cy="52578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2400" dirty="0">
                <a:latin typeface="Garamond" panose="02020404030301010803" pitchFamily="18" charset="0"/>
              </a:rPr>
              <a:t>We are here now</a:t>
            </a:r>
            <a:endParaRPr lang="en-US" altLang="en-US" sz="2400" dirty="0">
              <a:latin typeface="Garamond" panose="02020404030301010803" pitchFamily="18" charset="0"/>
            </a:endParaRPr>
          </a:p>
          <a:p>
            <a:r>
              <a:rPr lang="en-US" altLang="en-US" sz="2400" dirty="0">
                <a:latin typeface="Garamond" panose="02020404030301010803" pitchFamily="18" charset="0"/>
              </a:rPr>
              <a:t>Characterized by advanced digital system</a:t>
            </a:r>
            <a:endParaRPr lang="en-US" altLang="en-US" sz="2400" dirty="0">
              <a:latin typeface="Garamond" panose="02020404030301010803" pitchFamily="18" charset="0"/>
            </a:endParaRPr>
          </a:p>
          <a:p>
            <a:r>
              <a:rPr lang="en-US" altLang="en-US" sz="2400" dirty="0">
                <a:latin typeface="Garamond" panose="02020404030301010803" pitchFamily="18" charset="0"/>
              </a:rPr>
              <a:t>Technologies like</a:t>
            </a:r>
            <a:endParaRPr lang="en-US" altLang="en-US" sz="2400" dirty="0">
              <a:latin typeface="Garamond" panose="02020404030301010803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i="1" dirty="0">
                <a:latin typeface="Garamond" panose="02020404030301010803" pitchFamily="18" charset="0"/>
              </a:rPr>
              <a:t>Advanced Artificial Intelligence </a:t>
            </a:r>
            <a:endParaRPr lang="en-US" altLang="en-US" sz="2400" i="1" dirty="0">
              <a:latin typeface="Garamond" panose="02020404030301010803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i="1" dirty="0">
                <a:latin typeface="Garamond" panose="02020404030301010803" pitchFamily="18" charset="0"/>
              </a:rPr>
              <a:t>Robotics</a:t>
            </a:r>
            <a:endParaRPr lang="en-US" altLang="en-US" sz="2400" i="1" dirty="0">
              <a:latin typeface="Garamond" panose="02020404030301010803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i="1" dirty="0">
                <a:latin typeface="Garamond" panose="02020404030301010803" pitchFamily="18" charset="0"/>
              </a:rPr>
              <a:t>Internet of Things </a:t>
            </a:r>
            <a:endParaRPr lang="en-US" altLang="en-US" sz="2400" i="1" dirty="0">
              <a:latin typeface="Garamond" panose="02020404030301010803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i="1" dirty="0">
                <a:latin typeface="Garamond" panose="02020404030301010803" pitchFamily="18" charset="0"/>
              </a:rPr>
              <a:t>additive manufacturing and </a:t>
            </a:r>
            <a:endParaRPr lang="en-US" altLang="en-US" sz="2400" i="1" dirty="0">
              <a:latin typeface="Garamond" panose="02020404030301010803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400" i="1" dirty="0">
                <a:latin typeface="Garamond" panose="02020404030301010803" pitchFamily="18" charset="0"/>
              </a:rPr>
              <a:t>autonomous vehicles</a:t>
            </a:r>
            <a:endParaRPr lang="en-US" altLang="en-US" sz="2400" i="1" dirty="0">
              <a:latin typeface="Garamond" panose="02020404030301010803" pitchFamily="18" charset="0"/>
            </a:endParaRPr>
          </a:p>
          <a:p>
            <a:pPr algn="just"/>
            <a:r>
              <a:rPr lang="en-US" altLang="en-US" sz="2400" dirty="0">
                <a:latin typeface="Garamond" panose="02020404030301010803" pitchFamily="18" charset="0"/>
              </a:rPr>
              <a:t>A cyber-physical system is a mechanism that is controlled or monitored by computer-based algorithms, tightly integrated with the Internet and its users.</a:t>
            </a:r>
            <a:endParaRPr lang="en-US" altLang="en-US" sz="2400" dirty="0">
              <a:latin typeface="Garamond" panose="02020404030301010803" pitchFamily="18" charset="0"/>
            </a:endParaRPr>
          </a:p>
        </p:txBody>
      </p:sp>
      <p:sp>
        <p:nvSpPr>
          <p:cNvPr id="25604" name="Slide Number Placeholder 12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>
              <a:lnSpc>
                <a:spcPct val="80000"/>
              </a:lnSpc>
            </a:pPr>
            <a:fld id="{9A0DB2DC-4C9A-4742-B13C-FB6460FD3503}" type="slidenum">
              <a:rPr lang="en-US" altLang="en-US" sz="1200" b="1" dirty="0">
                <a:solidFill>
                  <a:schemeClr val="tx1"/>
                </a:solidFill>
              </a:rPr>
            </a:fld>
            <a:endParaRPr lang="en-US" altLang="en-US" sz="1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Title 1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763000" cy="9906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Role of Data for Emerging Technologies </a:t>
            </a:r>
            <a:endParaRPr kumimoji="0" lang="en-US" altLang="en-US" sz="44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7651" name="Content Placeholder 2"/>
          <p:cNvSpPr>
            <a:spLocks noGrp="1" noChangeArrowheads="1"/>
          </p:cNvSpPr>
          <p:nvPr>
            <p:ph sz="quarter" idx="1"/>
          </p:nvPr>
        </p:nvSpPr>
        <p:spPr>
          <a:xfrm>
            <a:off x="228600" y="1600200"/>
            <a:ext cx="8763000" cy="449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19405" marR="0" lvl="0" indent="-319405" algn="l" defTabSz="9144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/>
            </a:pP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New oil and strategic asset since we are living in the age of big data.</a:t>
            </a:r>
            <a:endParaRPr kumimoji="0" lang="en-US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319405" marR="0" lvl="0" indent="-319405" algn="just" defTabSz="9144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/>
            </a:pP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Drives or even determines the future of science, technology, the economy, and possibly everything in our world today and tomorrow. </a:t>
            </a:r>
            <a:endParaRPr kumimoji="0" lang="en-US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319405" marR="0" lvl="0" indent="-319405" algn="just" defTabSz="9144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/>
            </a:pP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Fields  like data science getting more attention currently.</a:t>
            </a:r>
            <a:endParaRPr kumimoji="0" lang="en-US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319405" marR="0" lvl="0" indent="-319405" algn="just" defTabSz="9144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/>
            </a:pP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Data science involve multiple disciplines such as computing, informatics, statistics, business, social science, and health/medical science.</a:t>
            </a:r>
            <a:endParaRPr kumimoji="0" lang="en-US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en-US" sz="2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</a:t>
            </a:r>
            <a:br>
              <a:rPr kumimoji="0" lang="en-US" altLang="en-US" sz="2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</a:br>
            <a:br>
              <a:rPr kumimoji="0" lang="en-US" altLang="en-US" sz="2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</a:br>
            <a:r>
              <a:rPr kumimoji="0" lang="en-US" altLang="en-US" sz="2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</a:t>
            </a:r>
            <a:br>
              <a:rPr kumimoji="0" lang="en-US" altLang="en-US" sz="2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</a:br>
            <a:br>
              <a:rPr kumimoji="0" lang="en-US" altLang="en-US" sz="2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</a:br>
            <a:endParaRPr kumimoji="0" lang="en-US" altLang="en-US" sz="29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6628" name="Slide Number Placeholder 12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>
              <a:lnSpc>
                <a:spcPct val="80000"/>
              </a:lnSpc>
            </a:pPr>
            <a:fld id="{9A0DB2DC-4C9A-4742-B13C-FB6460FD3503}" type="slidenum">
              <a:rPr lang="en-US" altLang="en-US" sz="1200" b="1" dirty="0">
                <a:solidFill>
                  <a:schemeClr val="tx1"/>
                </a:solidFill>
              </a:rPr>
            </a:fld>
            <a:endParaRPr lang="en-US" altLang="en-US" sz="1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Title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aramond" panose="02020404030301010803" pitchFamily="18" charset="0"/>
                <a:ea typeface="+mj-ea"/>
                <a:cs typeface="+mj-cs"/>
              </a:rPr>
              <a:t>Enabling devices and network (Programmable devices) </a:t>
            </a:r>
            <a:endParaRPr kumimoji="0" lang="en-US" altLang="en-US" sz="44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aramond" panose="02020404030301010803" pitchFamily="18" charset="0"/>
              <a:ea typeface="+mj-ea"/>
              <a:cs typeface="+mj-cs"/>
            </a:endParaRPr>
          </a:p>
        </p:txBody>
      </p:sp>
      <p:sp>
        <p:nvSpPr>
          <p:cNvPr id="28675" name="Content Placeholder 2"/>
          <p:cNvSpPr>
            <a:spLocks noGrp="1" noChangeArrowheads="1"/>
          </p:cNvSpPr>
          <p:nvPr>
            <p:ph sz="quarter" idx="1"/>
          </p:nvPr>
        </p:nvSpPr>
        <p:spPr>
          <a:xfrm>
            <a:off x="152400" y="1600200"/>
            <a:ext cx="8763000" cy="4953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19405" marR="0" lvl="0" indent="-319405" algn="just" defTabSz="9144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/>
            </a:pP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Four basic components in digital system</a:t>
            </a:r>
            <a:endParaRPr kumimoji="0" lang="en-US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1371600" marR="0" lvl="3" indent="-228600" algn="just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anose="05000000000000000000" pitchFamily="2" charset="2"/>
              <a:buChar char=""/>
              <a:defRPr/>
            </a:pP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Memory</a:t>
            </a:r>
            <a:endParaRPr kumimoji="0" lang="en-US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1371600" marR="0" lvl="3" indent="-228600" algn="just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anose="05000000000000000000" pitchFamily="2" charset="2"/>
              <a:buChar char=""/>
              <a:defRPr/>
            </a:pP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Microprocessors</a:t>
            </a:r>
            <a:endParaRPr kumimoji="0" lang="en-US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1371600" marR="0" lvl="3" indent="-228600" algn="just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anose="05000000000000000000" pitchFamily="2" charset="2"/>
              <a:buChar char=""/>
              <a:defRPr/>
            </a:pP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Logic, and </a:t>
            </a:r>
            <a:endParaRPr kumimoji="0" lang="en-US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1371600" marR="0" lvl="3" indent="-228600" algn="just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anose="05000000000000000000" pitchFamily="2" charset="2"/>
              <a:buChar char=""/>
              <a:defRPr/>
            </a:pP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Networks. </a:t>
            </a:r>
            <a:endParaRPr kumimoji="0" lang="en-US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319405" marR="0" lvl="0" indent="-319405" algn="just" defTabSz="9144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/>
            </a:pP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Memory devices </a:t>
            </a:r>
            <a:r>
              <a:rPr kumimoji="0" lang="en-US" altLang="en-US" sz="2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store</a:t>
            </a: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random information such as the contents of currently running programs.</a:t>
            </a:r>
            <a:endParaRPr kumimoji="0" lang="en-US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319405" marR="0" lvl="0" indent="-319405" algn="just" defTabSz="9144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/>
            </a:pP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Microprocessors </a:t>
            </a:r>
            <a:r>
              <a:rPr kumimoji="0" lang="en-US" altLang="en-US" sz="2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execute</a:t>
            </a: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software instructions to perform a wide variety of tasks such as running system or application software's. </a:t>
            </a:r>
            <a:endParaRPr kumimoji="0" lang="en-US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br>
              <a:rPr kumimoji="0" lang="en-US" altLang="en-US" sz="2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</a:br>
            <a:r>
              <a:rPr kumimoji="0" lang="en-US" altLang="en-US" sz="2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</a:t>
            </a:r>
            <a:br>
              <a:rPr kumimoji="0" lang="en-US" altLang="en-US" sz="2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</a:br>
            <a:endParaRPr kumimoji="0" lang="en-US" altLang="en-US" sz="29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319405" marR="0" lvl="0" indent="-319405" algn="l" defTabSz="9144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/>
            </a:pPr>
            <a:endParaRPr kumimoji="0" lang="en-US" altLang="en-US" sz="29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7652" name="Slide Number Placeholder 12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>
              <a:lnSpc>
                <a:spcPct val="80000"/>
              </a:lnSpc>
            </a:pPr>
            <a:fld id="{9A0DB2DC-4C9A-4742-B13C-FB6460FD3503}" type="slidenum">
              <a:rPr lang="en-US" altLang="en-US" sz="1200" b="1" dirty="0">
                <a:solidFill>
                  <a:schemeClr val="tx1"/>
                </a:solidFill>
              </a:rPr>
            </a:fld>
            <a:endParaRPr lang="en-US" altLang="en-US" sz="1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Title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…Cont’d</a:t>
            </a:r>
            <a:endParaRPr kumimoji="0" lang="en-US" altLang="en-US" sz="44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8675" name="Content Placeholder 2"/>
          <p:cNvSpPr>
            <a:spLocks noGrp="1" noChangeArrowheads="1"/>
          </p:cNvSpPr>
          <p:nvPr>
            <p:ph sz="quarter" idx="1"/>
          </p:nvPr>
        </p:nvSpPr>
        <p:spPr>
          <a:xfrm>
            <a:off x="239713" y="1600200"/>
            <a:ext cx="8599488" cy="4953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19405" marR="0" lvl="0" indent="-319405" algn="just" defTabSz="9144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/>
            </a:pP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Logic devices provide </a:t>
            </a:r>
            <a:r>
              <a:rPr kumimoji="0" lang="en-US" altLang="en-US" sz="2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specific functions</a:t>
            </a: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, including device-to-device interfacing, data communication, signal processing, data display, timing and control operations, and almost every other function a system must perform. </a:t>
            </a:r>
            <a:endParaRPr kumimoji="0" lang="en-US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319405" marR="0" lvl="0" indent="-319405" algn="l" defTabSz="9144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ell MT" panose="02020503060305020303" pitchFamily="18" charset="0"/>
                <a:ea typeface="+mn-ea"/>
                <a:cs typeface="+mn-cs"/>
              </a:rPr>
              <a:t>Logic devices are categorized into two.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ell MT" panose="02020503060305020303" pitchFamily="18" charset="0"/>
              <a:ea typeface="+mn-ea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+mj-lt"/>
              <a:buAutoNum type="arabicPeriod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ell MT" panose="02020503060305020303" pitchFamily="18" charset="0"/>
                <a:ea typeface="+mn-ea"/>
                <a:cs typeface="+mn-cs"/>
              </a:rPr>
              <a:t> Fixed logic device: the circuit in FLD is permanent.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ell MT" panose="02020503060305020303" pitchFamily="18" charset="0"/>
              <a:ea typeface="+mn-ea"/>
              <a:cs typeface="+mn-cs"/>
            </a:endParaRPr>
          </a:p>
          <a:p>
            <a:pPr marL="914400" marR="0" lvl="2" indent="-228600" algn="l" defTabSz="914400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ell MT" panose="02020503060305020303" pitchFamily="18" charset="0"/>
                <a:ea typeface="+mn-ea"/>
                <a:cs typeface="+mn-cs"/>
              </a:rPr>
              <a:t>Perform only one function.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ell MT" panose="02020503060305020303" pitchFamily="18" charset="0"/>
              <a:ea typeface="+mn-ea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+mj-lt"/>
              <a:buAutoNum type="arabicPeriod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ell MT" panose="02020503060305020303" pitchFamily="18" charset="0"/>
                <a:ea typeface="+mn-ea"/>
                <a:cs typeface="+mn-cs"/>
              </a:rPr>
              <a:t>Programmable logic device :used to build reconfigurable circuits. 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ell MT" panose="02020503060305020303" pitchFamily="18" charset="0"/>
              <a:ea typeface="+mn-ea"/>
              <a:cs typeface="+mn-cs"/>
            </a:endParaRPr>
          </a:p>
          <a:p>
            <a:pPr marL="914400" marR="0" lvl="2" indent="-228600" algn="l" defTabSz="914400" rtl="0" eaLnBrk="0" fontAlgn="base" latinLnBrk="0" hangingPunct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ell MT" panose="02020503060305020303" pitchFamily="18" charset="0"/>
                <a:ea typeface="+mn-ea"/>
                <a:cs typeface="+mn-cs"/>
              </a:rPr>
              <a:t>These device can be changed at any time to perform any number of function.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ell MT" panose="02020503060305020303" pitchFamily="18" charset="0"/>
              <a:ea typeface="+mn-ea"/>
              <a:cs typeface="+mn-cs"/>
            </a:endParaRPr>
          </a:p>
          <a:p>
            <a:pPr marL="319405" marR="0" lvl="0" indent="-319405" algn="just" defTabSz="9144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/>
            </a:pPr>
            <a:endParaRPr kumimoji="0" lang="en-US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8676" name="Slide Number Placeholder 12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>
              <a:lnSpc>
                <a:spcPct val="80000"/>
              </a:lnSpc>
            </a:pPr>
            <a:fld id="{9A0DB2DC-4C9A-4742-B13C-FB6460FD3503}" type="slidenum">
              <a:rPr lang="en-US" altLang="en-US" sz="1200" b="1" dirty="0">
                <a:solidFill>
                  <a:schemeClr val="tx1"/>
                </a:solidFill>
              </a:rPr>
            </a:fld>
            <a:endParaRPr lang="en-US" altLang="en-US" sz="1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Title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…Cont’d</a:t>
            </a:r>
            <a:endParaRPr kumimoji="0" lang="en-US" altLang="en-US" sz="44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0723" name="Content Placeholder 2"/>
          <p:cNvSpPr>
            <a:spLocks noGrp="1" noChangeArrowheads="1"/>
          </p:cNvSpPr>
          <p:nvPr>
            <p:ph sz="quarter" idx="1"/>
          </p:nvPr>
        </p:nvSpPr>
        <p:spPr>
          <a:xfrm>
            <a:off x="239713" y="1600200"/>
            <a:ext cx="8675688" cy="50133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19405" marR="0" lvl="0" indent="-319405" algn="just" defTabSz="9144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/>
            </a:pP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The network is a </a:t>
            </a:r>
            <a:r>
              <a:rPr kumimoji="0" lang="en-US" altLang="en-US" sz="2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collection</a:t>
            </a: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of computers, servers, mainframes, network devices, peripherals, or other devices connected to one another to allow the sharing of data. </a:t>
            </a:r>
            <a:endParaRPr kumimoji="0" lang="en-US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319405" marR="0" lvl="0" indent="-319405" algn="just" defTabSz="9144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/>
            </a:pPr>
            <a:endParaRPr kumimoji="0" lang="en-US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319405" marR="0" lvl="0" indent="-319405" algn="just" defTabSz="9144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/>
            </a:pP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An excellent example of a network is the </a:t>
            </a:r>
            <a:r>
              <a:rPr kumimoji="0" lang="en-US" altLang="en-US" sz="2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Internet</a:t>
            </a: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, which connects millions of people all over the world. </a:t>
            </a:r>
            <a:b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</a:br>
            <a:endParaRPr kumimoji="0" lang="en-US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 </a:t>
            </a:r>
            <a:br>
              <a:rPr kumimoji="0" lang="en-US" altLang="en-US" sz="2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</a:br>
            <a:endParaRPr kumimoji="0" lang="en-US" altLang="en-US" sz="29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9700" name="Slide Number Placeholder 3"/>
          <p:cNvSpPr txBox="1">
            <a:spLocks noGrp="1"/>
          </p:cNvSpPr>
          <p:nvPr>
            <p:ph type="sldNum" sz="quarter" idx="12"/>
          </p:nvPr>
        </p:nvSpPr>
        <p:spPr>
          <a:xfrm>
            <a:off x="6096000" y="6248400"/>
            <a:ext cx="2667000" cy="365125"/>
          </a:xfrm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eaLnBrk="1" hangingPunct="1"/>
            <a:r>
              <a:rPr lang="en-US" altLang="en-US" sz="1400" dirty="0">
                <a:solidFill>
                  <a:srgbClr val="990033"/>
                </a:solidFill>
                <a:ea typeface="MS PGothic" panose="020B0600070205080204" pitchFamily="34" charset="-128"/>
              </a:rPr>
              <a:t>Slide 1- </a:t>
            </a:r>
            <a:fld id="{9A0DB2DC-4C9A-4742-B13C-FB6460FD3503}" type="slidenum">
              <a:rPr lang="en-US" altLang="en-US" sz="1400" dirty="0">
                <a:solidFill>
                  <a:srgbClr val="990033"/>
                </a:solidFill>
                <a:ea typeface="MS PGothic" panose="020B0600070205080204" pitchFamily="34" charset="-128"/>
              </a:rPr>
            </a:fld>
            <a:endParaRPr lang="en-US" altLang="en-US" sz="1400" dirty="0">
              <a:solidFill>
                <a:srgbClr val="990033"/>
              </a:solidFill>
              <a:ea typeface="MS PGothic" panose="020B0600070205080204" pitchFamily="34" charset="-128"/>
            </a:endParaRPr>
          </a:p>
        </p:txBody>
      </p:sp>
      <p:sp>
        <p:nvSpPr>
          <p:cNvPr id="29701" name="Slide Number Placeholder 12"/>
          <p:cNvSpPr txBox="1">
            <a:spLocks noGrp="1"/>
          </p:cNvSpPr>
          <p:nvPr/>
        </p:nvSpPr>
        <p:spPr>
          <a:xfrm>
            <a:off x="0" y="1271588"/>
            <a:ext cx="533400" cy="2444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1" hangingPunct="1">
              <a:lnSpc>
                <a:spcPct val="80000"/>
              </a:lnSpc>
            </a:pPr>
            <a:fld id="{9A0DB2DC-4C9A-4742-B13C-FB6460FD3503}" type="slidenum">
              <a:rPr lang="en-US" altLang="en-US" sz="1200" b="1" dirty="0">
                <a:solidFill>
                  <a:schemeClr val="tx1"/>
                </a:solidFill>
                <a:latin typeface="Arial" panose="020B0604020202020204" pitchFamily="34" charset="0"/>
              </a:rPr>
            </a:fld>
            <a:endParaRPr lang="en-US" altLang="en-US" sz="12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Title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Human to Machine Interaction </a:t>
            </a:r>
            <a:endParaRPr kumimoji="0" lang="en-US" altLang="en-US" sz="44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0723" name="Content Placeholder 2"/>
          <p:cNvSpPr>
            <a:spLocks noGrp="1"/>
          </p:cNvSpPr>
          <p:nvPr>
            <p:ph sz="quarter" idx="1"/>
          </p:nvPr>
        </p:nvSpPr>
        <p:spPr>
          <a:xfrm>
            <a:off x="239713" y="1600200"/>
            <a:ext cx="8751887" cy="5257800"/>
          </a:xfrm>
          <a:ln/>
        </p:spPr>
        <p:txBody>
          <a:bodyPr vert="horz" wrap="square" lIns="91440" tIns="45720" rIns="91440" bIns="45720" anchor="t" anchorCtr="0"/>
          <a:p>
            <a:pPr algn="just"/>
            <a:r>
              <a:rPr lang="en-US" altLang="en-US" sz="2800" dirty="0">
                <a:latin typeface="Garamond" panose="02020404030301010803" pitchFamily="18" charset="0"/>
              </a:rPr>
              <a:t>Human-machine interaction (HMI) refers to the communication and interaction between a human and a machine via </a:t>
            </a:r>
            <a:r>
              <a:rPr lang="en-US" altLang="en-US" sz="2800" i="1" dirty="0">
                <a:solidFill>
                  <a:srgbClr val="7030A0"/>
                </a:solidFill>
                <a:latin typeface="Garamond" panose="02020404030301010803" pitchFamily="18" charset="0"/>
              </a:rPr>
              <a:t>a user interface.</a:t>
            </a:r>
            <a:endParaRPr lang="en-US" altLang="en-US" sz="2800" i="1" dirty="0">
              <a:solidFill>
                <a:srgbClr val="7030A0"/>
              </a:solidFill>
              <a:latin typeface="Garamond" panose="02020404030301010803" pitchFamily="18" charset="0"/>
            </a:endParaRPr>
          </a:p>
          <a:p>
            <a:pPr algn="just"/>
            <a:r>
              <a:rPr lang="en-US" altLang="en-US" sz="2800" dirty="0">
                <a:latin typeface="Garamond" panose="02020404030301010803" pitchFamily="18" charset="0"/>
              </a:rPr>
              <a:t>Human can interact with machine using the following ways</a:t>
            </a:r>
            <a:endParaRPr lang="en-US" altLang="en-US" sz="2800" dirty="0">
              <a:latin typeface="Garamond" panose="02020404030301010803" pitchFamily="18" charset="0"/>
            </a:endParaRPr>
          </a:p>
          <a:p>
            <a:pPr lvl="4" algn="just">
              <a:buFont typeface="Wingdings" panose="05000000000000000000" pitchFamily="2" charset="2"/>
              <a:buChar char=""/>
            </a:pPr>
            <a:r>
              <a:rPr lang="en-US" altLang="en-US" sz="2400" i="1" dirty="0">
                <a:solidFill>
                  <a:srgbClr val="7030A0"/>
                </a:solidFill>
                <a:latin typeface="Garamond" panose="02020404030301010803" pitchFamily="18" charset="0"/>
              </a:rPr>
              <a:t>Natural language(text to speech or speech to text) </a:t>
            </a:r>
            <a:endParaRPr lang="en-US" altLang="en-US" sz="2400" i="1" dirty="0">
              <a:solidFill>
                <a:srgbClr val="7030A0"/>
              </a:solidFill>
              <a:latin typeface="Garamond" panose="02020404030301010803" pitchFamily="18" charset="0"/>
            </a:endParaRPr>
          </a:p>
          <a:p>
            <a:pPr lvl="4" algn="just">
              <a:buFont typeface="Wingdings" panose="05000000000000000000" pitchFamily="2" charset="2"/>
              <a:buChar char=""/>
            </a:pPr>
            <a:r>
              <a:rPr lang="en-US" altLang="en-US" sz="2400" i="1" dirty="0">
                <a:solidFill>
                  <a:srgbClr val="7030A0"/>
                </a:solidFill>
                <a:latin typeface="Garamond" panose="02020404030301010803" pitchFamily="18" charset="0"/>
              </a:rPr>
              <a:t>Graphical user interface(menu, form and web based interface)</a:t>
            </a:r>
            <a:endParaRPr lang="en-US" altLang="en-US" sz="2400" i="1" dirty="0">
              <a:solidFill>
                <a:srgbClr val="7030A0"/>
              </a:solidFill>
              <a:latin typeface="Garamond" panose="02020404030301010803" pitchFamily="18" charset="0"/>
            </a:endParaRPr>
          </a:p>
          <a:p>
            <a:pPr lvl="4" algn="just">
              <a:buFont typeface="Wingdings" panose="05000000000000000000" pitchFamily="2" charset="2"/>
              <a:buChar char=""/>
            </a:pPr>
            <a:r>
              <a:rPr lang="en-US" altLang="en-US" sz="2400" i="1" dirty="0">
                <a:solidFill>
                  <a:srgbClr val="7030A0"/>
                </a:solidFill>
                <a:latin typeface="Garamond" panose="02020404030301010803" pitchFamily="18" charset="0"/>
              </a:rPr>
              <a:t>Command line interface and others</a:t>
            </a:r>
            <a:endParaRPr lang="en-US" altLang="en-US" sz="2400" i="1" dirty="0">
              <a:solidFill>
                <a:srgbClr val="7030A0"/>
              </a:solidFill>
              <a:latin typeface="Garamond" panose="02020404030301010803" pitchFamily="18" charset="0"/>
            </a:endParaRPr>
          </a:p>
          <a:p>
            <a:pPr algn="just"/>
            <a:r>
              <a:rPr lang="en-US" altLang="en-US" sz="2800" dirty="0">
                <a:latin typeface="Garamond" panose="02020404030301010803" pitchFamily="18" charset="0"/>
              </a:rPr>
              <a:t>HCI (human-computer interaction) is the study of how people interact with computers and to what extent computers are or are not developed for successful interaction with human beings. </a:t>
            </a:r>
            <a:endParaRPr lang="en-US" altLang="en-US" sz="2800" dirty="0">
              <a:latin typeface="Garamond" panose="02020404030301010803" pitchFamily="18" charset="0"/>
            </a:endParaRPr>
          </a:p>
        </p:txBody>
      </p:sp>
      <p:sp>
        <p:nvSpPr>
          <p:cNvPr id="30724" name="Slide Number Placeholder 12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>
              <a:lnSpc>
                <a:spcPct val="80000"/>
              </a:lnSpc>
            </a:pPr>
            <a:fld id="{9A0DB2DC-4C9A-4742-B13C-FB6460FD3503}" type="slidenum">
              <a:rPr lang="en-US" altLang="en-US" sz="1200" b="1" dirty="0">
                <a:solidFill>
                  <a:schemeClr val="tx1"/>
                </a:solidFill>
              </a:rPr>
            </a:fld>
            <a:endParaRPr lang="en-US" altLang="en-US" sz="1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Title 1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106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Future Trends in Emerging Technologies</a:t>
            </a:r>
            <a:endParaRPr kumimoji="0" lang="en-US" altLang="en-US" sz="44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1747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600200"/>
            <a:ext cx="8839200" cy="4953000"/>
          </a:xfrm>
          <a:ln/>
        </p:spPr>
        <p:txBody>
          <a:bodyPr vert="horz" wrap="square" lIns="91440" tIns="45720" rIns="91440" bIns="45720" anchor="t" anchorCtr="0"/>
          <a:p>
            <a:pPr>
              <a:buFont typeface="Wingdings" panose="05000000000000000000" pitchFamily="2" charset="2"/>
              <a:buChar char="v"/>
            </a:pPr>
            <a:r>
              <a:rPr lang="en-US" altLang="en-US" sz="2800" dirty="0">
                <a:latin typeface="Garamond" panose="02020404030301010803" pitchFamily="18" charset="0"/>
              </a:rPr>
              <a:t>Emerging technology trends in 2019 </a:t>
            </a:r>
            <a:endParaRPr lang="en-US" altLang="en-US" sz="2800" dirty="0">
              <a:latin typeface="Garamond" panose="02020404030301010803" pitchFamily="18" charset="0"/>
            </a:endParaRPr>
          </a:p>
          <a:p>
            <a:pPr lvl="1"/>
            <a:r>
              <a:rPr lang="en-US" altLang="en-US" sz="2800" dirty="0">
                <a:latin typeface="Garamond" panose="02020404030301010803" pitchFamily="18" charset="0"/>
              </a:rPr>
              <a:t>5G Networks</a:t>
            </a:r>
            <a:endParaRPr lang="en-US" altLang="en-US" sz="2800" dirty="0">
              <a:latin typeface="Garamond" panose="02020404030301010803" pitchFamily="18" charset="0"/>
            </a:endParaRPr>
          </a:p>
          <a:p>
            <a:pPr lvl="1"/>
            <a:r>
              <a:rPr lang="en-US" altLang="en-US" sz="2800" dirty="0">
                <a:latin typeface="Garamond" panose="02020404030301010803" pitchFamily="18" charset="0"/>
              </a:rPr>
              <a:t>Artificial Intelligence (AI)</a:t>
            </a:r>
            <a:endParaRPr lang="en-US" altLang="en-US" sz="2800" dirty="0">
              <a:latin typeface="Garamond" panose="02020404030301010803" pitchFamily="18" charset="0"/>
            </a:endParaRPr>
          </a:p>
          <a:p>
            <a:pPr lvl="1"/>
            <a:r>
              <a:rPr lang="en-US" altLang="en-US" sz="2800" dirty="0">
                <a:latin typeface="Garamond" panose="02020404030301010803" pitchFamily="18" charset="0"/>
              </a:rPr>
              <a:t>Autonomous Devices</a:t>
            </a:r>
            <a:endParaRPr lang="en-US" altLang="en-US" sz="2800" dirty="0">
              <a:latin typeface="Garamond" panose="02020404030301010803" pitchFamily="18" charset="0"/>
            </a:endParaRPr>
          </a:p>
          <a:p>
            <a:pPr lvl="1"/>
            <a:r>
              <a:rPr lang="en-US" altLang="en-US" sz="2800" dirty="0">
                <a:latin typeface="Garamond" panose="02020404030301010803" pitchFamily="18" charset="0"/>
              </a:rPr>
              <a:t>Block chain</a:t>
            </a:r>
            <a:endParaRPr lang="en-US" altLang="en-US" sz="2800" dirty="0">
              <a:latin typeface="Garamond" panose="02020404030301010803" pitchFamily="18" charset="0"/>
            </a:endParaRPr>
          </a:p>
          <a:p>
            <a:pPr lvl="1"/>
            <a:r>
              <a:rPr lang="en-US" altLang="en-US" sz="2800" dirty="0">
                <a:latin typeface="Garamond" panose="02020404030301010803" pitchFamily="18" charset="0"/>
              </a:rPr>
              <a:t>Augmented Analytics</a:t>
            </a:r>
            <a:endParaRPr lang="en-US" altLang="en-US" sz="2800" dirty="0">
              <a:latin typeface="Garamond" panose="02020404030301010803" pitchFamily="18" charset="0"/>
            </a:endParaRPr>
          </a:p>
          <a:p>
            <a:pPr lvl="1"/>
            <a:r>
              <a:rPr lang="en-US" altLang="en-US" sz="2800" dirty="0">
                <a:latin typeface="Garamond" panose="02020404030301010803" pitchFamily="18" charset="0"/>
              </a:rPr>
              <a:t>Digital Twins: </a:t>
            </a:r>
            <a:r>
              <a:rPr lang="en-US" altLang="en-US" sz="2000" i="1" dirty="0">
                <a:latin typeface="Garamond" panose="02020404030301010803" pitchFamily="18" charset="0"/>
              </a:rPr>
              <a:t>(virtual real time replica of physical object</a:t>
            </a:r>
            <a:r>
              <a:rPr lang="en-US" altLang="en-US" sz="2000" dirty="0">
                <a:latin typeface="Garamond" panose="02020404030301010803" pitchFamily="18" charset="0"/>
              </a:rPr>
              <a:t>)</a:t>
            </a:r>
            <a:endParaRPr lang="en-US" altLang="en-US" sz="2000" dirty="0">
              <a:latin typeface="Garamond" panose="02020404030301010803" pitchFamily="18" charset="0"/>
            </a:endParaRPr>
          </a:p>
          <a:p>
            <a:pPr lvl="1"/>
            <a:r>
              <a:rPr lang="en-US" altLang="en-US" sz="2800" dirty="0">
                <a:latin typeface="Garamond" panose="02020404030301010803" pitchFamily="18" charset="0"/>
              </a:rPr>
              <a:t>Enhanced Edge Computing </a:t>
            </a:r>
            <a:r>
              <a:rPr lang="en-US" altLang="en-US" sz="2000" i="1" dirty="0">
                <a:latin typeface="Garamond" panose="02020404030301010803" pitchFamily="18" charset="0"/>
              </a:rPr>
              <a:t>(</a:t>
            </a:r>
            <a:r>
              <a:rPr sz="2000" i="1" dirty="0">
                <a:latin typeface="Garamond" panose="02020404030301010803" pitchFamily="18" charset="0"/>
              </a:rPr>
              <a:t>Processing data near its source</a:t>
            </a:r>
            <a:r>
              <a:rPr lang="en-US" altLang="en-US" sz="2000" i="1" dirty="0">
                <a:latin typeface="Garamond" panose="02020404030301010803" pitchFamily="18" charset="0"/>
              </a:rPr>
              <a:t>)</a:t>
            </a:r>
            <a:r>
              <a:rPr lang="en-US" altLang="en-US" sz="2800" dirty="0">
                <a:latin typeface="Garamond" panose="02020404030301010803" pitchFamily="18" charset="0"/>
              </a:rPr>
              <a:t> and</a:t>
            </a:r>
            <a:endParaRPr lang="en-US" altLang="en-US" sz="2800" dirty="0">
              <a:latin typeface="Garamond" panose="02020404030301010803" pitchFamily="18" charset="0"/>
            </a:endParaRPr>
          </a:p>
          <a:p>
            <a:pPr lvl="1"/>
            <a:r>
              <a:rPr lang="en-US" altLang="en-US" sz="2800" dirty="0">
                <a:latin typeface="Garamond" panose="02020404030301010803" pitchFamily="18" charset="0"/>
              </a:rPr>
              <a:t>Immersive Experiences in Smart Spaces </a:t>
            </a:r>
            <a:br>
              <a:rPr lang="en-US" altLang="en-US" sz="2800" dirty="0">
                <a:latin typeface="Garamond" panose="02020404030301010803" pitchFamily="18" charset="0"/>
              </a:rPr>
            </a:br>
            <a:endParaRPr lang="en-US" altLang="en-US" sz="2800" dirty="0">
              <a:latin typeface="Garamond" panose="02020404030301010803" pitchFamily="18" charset="0"/>
            </a:endParaRPr>
          </a:p>
        </p:txBody>
      </p:sp>
      <p:sp>
        <p:nvSpPr>
          <p:cNvPr id="31748" name="Slide Number Placeholder 12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>
              <a:lnSpc>
                <a:spcPct val="80000"/>
              </a:lnSpc>
            </a:pPr>
            <a:fld id="{9A0DB2DC-4C9A-4742-B13C-FB6460FD3503}" type="slidenum">
              <a:rPr lang="en-US" altLang="en-US" sz="1200" b="1" dirty="0">
                <a:solidFill>
                  <a:schemeClr val="tx1"/>
                </a:solidFill>
              </a:rPr>
            </a:fld>
            <a:endParaRPr lang="en-US" altLang="en-US" sz="1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Title 1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Emerging technologies that will shape the future of you and your business </a:t>
            </a:r>
            <a:endParaRPr kumimoji="0" lang="en-US" altLang="en-US" sz="32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2771" name="Content Placeholder 2"/>
          <p:cNvSpPr>
            <a:spLocks noGrp="1"/>
          </p:cNvSpPr>
          <p:nvPr>
            <p:ph sz="quarter" idx="1"/>
          </p:nvPr>
        </p:nvSpPr>
        <p:spPr>
          <a:xfrm>
            <a:off x="239713" y="1600200"/>
            <a:ext cx="8294687" cy="28956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2800" dirty="0">
                <a:latin typeface="Garamond" panose="02020404030301010803" pitchFamily="18" charset="0"/>
              </a:rPr>
              <a:t>Chat bots, </a:t>
            </a:r>
            <a:endParaRPr lang="en-US" altLang="en-US" sz="2800" dirty="0">
              <a:latin typeface="Garamond" panose="02020404030301010803" pitchFamily="18" charset="0"/>
            </a:endParaRPr>
          </a:p>
          <a:p>
            <a:r>
              <a:rPr lang="en-US" altLang="en-US" sz="2800" dirty="0">
                <a:latin typeface="Garamond" panose="02020404030301010803" pitchFamily="18" charset="0"/>
              </a:rPr>
              <a:t>virtual/augmented reality, </a:t>
            </a:r>
            <a:endParaRPr lang="en-US" altLang="en-US" sz="2800" dirty="0">
              <a:latin typeface="Garamond" panose="02020404030301010803" pitchFamily="18" charset="0"/>
            </a:endParaRPr>
          </a:p>
          <a:p>
            <a:r>
              <a:rPr lang="en-US" altLang="en-US" sz="2800" dirty="0">
                <a:latin typeface="Garamond" panose="02020404030301010803" pitchFamily="18" charset="0"/>
              </a:rPr>
              <a:t>Block chain, </a:t>
            </a:r>
            <a:endParaRPr lang="en-US" altLang="en-US" sz="2800" dirty="0">
              <a:latin typeface="Garamond" panose="02020404030301010803" pitchFamily="18" charset="0"/>
            </a:endParaRPr>
          </a:p>
          <a:p>
            <a:r>
              <a:rPr lang="en-US" altLang="en-US" sz="2800" dirty="0">
                <a:latin typeface="Garamond" panose="02020404030301010803" pitchFamily="18" charset="0"/>
              </a:rPr>
              <a:t>Ephemeral Apps and </a:t>
            </a:r>
            <a:endParaRPr lang="en-US" altLang="en-US" sz="2800" dirty="0">
              <a:latin typeface="Garamond" panose="02020404030301010803" pitchFamily="18" charset="0"/>
            </a:endParaRPr>
          </a:p>
          <a:p>
            <a:r>
              <a:rPr lang="en-US" altLang="en-US" sz="2800" dirty="0">
                <a:latin typeface="Garamond" panose="02020404030301010803" pitchFamily="18" charset="0"/>
              </a:rPr>
              <a:t>Artificial Intelligence </a:t>
            </a:r>
            <a:br>
              <a:rPr lang="en-US" altLang="en-US" dirty="0">
                <a:latin typeface="Garamond" panose="02020404030301010803" pitchFamily="18" charset="0"/>
              </a:rPr>
            </a:br>
            <a:endParaRPr lang="en-US" altLang="en-US" dirty="0">
              <a:latin typeface="Garamond" panose="02020404030301010803" pitchFamily="18" charset="0"/>
            </a:endParaRPr>
          </a:p>
        </p:txBody>
      </p:sp>
      <p:pic>
        <p:nvPicPr>
          <p:cNvPr id="32772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713" y="4762500"/>
            <a:ext cx="8142287" cy="1409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773" name="Slide Number Placeholder 12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>
              <a:lnSpc>
                <a:spcPct val="80000"/>
              </a:lnSpc>
            </a:pPr>
            <a:fld id="{9A0DB2DC-4C9A-4742-B13C-FB6460FD3503}" type="slidenum">
              <a:rPr lang="en-US" altLang="en-US" sz="1200" b="1" dirty="0">
                <a:solidFill>
                  <a:schemeClr val="tx1"/>
                </a:solidFill>
              </a:rPr>
            </a:fld>
            <a:endParaRPr lang="en-US" altLang="en-US" sz="1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Title 1"/>
          <p:cNvSpPr>
            <a:spLocks noGrp="1"/>
          </p:cNvSpPr>
          <p:nvPr>
            <p:ph type="title"/>
          </p:nvPr>
        </p:nvSpPr>
        <p:spPr>
          <a:xfrm>
            <a:off x="612775" y="152400"/>
            <a:ext cx="8153400" cy="1066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br>
              <a:rPr kumimoji="0" lang="nb-NO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ell MT" panose="02020503060305020303" pitchFamily="18" charset="0"/>
                <a:ea typeface="+mj-ea"/>
                <a:cs typeface="+mj-cs"/>
              </a:rPr>
            </a:br>
            <a:r>
              <a:rPr kumimoji="0" lang="nb-NO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ell MT" panose="02020503060305020303" pitchFamily="18" charset="0"/>
                <a:ea typeface="+mj-ea"/>
                <a:cs typeface="+mj-cs"/>
              </a:rPr>
              <a:t>Any Question? </a:t>
            </a:r>
            <a:br>
              <a:rPr kumimoji="0" lang="nb-NO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ell MT" panose="02020503060305020303" pitchFamily="18" charset="0"/>
                <a:ea typeface="+mj-ea"/>
                <a:cs typeface="+mj-cs"/>
              </a:rPr>
            </a:br>
            <a:endParaRPr kumimoji="0" lang="en-US" altLang="en-US" sz="44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6867" name="Picture 12" descr="http://t0.gstatic.com/images?q=tbn:ANd9GcRZHt6JcXrsXwmrr-T3Kai2J6y43f-cBmsqa9K_JMsOQXzJc2_q9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950" y="1752600"/>
            <a:ext cx="8382000" cy="457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868" name="Slide Number Placeholder 12"/>
          <p:cNvSpPr txBox="1"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>
              <a:lnSpc>
                <a:spcPct val="80000"/>
              </a:lnSpc>
            </a:pPr>
            <a:fld id="{9A0DB2DC-4C9A-4742-B13C-FB6460FD3503}" type="slidenum">
              <a:rPr lang="en-US" altLang="en-US" sz="1200" b="1" dirty="0">
                <a:solidFill>
                  <a:schemeClr val="tx1"/>
                </a:solidFill>
              </a:rPr>
            </a:fld>
            <a:endParaRPr lang="en-US" altLang="en-US" sz="1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pptAA10.tmp</Template>
  <TotalTime>0</TotalTime>
  <Words>7566</Words>
  <Application>WPS Presentation</Application>
  <PresentationFormat>On-screen Show (4:3)</PresentationFormat>
  <Paragraphs>227</Paragraphs>
  <Slides>21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7" baseType="lpstr">
      <vt:lpstr>Arial</vt:lpstr>
      <vt:lpstr>SimSun</vt:lpstr>
      <vt:lpstr>Wingdings</vt:lpstr>
      <vt:lpstr>Tw Cen MT</vt:lpstr>
      <vt:lpstr>Wingdings 2</vt:lpstr>
      <vt:lpstr>Wingdings 2</vt:lpstr>
      <vt:lpstr>Tahoma</vt:lpstr>
      <vt:lpstr>Tiger</vt:lpstr>
      <vt:lpstr>Garamond</vt:lpstr>
      <vt:lpstr>Adobe Garamond Pro</vt:lpstr>
      <vt:lpstr>Bell MT</vt:lpstr>
      <vt:lpstr>MS PGothic</vt:lpstr>
      <vt:lpstr>Wingdings</vt:lpstr>
      <vt:lpstr>Microsoft YaHei</vt:lpstr>
      <vt:lpstr>Arial Unicode MS</vt:lpstr>
      <vt:lpstr>Median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10</dc:title>
  <dc:creator>John Russo</dc:creator>
  <cp:lastModifiedBy>Mimi Tsegaye</cp:lastModifiedBy>
  <cp:revision>553</cp:revision>
  <dcterms:created xsi:type="dcterms:W3CDTF">2000-04-11T00:26:26Z</dcterms:created>
  <dcterms:modified xsi:type="dcterms:W3CDTF">2026-03-08T16:06:10Z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D29FBBFE24284B49B9882DA9BA660A26_13</vt:lpwstr>
  </property>
  <property fmtid="{D5CDD505-2E9C-101B-9397-08002B2CF9AE}" pid="3" name="KSOProductBuildVer">
    <vt:lpwstr>1033-12.2.0.23196</vt:lpwstr>
  </property>
</Properties>
</file>