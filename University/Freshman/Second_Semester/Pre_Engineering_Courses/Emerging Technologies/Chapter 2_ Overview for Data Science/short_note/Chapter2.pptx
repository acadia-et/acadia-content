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54" r:id="rId1"/>
  </p:sldMasterIdLst>
  <p:notesMasterIdLst>
    <p:notesMasterId r:id="rId32"/>
  </p:notesMasterIdLst>
  <p:sldIdLst>
    <p:sldId id="256" r:id="rId2"/>
    <p:sldId id="257" r:id="rId3"/>
    <p:sldId id="258" r:id="rId4"/>
    <p:sldId id="288" r:id="rId5"/>
    <p:sldId id="261" r:id="rId6"/>
    <p:sldId id="260" r:id="rId7"/>
    <p:sldId id="262" r:id="rId8"/>
    <p:sldId id="263" r:id="rId9"/>
    <p:sldId id="264" r:id="rId10"/>
    <p:sldId id="265" r:id="rId11"/>
    <p:sldId id="267" r:id="rId12"/>
    <p:sldId id="269" r:id="rId13"/>
    <p:sldId id="270" r:id="rId14"/>
    <p:sldId id="271" r:id="rId15"/>
    <p:sldId id="272" r:id="rId16"/>
    <p:sldId id="273" r:id="rId17"/>
    <p:sldId id="274" r:id="rId18"/>
    <p:sldId id="275" r:id="rId19"/>
    <p:sldId id="276" r:id="rId20"/>
    <p:sldId id="277" r:id="rId21"/>
    <p:sldId id="279" r:id="rId22"/>
    <p:sldId id="278" r:id="rId23"/>
    <p:sldId id="281" r:id="rId24"/>
    <p:sldId id="282" r:id="rId25"/>
    <p:sldId id="283" r:id="rId26"/>
    <p:sldId id="290" r:id="rId27"/>
    <p:sldId id="284" r:id="rId28"/>
    <p:sldId id="285" r:id="rId29"/>
    <p:sldId id="286" r:id="rId30"/>
    <p:sldId id="291" r:id="rId31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87" d="100"/>
          <a:sy n="87" d="100"/>
        </p:scale>
        <p:origin x="1494" y="90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A933761-E481-4622-AAC0-60043ADF251B}" type="datetimeFigureOut">
              <a:rPr lang="en-US" smtClean="0"/>
              <a:pPr/>
              <a:t>4/3/2025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D5B4A20-B4E3-4A9D-98A0-B3D64AE90D29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70991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D5B4A20-B4E3-4A9D-98A0-B3D64AE90D29}" type="slidenum">
              <a:rPr lang="en-US" smtClean="0"/>
              <a:pPr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9310013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D5B4A20-B4E3-4A9D-98A0-B3D64AE90D29}" type="slidenum">
              <a:rPr lang="en-US" smtClean="0"/>
              <a:pPr/>
              <a:t>10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6256325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D5B4A20-B4E3-4A9D-98A0-B3D64AE90D29}" type="slidenum">
              <a:rPr lang="en-US" smtClean="0"/>
              <a:pPr/>
              <a:t>11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6256325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D5B4A20-B4E3-4A9D-98A0-B3D64AE90D29}" type="slidenum">
              <a:rPr lang="en-US" smtClean="0"/>
              <a:pPr/>
              <a:t>12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6256325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D5B4A20-B4E3-4A9D-98A0-B3D64AE90D29}" type="slidenum">
              <a:rPr lang="en-US" smtClean="0"/>
              <a:pPr/>
              <a:t>13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6256325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D5B4A20-B4E3-4A9D-98A0-B3D64AE90D29}" type="slidenum">
              <a:rPr lang="en-US" smtClean="0"/>
              <a:pPr/>
              <a:t>14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6256325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D5B4A20-B4E3-4A9D-98A0-B3D64AE90D29}" type="slidenum">
              <a:rPr lang="en-US" smtClean="0"/>
              <a:pPr/>
              <a:t>15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6256325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D5B4A20-B4E3-4A9D-98A0-B3D64AE90D29}" type="slidenum">
              <a:rPr lang="en-US" smtClean="0"/>
              <a:pPr/>
              <a:t>16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6256325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D5B4A20-B4E3-4A9D-98A0-B3D64AE90D29}" type="slidenum">
              <a:rPr lang="en-US" smtClean="0"/>
              <a:pPr/>
              <a:t>17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6256325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D5B4A20-B4E3-4A9D-98A0-B3D64AE90D29}" type="slidenum">
              <a:rPr lang="en-US" smtClean="0"/>
              <a:pPr/>
              <a:t>18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6256325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D5B4A20-B4E3-4A9D-98A0-B3D64AE90D29}" type="slidenum">
              <a:rPr lang="en-US" smtClean="0"/>
              <a:pPr/>
              <a:t>19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83426329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D5B4A20-B4E3-4A9D-98A0-B3D64AE90D29}" type="slidenum">
              <a:rPr lang="en-US" smtClean="0"/>
              <a:pPr/>
              <a:t>20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64338592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D5B4A20-B4E3-4A9D-98A0-B3D64AE90D29}" type="slidenum">
              <a:rPr lang="en-US" smtClean="0"/>
              <a:pPr/>
              <a:t>21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57304977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D5B4A20-B4E3-4A9D-98A0-B3D64AE90D29}" type="slidenum">
              <a:rPr lang="en-US" smtClean="0"/>
              <a:pPr/>
              <a:t>24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11013312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D5B4A20-B4E3-4A9D-98A0-B3D64AE90D29}" type="slidenum">
              <a:rPr lang="en-US" smtClean="0"/>
              <a:pPr/>
              <a:t>25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482738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D8726-9D17-41DB-917F-4F10CC17D58F}" type="datetimeFigureOut">
              <a:rPr lang="en-US" smtClean="0"/>
              <a:pPr/>
              <a:t>4/3/2025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1F6FE-7A7A-4301-92FE-F9CF1C25650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8574322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D8726-9D17-41DB-917F-4F10CC17D58F}" type="datetimeFigureOut">
              <a:rPr lang="en-US" smtClean="0"/>
              <a:pPr/>
              <a:t>4/3/2025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1F6FE-7A7A-4301-92FE-F9CF1C25650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0896243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D8726-9D17-41DB-917F-4F10CC17D58F}" type="datetimeFigureOut">
              <a:rPr lang="en-US" smtClean="0"/>
              <a:pPr/>
              <a:t>4/3/2025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1F6FE-7A7A-4301-92FE-F9CF1C25650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9642169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D8726-9D17-41DB-917F-4F10CC17D58F}" type="datetimeFigureOut">
              <a:rPr lang="en-US" smtClean="0"/>
              <a:pPr/>
              <a:t>4/3/2025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1F6FE-7A7A-4301-92FE-F9CF1C25650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1268402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D8726-9D17-41DB-917F-4F10CC17D58F}" type="datetimeFigureOut">
              <a:rPr lang="en-US" smtClean="0"/>
              <a:pPr/>
              <a:t>4/3/2025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1F6FE-7A7A-4301-92FE-F9CF1C25650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0815545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D8726-9D17-41DB-917F-4F10CC17D58F}" type="datetimeFigureOut">
              <a:rPr lang="en-US" smtClean="0"/>
              <a:pPr/>
              <a:t>4/3/2025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1F6FE-7A7A-4301-92FE-F9CF1C25650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3071946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D8726-9D17-41DB-917F-4F10CC17D58F}" type="datetimeFigureOut">
              <a:rPr lang="en-US" smtClean="0"/>
              <a:pPr/>
              <a:t>4/3/2025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1F6FE-7A7A-4301-92FE-F9CF1C25650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3972065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D8726-9D17-41DB-917F-4F10CC17D58F}" type="datetimeFigureOut">
              <a:rPr lang="en-US" smtClean="0"/>
              <a:pPr/>
              <a:t>4/3/2025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1F6FE-7A7A-4301-92FE-F9CF1C25650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6843696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D8726-9D17-41DB-917F-4F10CC17D58F}" type="datetimeFigureOut">
              <a:rPr lang="en-US" smtClean="0"/>
              <a:pPr/>
              <a:t>4/3/2025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1F6FE-7A7A-4301-92FE-F9CF1C25650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3274432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D8726-9D17-41DB-917F-4F10CC17D58F}" type="datetimeFigureOut">
              <a:rPr lang="en-US" smtClean="0"/>
              <a:pPr/>
              <a:t>4/3/2025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1F6FE-7A7A-4301-92FE-F9CF1C25650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3291838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D8726-9D17-41DB-917F-4F10CC17D58F}" type="datetimeFigureOut">
              <a:rPr lang="en-US" smtClean="0"/>
              <a:pPr/>
              <a:t>4/3/2025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1F6FE-7A7A-4301-92FE-F9CF1C25650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5635183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Rectangl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D8726-9D17-41DB-917F-4F10CC17D58F}" type="datetimeFigureOut">
              <a:rPr lang="en-US" smtClean="0"/>
              <a:pPr/>
              <a:t>4/3/2025</a:t>
            </a:fld>
            <a:endParaRPr lang="en-US" dirty="0"/>
          </a:p>
        </p:txBody>
      </p:sp>
      <p:sp>
        <p:nvSpPr>
          <p:cNvPr id="4" name="Rectangl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Rectangl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1F6FE-7A7A-4301-92FE-F9CF1C25650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Rectangle 6"/>
          <p:cNvSpPr>
            <a:spLocks noGrp="1"/>
          </p:cNvSpPr>
          <p:nvPr>
            <p:ph sz="quarter" idx="13"/>
          </p:nvPr>
        </p:nvSpPr>
        <p:spPr>
          <a:xfrm>
            <a:off x="609600" y="1803400"/>
            <a:ext cx="8153400" cy="43688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0147120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80D8726-9D17-41DB-917F-4F10CC17D58F}" type="datetimeFigureOut">
              <a:rPr lang="en-US" smtClean="0"/>
              <a:pPr/>
              <a:t>4/3/2025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A71F6FE-7A7A-4301-92FE-F9CF1C25650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783607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55" r:id="rId1"/>
    <p:sldLayoutId id="2147483756" r:id="rId2"/>
    <p:sldLayoutId id="2147483757" r:id="rId3"/>
    <p:sldLayoutId id="2147483758" r:id="rId4"/>
    <p:sldLayoutId id="2147483759" r:id="rId5"/>
    <p:sldLayoutId id="2147483760" r:id="rId6"/>
    <p:sldLayoutId id="2147483761" r:id="rId7"/>
    <p:sldLayoutId id="2147483762" r:id="rId8"/>
    <p:sldLayoutId id="2147483763" r:id="rId9"/>
    <p:sldLayoutId id="2147483764" r:id="rId10"/>
    <p:sldLayoutId id="2147483765" r:id="rId11"/>
    <p:sldLayoutId id="2147483766" r:id="rId12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2133600"/>
            <a:ext cx="8458200" cy="2717800"/>
          </a:xfrm>
        </p:spPr>
        <p:txBody>
          <a:bodyPr>
            <a:normAutofit/>
          </a:bodyPr>
          <a:lstStyle/>
          <a:p>
            <a:pPr algn="ctr"/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Chapter-2</a:t>
            </a:r>
            <a:b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 to Data science </a:t>
            </a:r>
            <a:b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 smtClean="0"/>
              <a:t>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6090625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Unit objectives</a:t>
            </a: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sz="quarter" idx="13"/>
          </p:nvPr>
        </p:nvSpPr>
        <p:spPr>
          <a:xfrm>
            <a:off x="685800" y="2133600"/>
            <a:ext cx="8153400" cy="4368800"/>
          </a:xfrm>
        </p:spPr>
        <p:txBody>
          <a:bodyPr>
            <a:normAutofit/>
          </a:bodyPr>
          <a:lstStyle/>
          <a:p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Differentiate 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data 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and information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Describe the essence of data science and the role of data scientist </a:t>
            </a:r>
            <a:endParaRPr lang="en-US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Describe data processing life cycle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Understand different data types from diverse 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perspectives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Describe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value chain in emerging era of big data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Understand the basics of Big Data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Describe the purpose of the Hadoop ecosystem components. </a:t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0442036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304800"/>
            <a:ext cx="7924800" cy="1341120"/>
          </a:xfrm>
        </p:spPr>
        <p:txBody>
          <a:bodyPr>
            <a:normAutofit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Overview of Data science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3"/>
          </p:nvPr>
        </p:nvSpPr>
        <p:spPr>
          <a:xfrm>
            <a:off x="457200" y="1645920"/>
            <a:ext cx="8686800" cy="4368800"/>
          </a:xfrm>
        </p:spPr>
        <p:txBody>
          <a:bodyPr>
            <a:normAutofit/>
          </a:bodyPr>
          <a:lstStyle/>
          <a:p>
            <a:r>
              <a:rPr lang="en-US" sz="2400" b="1" dirty="0">
                <a:latin typeface="Bell MT" panose="02020503060305020303" pitchFamily="18" charset="0"/>
              </a:rPr>
              <a:t>Data science </a:t>
            </a:r>
            <a:r>
              <a:rPr lang="en-US" sz="2400" dirty="0">
                <a:latin typeface="Bell MT" panose="02020503060305020303" pitchFamily="18" charset="0"/>
              </a:rPr>
              <a:t>is a multi-disciplinary field which involves extracting insights from vast amounts of data </a:t>
            </a:r>
            <a:r>
              <a:rPr lang="en-US" sz="2400" dirty="0" smtClean="0">
                <a:latin typeface="Bell MT" panose="02020503060305020303" pitchFamily="18" charset="0"/>
              </a:rPr>
              <a:t>using scientific methods, algorithms</a:t>
            </a:r>
            <a:r>
              <a:rPr lang="en-US" sz="2400" dirty="0">
                <a:latin typeface="Bell MT" panose="02020503060305020303" pitchFamily="18" charset="0"/>
              </a:rPr>
              <a:t>, and processes</a:t>
            </a:r>
            <a:r>
              <a:rPr lang="en-US" sz="2400" dirty="0" smtClean="0">
                <a:latin typeface="Bell MT" panose="02020503060305020303" pitchFamily="18" charset="0"/>
              </a:rPr>
              <a:t>.</a:t>
            </a:r>
          </a:p>
          <a:p>
            <a:endParaRPr lang="en-US" sz="2400" dirty="0">
              <a:latin typeface="Bell MT" panose="02020503060305020303" pitchFamily="18" charset="0"/>
            </a:endParaRPr>
          </a:p>
          <a:p>
            <a:r>
              <a:rPr lang="en-US" sz="2400" dirty="0">
                <a:latin typeface="Bell MT" panose="02020503060305020303" pitchFamily="18" charset="0"/>
              </a:rPr>
              <a:t>It helps to extract knowledge and insights from structured, semi structured and unstructured data. </a:t>
            </a:r>
            <a:endParaRPr lang="en-US" sz="2400" dirty="0" smtClean="0">
              <a:latin typeface="Bell MT" panose="02020503060305020303" pitchFamily="18" charset="0"/>
            </a:endParaRPr>
          </a:p>
          <a:p>
            <a:endParaRPr lang="en-US" sz="2400" dirty="0">
              <a:latin typeface="Bell MT" panose="02020503060305020303" pitchFamily="18" charset="0"/>
            </a:endParaRPr>
          </a:p>
          <a:p>
            <a:r>
              <a:rPr lang="en-US" sz="2400" dirty="0">
                <a:latin typeface="Bell MT" panose="02020503060305020303" pitchFamily="18" charset="0"/>
              </a:rPr>
              <a:t>More </a:t>
            </a:r>
            <a:r>
              <a:rPr lang="en-US" sz="2400" dirty="0" smtClean="0">
                <a:latin typeface="Bell MT" panose="02020503060305020303" pitchFamily="18" charset="0"/>
              </a:rPr>
              <a:t>importantly, </a:t>
            </a:r>
            <a:r>
              <a:rPr lang="en-US" sz="2400" dirty="0">
                <a:latin typeface="Bell MT" panose="02020503060305020303" pitchFamily="18" charset="0"/>
              </a:rPr>
              <a:t>it enables you to translate a business problem into a research project and then translate it back into a practical solution.</a:t>
            </a:r>
            <a:r>
              <a:rPr lang="en-US" sz="2800" dirty="0">
                <a:latin typeface="Bell MT" panose="02020503060305020303" pitchFamily="18" charset="0"/>
              </a:rPr>
              <a:t/>
            </a:r>
            <a:br>
              <a:rPr lang="en-US" sz="2800" dirty="0">
                <a:latin typeface="Bell MT" panose="02020503060305020303" pitchFamily="18" charset="0"/>
              </a:rPr>
            </a:br>
            <a:endParaRPr lang="en-US" sz="2800" dirty="0">
              <a:latin typeface="Bell MT" panose="02020503060305020303" pitchFamily="18" charset="0"/>
            </a:endParaRPr>
          </a:p>
          <a:p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400493380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304800"/>
            <a:ext cx="7924800" cy="1341120"/>
          </a:xfrm>
        </p:spPr>
        <p:txBody>
          <a:bodyPr>
            <a:normAutofit/>
          </a:bodyPr>
          <a:lstStyle/>
          <a:p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Methodology of data science </a:t>
            </a: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sz="quarter" idx="13"/>
          </p:nvPr>
        </p:nvPicPr>
        <p:blipFill>
          <a:blip r:embed="rId2" cstate="print"/>
          <a:stretch>
            <a:fillRect/>
          </a:stretch>
        </p:blipFill>
        <p:spPr>
          <a:xfrm>
            <a:off x="990600" y="2286000"/>
            <a:ext cx="6019800" cy="3286125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2743200" y="5842873"/>
            <a:ext cx="3810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Data science methodology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4678581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457200"/>
            <a:ext cx="7924800" cy="1341120"/>
          </a:xfrm>
        </p:spPr>
        <p:txBody>
          <a:bodyPr>
            <a:normAutofit/>
          </a:bodyPr>
          <a:lstStyle/>
          <a:p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Application of Data science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3"/>
          </p:nvPr>
        </p:nvSpPr>
        <p:spPr>
          <a:xfrm>
            <a:off x="304800" y="1798320"/>
            <a:ext cx="8686800" cy="4856480"/>
          </a:xfrm>
        </p:spPr>
        <p:txBody>
          <a:bodyPr>
            <a:normAutofit/>
          </a:bodyPr>
          <a:lstStyle/>
          <a:p>
            <a:r>
              <a:rPr lang="en-US" sz="2400" dirty="0">
                <a:latin typeface="Bell MT" panose="02020503060305020303" pitchFamily="18" charset="0"/>
              </a:rPr>
              <a:t>Data science is much more than simply analyzing data; it plays wide range of roles as follows</a:t>
            </a:r>
            <a:r>
              <a:rPr lang="en-US" sz="3100" dirty="0">
                <a:latin typeface="Bell MT" panose="02020503060305020303" pitchFamily="18" charset="0"/>
              </a:rPr>
              <a:t>;</a:t>
            </a:r>
          </a:p>
          <a:p>
            <a:pPr lvl="3"/>
            <a:r>
              <a:rPr lang="en-US" sz="2050" dirty="0">
                <a:latin typeface="Bell MT" panose="02020503060305020303" pitchFamily="18" charset="0"/>
              </a:rPr>
              <a:t>Data is the oil for today's world. With the right tools, technologies, algorithms, we can use data and convert it into a distinctive business advantage</a:t>
            </a:r>
          </a:p>
          <a:p>
            <a:pPr lvl="3"/>
            <a:r>
              <a:rPr lang="en-US" sz="2050" dirty="0">
                <a:latin typeface="Bell MT" panose="02020503060305020303" pitchFamily="18" charset="0"/>
              </a:rPr>
              <a:t>Can help you to detect </a:t>
            </a:r>
            <a:r>
              <a:rPr lang="en-US" sz="2050" b="1" dirty="0">
                <a:latin typeface="Bell MT" panose="02020503060305020303" pitchFamily="18" charset="0"/>
              </a:rPr>
              <a:t>fraud</a:t>
            </a:r>
            <a:r>
              <a:rPr lang="en-US" sz="2050" dirty="0">
                <a:latin typeface="Bell MT" panose="02020503060305020303" pitchFamily="18" charset="0"/>
              </a:rPr>
              <a:t> using advanced machine learning algorithms</a:t>
            </a:r>
          </a:p>
          <a:p>
            <a:pPr lvl="3"/>
            <a:r>
              <a:rPr lang="en-US" sz="2050" dirty="0">
                <a:latin typeface="Bell MT" panose="02020503060305020303" pitchFamily="18" charset="0"/>
              </a:rPr>
              <a:t>It </a:t>
            </a:r>
            <a:r>
              <a:rPr lang="en-US" sz="2050" dirty="0" smtClean="0">
                <a:latin typeface="Bell MT" panose="02020503060305020303" pitchFamily="18" charset="0"/>
              </a:rPr>
              <a:t>could also helps </a:t>
            </a:r>
            <a:r>
              <a:rPr lang="en-US" sz="2050" dirty="0">
                <a:latin typeface="Bell MT" panose="02020503060305020303" pitchFamily="18" charset="0"/>
              </a:rPr>
              <a:t>you to prevent any significant </a:t>
            </a:r>
            <a:r>
              <a:rPr lang="en-US" sz="2050" b="1" dirty="0">
                <a:latin typeface="Bell MT" panose="02020503060305020303" pitchFamily="18" charset="0"/>
              </a:rPr>
              <a:t>monetary losses</a:t>
            </a:r>
          </a:p>
          <a:p>
            <a:pPr lvl="3"/>
            <a:r>
              <a:rPr lang="en-US" sz="2050" dirty="0">
                <a:latin typeface="Bell MT" panose="02020503060305020303" pitchFamily="18" charset="0"/>
              </a:rPr>
              <a:t>Allows to build </a:t>
            </a:r>
            <a:r>
              <a:rPr lang="en-US" sz="2050" b="1" dirty="0">
                <a:latin typeface="Bell MT" panose="02020503060305020303" pitchFamily="18" charset="0"/>
              </a:rPr>
              <a:t>intelligence </a:t>
            </a:r>
            <a:r>
              <a:rPr lang="en-US" sz="2050" dirty="0">
                <a:latin typeface="Bell MT" panose="02020503060305020303" pitchFamily="18" charset="0"/>
              </a:rPr>
              <a:t>ability in machines</a:t>
            </a:r>
          </a:p>
          <a:p>
            <a:pPr lvl="3"/>
            <a:r>
              <a:rPr lang="en-US" sz="2050" dirty="0">
                <a:latin typeface="Bell MT" panose="02020503060305020303" pitchFamily="18" charset="0"/>
              </a:rPr>
              <a:t>You can perform </a:t>
            </a:r>
            <a:r>
              <a:rPr lang="en-US" sz="2050" b="1" dirty="0">
                <a:latin typeface="Bell MT" panose="02020503060305020303" pitchFamily="18" charset="0"/>
              </a:rPr>
              <a:t>sentiment analysis</a:t>
            </a:r>
            <a:r>
              <a:rPr lang="en-US" sz="2050" dirty="0">
                <a:latin typeface="Bell MT" panose="02020503060305020303" pitchFamily="18" charset="0"/>
              </a:rPr>
              <a:t> to gauge customer brand </a:t>
            </a:r>
            <a:r>
              <a:rPr lang="en-US" sz="2050" dirty="0" smtClean="0">
                <a:latin typeface="Bell MT" panose="02020503060305020303" pitchFamily="18" charset="0"/>
              </a:rPr>
              <a:t>loyalty.</a:t>
            </a:r>
            <a:endParaRPr lang="en-US" sz="2050" dirty="0">
              <a:latin typeface="Bell MT" panose="02020503060305020303" pitchFamily="18" charset="0"/>
            </a:endParaRPr>
          </a:p>
          <a:p>
            <a:pPr lvl="3"/>
            <a:r>
              <a:rPr lang="en-US" sz="2050" dirty="0">
                <a:latin typeface="Bell MT" panose="02020503060305020303" pitchFamily="18" charset="0"/>
              </a:rPr>
              <a:t>It enables you to take </a:t>
            </a:r>
            <a:r>
              <a:rPr lang="en-US" sz="2050" b="1" dirty="0">
                <a:latin typeface="Bell MT" panose="02020503060305020303" pitchFamily="18" charset="0"/>
              </a:rPr>
              <a:t>better and faster </a:t>
            </a:r>
            <a:r>
              <a:rPr lang="en-US" sz="2050" b="1" dirty="0" smtClean="0">
                <a:latin typeface="Bell MT" panose="02020503060305020303" pitchFamily="18" charset="0"/>
              </a:rPr>
              <a:t>decisions.</a:t>
            </a:r>
            <a:endParaRPr lang="en-US" sz="2050" b="1" dirty="0">
              <a:latin typeface="Bell MT" panose="02020503060305020303" pitchFamily="18" charset="0"/>
            </a:endParaRPr>
          </a:p>
          <a:p>
            <a:pPr lvl="3"/>
            <a:r>
              <a:rPr lang="en-US" sz="2050" dirty="0">
                <a:latin typeface="Bell MT" panose="02020503060305020303" pitchFamily="18" charset="0"/>
              </a:rPr>
              <a:t>Helps you to recommend the right product to the right customer to enhance your </a:t>
            </a:r>
            <a:r>
              <a:rPr lang="en-US" sz="2050" dirty="0" smtClean="0">
                <a:latin typeface="Bell MT" panose="02020503060305020303" pitchFamily="18" charset="0"/>
              </a:rPr>
              <a:t>business.</a:t>
            </a:r>
            <a:endParaRPr lang="en-US" sz="2050" dirty="0">
              <a:latin typeface="Bell MT" panose="02020503060305020303" pitchFamily="18" charset="0"/>
            </a:endParaRPr>
          </a:p>
          <a:p>
            <a:pPr lvl="2"/>
            <a:endParaRPr lang="en-US" sz="2200" dirty="0"/>
          </a:p>
          <a:p>
            <a:pPr lvl="1"/>
            <a:endParaRPr lang="en-US" sz="2500" dirty="0"/>
          </a:p>
          <a:p>
            <a:pPr lvl="1"/>
            <a:endParaRPr lang="en-US" sz="2500" dirty="0"/>
          </a:p>
          <a:p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202535645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1945" y="304800"/>
            <a:ext cx="7924800" cy="1341120"/>
          </a:xfrm>
        </p:spPr>
        <p:txBody>
          <a:bodyPr>
            <a:normAutofit/>
          </a:bodyPr>
          <a:lstStyle/>
          <a:p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Vs. Information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3"/>
          </p:nvPr>
        </p:nvSpPr>
        <p:spPr>
          <a:xfrm>
            <a:off x="443345" y="1645920"/>
            <a:ext cx="8382000" cy="4368800"/>
          </a:xfrm>
        </p:spPr>
        <p:txBody>
          <a:bodyPr>
            <a:normAutofit/>
          </a:bodyPr>
          <a:lstStyle/>
          <a:p>
            <a:r>
              <a:rPr lang="en-US" sz="2400" b="1" i="1" dirty="0">
                <a:latin typeface="Bell MT" panose="02020503060305020303" pitchFamily="18" charset="0"/>
              </a:rPr>
              <a:t>Data </a:t>
            </a:r>
            <a:r>
              <a:rPr lang="en-US" sz="2400" dirty="0">
                <a:latin typeface="Bell MT" panose="02020503060305020303" pitchFamily="18" charset="0"/>
              </a:rPr>
              <a:t>can be defined as a representation of facts, concepts, or instructions in a formalized manner with help of characters such as alphabets (A-Z, a-z), digits (0-9) or special characters (+, -, /, *, &lt;,&gt;, =, etc</a:t>
            </a:r>
            <a:r>
              <a:rPr lang="en-US" sz="2400" dirty="0" smtClean="0">
                <a:latin typeface="Bell MT" panose="02020503060305020303" pitchFamily="18" charset="0"/>
              </a:rPr>
              <a:t>.)</a:t>
            </a:r>
          </a:p>
          <a:p>
            <a:pPr lvl="1"/>
            <a:endParaRPr lang="en-US" sz="2000" dirty="0" smtClean="0">
              <a:latin typeface="Bell MT" panose="02020503060305020303" pitchFamily="18" charset="0"/>
            </a:endParaRPr>
          </a:p>
          <a:p>
            <a:pPr lvl="2"/>
            <a:r>
              <a:rPr lang="en-US" sz="2000" dirty="0" smtClean="0">
                <a:latin typeface="Bell MT" panose="02020503060305020303" pitchFamily="18" charset="0"/>
              </a:rPr>
              <a:t> Those </a:t>
            </a:r>
            <a:r>
              <a:rPr lang="en-US" sz="2000" dirty="0">
                <a:latin typeface="Bell MT" panose="02020503060305020303" pitchFamily="18" charset="0"/>
              </a:rPr>
              <a:t>facts are suitable for communication, interpretation, or processing, by human or </a:t>
            </a:r>
            <a:r>
              <a:rPr lang="en-US" sz="2000" dirty="0" smtClean="0">
                <a:latin typeface="Bell MT" panose="02020503060305020303" pitchFamily="18" charset="0"/>
              </a:rPr>
              <a:t>electronic machines</a:t>
            </a:r>
            <a:r>
              <a:rPr lang="en-US" sz="2000" dirty="0">
                <a:latin typeface="Bell MT" panose="02020503060305020303" pitchFamily="18" charset="0"/>
              </a:rPr>
              <a:t>. </a:t>
            </a:r>
          </a:p>
          <a:p>
            <a:pPr lvl="2"/>
            <a:endParaRPr lang="en-US" sz="2000" dirty="0">
              <a:latin typeface="Bell MT" panose="02020503060305020303" pitchFamily="18" charset="0"/>
            </a:endParaRPr>
          </a:p>
          <a:p>
            <a:r>
              <a:rPr lang="en-US" sz="2400" b="1" i="1" dirty="0" smtClean="0">
                <a:latin typeface="Bell MT" panose="02020503060305020303" pitchFamily="18" charset="0"/>
              </a:rPr>
              <a:t>Information </a:t>
            </a:r>
            <a:r>
              <a:rPr lang="en-US" sz="2400" dirty="0" smtClean="0">
                <a:latin typeface="Bell MT" panose="02020503060305020303" pitchFamily="18" charset="0"/>
              </a:rPr>
              <a:t>is an interpreted data; created from organized, structured, and processed data in a particular context on which decisions and actions are based. </a:t>
            </a:r>
          </a:p>
          <a:p>
            <a:pPr lvl="2"/>
            <a:endParaRPr lang="en-US" sz="2000" dirty="0">
              <a:latin typeface="Bell MT" panose="02020503060305020303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6271170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58091" y="339438"/>
            <a:ext cx="7924800" cy="1072087"/>
          </a:xfrm>
        </p:spPr>
        <p:txBody>
          <a:bodyPr>
            <a:normAutofit/>
          </a:bodyPr>
          <a:lstStyle/>
          <a:p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Processing Cycle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3"/>
          </p:nvPr>
        </p:nvSpPr>
        <p:spPr>
          <a:xfrm>
            <a:off x="658091" y="1524000"/>
            <a:ext cx="8382000" cy="5347855"/>
          </a:xfrm>
        </p:spPr>
        <p:txBody>
          <a:bodyPr>
            <a:normAutofit fontScale="92500" lnSpcReduction="10000"/>
          </a:bodyPr>
          <a:lstStyle/>
          <a:p>
            <a:r>
              <a:rPr lang="en-US" sz="2600" b="1" dirty="0">
                <a:latin typeface="Bell MT" panose="02020503060305020303" pitchFamily="18" charset="0"/>
              </a:rPr>
              <a:t>Data processing </a:t>
            </a:r>
            <a:r>
              <a:rPr lang="en-US" sz="2600" dirty="0">
                <a:latin typeface="Bell MT" panose="02020503060305020303" pitchFamily="18" charset="0"/>
              </a:rPr>
              <a:t>is re-structuring or re-ordering of data by people or machines to increase their usefulness and add values for a particular purpose.</a:t>
            </a:r>
          </a:p>
          <a:p>
            <a:r>
              <a:rPr lang="en-US" sz="2600" dirty="0">
                <a:latin typeface="Bell MT" panose="02020503060305020303" pitchFamily="18" charset="0"/>
              </a:rPr>
              <a:t>The following are basic steps of data processing;</a:t>
            </a:r>
          </a:p>
          <a:p>
            <a:pPr marL="0" indent="0">
              <a:buNone/>
            </a:pPr>
            <a:endParaRPr lang="en-US" sz="2600" b="1" dirty="0">
              <a:latin typeface="Bell MT" panose="02020503060305020303" pitchFamily="18" charset="0"/>
            </a:endParaRPr>
          </a:p>
          <a:p>
            <a:pPr marL="0" indent="0">
              <a:buNone/>
            </a:pPr>
            <a:endParaRPr lang="en-US" sz="2600" b="1" dirty="0">
              <a:latin typeface="Bell MT" panose="02020503060305020303" pitchFamily="18" charset="0"/>
            </a:endParaRPr>
          </a:p>
          <a:p>
            <a:r>
              <a:rPr lang="en-US" sz="2600" b="1" dirty="0">
                <a:latin typeface="Bell MT" panose="02020503060305020303" pitchFamily="18" charset="0"/>
              </a:rPr>
              <a:t>Input </a:t>
            </a:r>
            <a:r>
              <a:rPr lang="en-US" sz="2600" dirty="0">
                <a:latin typeface="Bell MT" panose="02020503060305020303" pitchFamily="18" charset="0"/>
              </a:rPr>
              <a:t>- in this step, the input data is prepared in some convenient form for processing. </a:t>
            </a:r>
          </a:p>
          <a:p>
            <a:r>
              <a:rPr lang="en-US" sz="2600" b="1" dirty="0">
                <a:latin typeface="Bell MT" panose="02020503060305020303" pitchFamily="18" charset="0"/>
              </a:rPr>
              <a:t>Processing </a:t>
            </a:r>
            <a:r>
              <a:rPr lang="en-US" sz="2600" dirty="0">
                <a:latin typeface="Bell MT" panose="02020503060305020303" pitchFamily="18" charset="0"/>
              </a:rPr>
              <a:t>- in this step, the input data is changed to produce data in a more useful form.</a:t>
            </a:r>
          </a:p>
          <a:p>
            <a:pPr lvl="2"/>
            <a:r>
              <a:rPr lang="en-US" sz="2400" dirty="0">
                <a:latin typeface="Bell MT" panose="02020503060305020303" pitchFamily="18" charset="0"/>
              </a:rPr>
              <a:t>For example, a summary of sales for the month can be calculated from the sales orders. </a:t>
            </a:r>
          </a:p>
          <a:p>
            <a:r>
              <a:rPr lang="en-US" sz="2600" b="1" dirty="0">
                <a:latin typeface="Bell MT" panose="02020503060305020303" pitchFamily="18" charset="0"/>
              </a:rPr>
              <a:t>Output</a:t>
            </a:r>
            <a:r>
              <a:rPr lang="en-US" sz="2600" dirty="0">
                <a:latin typeface="Bell MT" panose="02020503060305020303" pitchFamily="18" charset="0"/>
              </a:rPr>
              <a:t> − at this stage, the result of the proceeding processing step is collected.</a:t>
            </a: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/>
              <a:t/>
            </a:r>
            <a:br>
              <a:rPr lang="en-US" sz="2400" dirty="0"/>
            </a:br>
            <a:endParaRPr lang="en-US" sz="2400" dirty="0"/>
          </a:p>
        </p:txBody>
      </p:sp>
      <p:sp>
        <p:nvSpPr>
          <p:cNvPr id="4" name="Rectangle 3"/>
          <p:cNvSpPr/>
          <p:nvPr/>
        </p:nvSpPr>
        <p:spPr>
          <a:xfrm>
            <a:off x="1489628" y="3002350"/>
            <a:ext cx="914400" cy="457200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Input </a:t>
            </a:r>
          </a:p>
        </p:txBody>
      </p:sp>
      <p:sp>
        <p:nvSpPr>
          <p:cNvPr id="5" name="Rectangle 4"/>
          <p:cNvSpPr/>
          <p:nvPr/>
        </p:nvSpPr>
        <p:spPr>
          <a:xfrm>
            <a:off x="3258311" y="3002350"/>
            <a:ext cx="1524000" cy="457200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Processing </a:t>
            </a:r>
          </a:p>
        </p:txBody>
      </p:sp>
      <p:sp>
        <p:nvSpPr>
          <p:cNvPr id="6" name="Rectangle 5"/>
          <p:cNvSpPr/>
          <p:nvPr/>
        </p:nvSpPr>
        <p:spPr>
          <a:xfrm>
            <a:off x="5501247" y="3040450"/>
            <a:ext cx="1530927" cy="381000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Output  </a:t>
            </a:r>
          </a:p>
        </p:txBody>
      </p:sp>
      <p:sp>
        <p:nvSpPr>
          <p:cNvPr id="7" name="Right Arrow 6"/>
          <p:cNvSpPr/>
          <p:nvPr/>
        </p:nvSpPr>
        <p:spPr>
          <a:xfrm>
            <a:off x="2404028" y="3040450"/>
            <a:ext cx="869999" cy="355112"/>
          </a:xfrm>
          <a:prstGeom prst="rightArrow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" name="Right Arrow 7"/>
          <p:cNvSpPr/>
          <p:nvPr/>
        </p:nvSpPr>
        <p:spPr>
          <a:xfrm>
            <a:off x="4758427" y="3090762"/>
            <a:ext cx="741218" cy="256313"/>
          </a:xfrm>
          <a:prstGeom prst="rightArrow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374029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304800"/>
            <a:ext cx="7924800" cy="1341120"/>
          </a:xfrm>
        </p:spPr>
        <p:txBody>
          <a:bodyPr>
            <a:normAutofit/>
          </a:bodyPr>
          <a:lstStyle/>
          <a:p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types and their representations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3"/>
          </p:nvPr>
        </p:nvSpPr>
        <p:spPr>
          <a:xfrm>
            <a:off x="228600" y="1828800"/>
            <a:ext cx="8382000" cy="4673600"/>
          </a:xfrm>
        </p:spPr>
        <p:txBody>
          <a:bodyPr>
            <a:normAutofit/>
          </a:bodyPr>
          <a:lstStyle/>
          <a:p>
            <a:r>
              <a:rPr lang="en-US" sz="2400" dirty="0">
                <a:latin typeface="Bell MT" panose="02020503060305020303" pitchFamily="18" charset="0"/>
              </a:rPr>
              <a:t>In computer science and computer programming, a data type is simply an attribute of data that tells the compiler or interpreter how the programmer intends to use the data</a:t>
            </a:r>
            <a:r>
              <a:rPr lang="en-US" sz="2400" dirty="0" smtClean="0">
                <a:latin typeface="Bell MT" panose="02020503060305020303" pitchFamily="18" charset="0"/>
              </a:rPr>
              <a:t>.</a:t>
            </a:r>
          </a:p>
          <a:p>
            <a:endParaRPr lang="en-US" sz="2400" dirty="0">
              <a:latin typeface="Bell MT" panose="02020503060305020303" pitchFamily="18" charset="0"/>
            </a:endParaRPr>
          </a:p>
          <a:p>
            <a:r>
              <a:rPr lang="en-US" sz="2400" dirty="0">
                <a:latin typeface="Bell MT" panose="02020503060305020303" pitchFamily="18" charset="0"/>
              </a:rPr>
              <a:t>A data type makes the values that expression, such as a variable or a function, might take. </a:t>
            </a:r>
            <a:endParaRPr lang="en-US" sz="2400" dirty="0" smtClean="0">
              <a:latin typeface="Bell MT" panose="02020503060305020303" pitchFamily="18" charset="0"/>
            </a:endParaRPr>
          </a:p>
          <a:p>
            <a:endParaRPr lang="en-US" sz="2400" dirty="0">
              <a:latin typeface="Bell MT" panose="02020503060305020303" pitchFamily="18" charset="0"/>
            </a:endParaRPr>
          </a:p>
          <a:p>
            <a:r>
              <a:rPr lang="en-US" sz="2400" dirty="0">
                <a:latin typeface="Bell MT" panose="02020503060305020303" pitchFamily="18" charset="0"/>
              </a:rPr>
              <a:t>This data type defines the operations that can be done on the data, the meaning of the data, and the way values of that type can be stored. </a:t>
            </a:r>
            <a:r>
              <a:rPr lang="en-US" sz="2400" dirty="0"/>
              <a:t/>
            </a:r>
            <a:br>
              <a:rPr lang="en-US" sz="2400" dirty="0"/>
            </a:b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15157286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65018" y="304800"/>
            <a:ext cx="6726382" cy="1341120"/>
          </a:xfrm>
        </p:spPr>
        <p:txBody>
          <a:bodyPr>
            <a:normAutofit/>
          </a:bodyPr>
          <a:lstStyle/>
          <a:p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types and their representations cont’d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3"/>
          </p:nvPr>
        </p:nvSpPr>
        <p:spPr>
          <a:xfrm>
            <a:off x="304800" y="1752600"/>
            <a:ext cx="8458200" cy="4495800"/>
          </a:xfrm>
        </p:spPr>
        <p:txBody>
          <a:bodyPr>
            <a:normAutofit/>
          </a:bodyPr>
          <a:lstStyle/>
          <a:p>
            <a:r>
              <a:rPr lang="en-US" sz="2400" b="1" dirty="0">
                <a:latin typeface="Bell MT" panose="02020503060305020303" pitchFamily="18" charset="0"/>
              </a:rPr>
              <a:t>Data types from computer programming perspective;</a:t>
            </a:r>
          </a:p>
          <a:p>
            <a:pPr lvl="1"/>
            <a:r>
              <a:rPr lang="en-US" sz="2400" dirty="0">
                <a:latin typeface="Bell MT" panose="02020503060305020303" pitchFamily="18" charset="0"/>
              </a:rPr>
              <a:t>Almost all programming languages explicitly include the notion of data type with different terminology. Common data types include the following;</a:t>
            </a:r>
          </a:p>
          <a:p>
            <a:pPr lvl="2"/>
            <a:r>
              <a:rPr lang="en-US" sz="2000" b="1" dirty="0">
                <a:latin typeface="Bell MT" panose="02020503060305020303" pitchFamily="18" charset="0"/>
              </a:rPr>
              <a:t>Integers(int)- </a:t>
            </a:r>
            <a:r>
              <a:rPr lang="en-US" sz="2000" dirty="0">
                <a:latin typeface="Bell MT" panose="02020503060305020303" pitchFamily="18" charset="0"/>
              </a:rPr>
              <a:t>is used to store whole numbers, mathematically known as integers</a:t>
            </a:r>
          </a:p>
          <a:p>
            <a:pPr lvl="2"/>
            <a:r>
              <a:rPr lang="en-US" sz="2000" b="1" dirty="0">
                <a:latin typeface="Bell MT" panose="02020503060305020303" pitchFamily="18" charset="0"/>
              </a:rPr>
              <a:t>Booleans(bool)- </a:t>
            </a:r>
            <a:r>
              <a:rPr lang="en-US" sz="2000" dirty="0">
                <a:latin typeface="Bell MT" panose="02020503060305020303" pitchFamily="18" charset="0"/>
              </a:rPr>
              <a:t>is used to represent restricted to one of two values: true or false</a:t>
            </a:r>
          </a:p>
          <a:p>
            <a:pPr lvl="2"/>
            <a:r>
              <a:rPr lang="en-US" sz="2000" dirty="0">
                <a:latin typeface="Bell MT" panose="02020503060305020303" pitchFamily="18" charset="0"/>
              </a:rPr>
              <a:t> </a:t>
            </a:r>
            <a:r>
              <a:rPr lang="en-US" sz="2000" b="1" dirty="0">
                <a:latin typeface="Bell MT" panose="02020503060305020303" pitchFamily="18" charset="0"/>
              </a:rPr>
              <a:t>Characters(char)- </a:t>
            </a:r>
            <a:r>
              <a:rPr lang="en-US" sz="2000" dirty="0">
                <a:latin typeface="Bell MT" panose="02020503060305020303" pitchFamily="18" charset="0"/>
              </a:rPr>
              <a:t>is used to store a single character</a:t>
            </a:r>
          </a:p>
          <a:p>
            <a:pPr lvl="2"/>
            <a:r>
              <a:rPr lang="en-US" sz="2000" b="1" dirty="0">
                <a:latin typeface="Bell MT" panose="02020503060305020303" pitchFamily="18" charset="0"/>
              </a:rPr>
              <a:t>Floating- point numbers(float)- </a:t>
            </a:r>
            <a:r>
              <a:rPr lang="en-US" sz="2000" dirty="0">
                <a:latin typeface="Bell MT" panose="02020503060305020303" pitchFamily="18" charset="0"/>
              </a:rPr>
              <a:t>is used to store real numbers</a:t>
            </a:r>
          </a:p>
          <a:p>
            <a:pPr lvl="2"/>
            <a:r>
              <a:rPr lang="en-US" sz="2000" b="1" dirty="0">
                <a:latin typeface="Bell MT" panose="02020503060305020303" pitchFamily="18" charset="0"/>
              </a:rPr>
              <a:t>Alphanumeric strings+(string)- </a:t>
            </a:r>
            <a:r>
              <a:rPr lang="en-US" sz="2000" dirty="0">
                <a:latin typeface="Bell MT" panose="02020503060305020303" pitchFamily="18" charset="0"/>
              </a:rPr>
              <a:t>used to store a combination of characters and numbers </a:t>
            </a:r>
            <a:r>
              <a:rPr lang="en-US" dirty="0"/>
              <a:t/>
            </a:r>
            <a:br>
              <a:rPr lang="en-US" dirty="0"/>
            </a:br>
            <a:r>
              <a:rPr lang="en-US" dirty="0"/>
              <a:t/>
            </a:r>
            <a:br>
              <a:rPr lang="en-US" dirty="0"/>
            </a:b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140895007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3442" y="66040"/>
            <a:ext cx="7135091" cy="1341120"/>
          </a:xfrm>
        </p:spPr>
        <p:txBody>
          <a:bodyPr>
            <a:normAutofit/>
          </a:bodyPr>
          <a:lstStyle/>
          <a:p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types and their representations cont’d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3"/>
          </p:nvPr>
        </p:nvSpPr>
        <p:spPr>
          <a:xfrm>
            <a:off x="320722" y="1390100"/>
            <a:ext cx="8382000" cy="5323840"/>
          </a:xfrm>
        </p:spPr>
        <p:txBody>
          <a:bodyPr>
            <a:normAutofit/>
          </a:bodyPr>
          <a:lstStyle/>
          <a:p>
            <a:r>
              <a:rPr lang="en-US" sz="2400" b="1" dirty="0">
                <a:latin typeface="Bell MT" panose="02020503060305020303" pitchFamily="18" charset="0"/>
              </a:rPr>
              <a:t>Data types from data analytics perspective:</a:t>
            </a:r>
          </a:p>
          <a:p>
            <a:r>
              <a:rPr lang="en-US" sz="2400" dirty="0">
                <a:latin typeface="Bell MT" panose="02020503060305020303" pitchFamily="18" charset="0"/>
              </a:rPr>
              <a:t>From data analytics perspective there are</a:t>
            </a:r>
            <a:r>
              <a:rPr lang="en-US" sz="2400" b="1" dirty="0">
                <a:latin typeface="Bell MT" panose="02020503060305020303" pitchFamily="18" charset="0"/>
              </a:rPr>
              <a:t> three </a:t>
            </a:r>
            <a:r>
              <a:rPr lang="en-US" sz="2400" dirty="0">
                <a:latin typeface="Bell MT" panose="02020503060305020303" pitchFamily="18" charset="0"/>
              </a:rPr>
              <a:t>common types of data types or structures: Structured, Semi-structured, and Unstructured data types.</a:t>
            </a:r>
          </a:p>
          <a:p>
            <a:endParaRPr lang="en-US" sz="2000" dirty="0"/>
          </a:p>
          <a:p>
            <a:endParaRPr lang="en-US" sz="2000" dirty="0"/>
          </a:p>
          <a:p>
            <a:endParaRPr lang="en-US" sz="2000" dirty="0"/>
          </a:p>
          <a:p>
            <a:endParaRPr lang="en-US" sz="2000" dirty="0"/>
          </a:p>
          <a:p>
            <a:pPr marL="0" indent="0">
              <a:buNone/>
            </a:pPr>
            <a:r>
              <a:rPr lang="en-US" sz="2000" dirty="0"/>
              <a:t>                      </a:t>
            </a:r>
          </a:p>
          <a:p>
            <a:pPr marL="0" indent="0">
              <a:buNone/>
            </a:pPr>
            <a:r>
              <a:rPr lang="en-US" sz="2000" dirty="0">
                <a:latin typeface="Bell MT" panose="02020503060305020303" pitchFamily="18" charset="0"/>
              </a:rPr>
              <a:t>               </a:t>
            </a:r>
            <a:endParaRPr lang="en-US" sz="2000" dirty="0" smtClean="0">
              <a:latin typeface="Bell MT" panose="02020503060305020303" pitchFamily="18" charset="0"/>
            </a:endParaRPr>
          </a:p>
          <a:p>
            <a:pPr marL="0" indent="0">
              <a:buNone/>
            </a:pPr>
            <a:r>
              <a:rPr lang="en-US" sz="2000" dirty="0" smtClean="0">
                <a:latin typeface="Bell MT" panose="02020503060305020303" pitchFamily="18" charset="0"/>
              </a:rPr>
              <a:t>                                 </a:t>
            </a:r>
            <a:r>
              <a:rPr lang="en-US" sz="2000" dirty="0">
                <a:latin typeface="Bell MT" panose="02020503060305020303" pitchFamily="18" charset="0"/>
              </a:rPr>
              <a:t>Data types from data analytics perspective</a:t>
            </a:r>
            <a:r>
              <a:rPr lang="en-US" sz="2000" dirty="0"/>
              <a:t/>
            </a:r>
            <a:br>
              <a:rPr lang="en-US" sz="2000" dirty="0"/>
            </a:br>
            <a:r>
              <a:rPr lang="en-US" sz="2000" dirty="0"/>
              <a:t/>
            </a:r>
            <a:br>
              <a:rPr lang="en-US" sz="2000" dirty="0"/>
            </a:br>
            <a:r>
              <a:rPr lang="en-US" dirty="0"/>
              <a:t/>
            </a:r>
            <a:br>
              <a:rPr lang="en-US" dirty="0"/>
            </a:br>
            <a:endParaRPr lang="en-US" b="1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226" y="3048000"/>
            <a:ext cx="8245521" cy="2133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07039488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6529" y="462280"/>
            <a:ext cx="7841671" cy="985520"/>
          </a:xfrm>
        </p:spPr>
        <p:txBody>
          <a:bodyPr>
            <a:normAutofit/>
          </a:bodyPr>
          <a:lstStyle/>
          <a:p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types from data analytics perspective cont’d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3"/>
          </p:nvPr>
        </p:nvSpPr>
        <p:spPr>
          <a:xfrm>
            <a:off x="346364" y="1524000"/>
            <a:ext cx="8382000" cy="5257800"/>
          </a:xfrm>
        </p:spPr>
        <p:txBody>
          <a:bodyPr>
            <a:noAutofit/>
          </a:bodyPr>
          <a:lstStyle/>
          <a:p>
            <a:r>
              <a:rPr lang="en-US" sz="2400" b="1" dirty="0">
                <a:latin typeface="Bell MT" panose="02020503060305020303" pitchFamily="18" charset="0"/>
              </a:rPr>
              <a:t>Structured data:-</a:t>
            </a:r>
          </a:p>
          <a:p>
            <a:pPr lvl="1"/>
            <a:r>
              <a:rPr lang="en-US" sz="2400" dirty="0">
                <a:latin typeface="Bell MT" panose="02020503060305020303" pitchFamily="18" charset="0"/>
              </a:rPr>
              <a:t>Structured data is data that adheres to a pre-defined data model and is therefore straightforward to analyze.</a:t>
            </a:r>
          </a:p>
          <a:p>
            <a:pPr lvl="1"/>
            <a:r>
              <a:rPr lang="en-US" sz="2400" dirty="0">
                <a:latin typeface="Bell MT" panose="02020503060305020303" pitchFamily="18" charset="0"/>
              </a:rPr>
              <a:t>It conforms to a tabular format with a relationship between the different rows and columns</a:t>
            </a:r>
          </a:p>
          <a:p>
            <a:pPr lvl="2"/>
            <a:r>
              <a:rPr lang="en-US" sz="2400" dirty="0">
                <a:latin typeface="Bell MT" panose="02020503060305020303" pitchFamily="18" charset="0"/>
              </a:rPr>
              <a:t>E.g. </a:t>
            </a:r>
            <a:r>
              <a:rPr lang="en-US" sz="2400" b="1" dirty="0">
                <a:latin typeface="Bell MT" panose="02020503060305020303" pitchFamily="18" charset="0"/>
              </a:rPr>
              <a:t>Excel </a:t>
            </a:r>
            <a:r>
              <a:rPr lang="en-US" sz="2400" b="1" dirty="0" smtClean="0">
                <a:latin typeface="Bell MT" panose="02020503060305020303" pitchFamily="18" charset="0"/>
              </a:rPr>
              <a:t>files, </a:t>
            </a:r>
            <a:r>
              <a:rPr lang="en-US" sz="2400" b="1" dirty="0">
                <a:latin typeface="Bell MT" panose="02020503060305020303" pitchFamily="18" charset="0"/>
              </a:rPr>
              <a:t>SQL databases</a:t>
            </a:r>
          </a:p>
          <a:p>
            <a:r>
              <a:rPr lang="en-US" sz="2400" b="1" dirty="0">
                <a:latin typeface="Bell MT" panose="02020503060305020303" pitchFamily="18" charset="0"/>
              </a:rPr>
              <a:t>Semi structured data :-</a:t>
            </a:r>
          </a:p>
          <a:p>
            <a:pPr lvl="1"/>
            <a:r>
              <a:rPr lang="en-US" sz="2400" dirty="0">
                <a:latin typeface="Bell MT" panose="02020503060305020303" pitchFamily="18" charset="0"/>
              </a:rPr>
              <a:t>Semi-structured data is a form of structured data that does not conform with the formal </a:t>
            </a:r>
            <a:r>
              <a:rPr lang="en-US" sz="2400" dirty="0" smtClean="0">
                <a:latin typeface="Bell MT" panose="02020503060305020303" pitchFamily="18" charset="0"/>
              </a:rPr>
              <a:t>structure of </a:t>
            </a:r>
            <a:r>
              <a:rPr lang="en-US" sz="2400" dirty="0">
                <a:latin typeface="Bell MT" panose="02020503060305020303" pitchFamily="18" charset="0"/>
              </a:rPr>
              <a:t>data models associated with relational databases .</a:t>
            </a:r>
          </a:p>
          <a:p>
            <a:pPr lvl="1"/>
            <a:r>
              <a:rPr lang="en-US" sz="2400" dirty="0">
                <a:latin typeface="Bell MT" panose="02020503060305020303" pitchFamily="18" charset="0"/>
              </a:rPr>
              <a:t>Contains  tags or other markers to separate semantic elements and enforce hierarchies of </a:t>
            </a:r>
            <a:r>
              <a:rPr lang="en-US" sz="2400" dirty="0" smtClean="0">
                <a:latin typeface="Bell MT" panose="02020503060305020303" pitchFamily="18" charset="0"/>
              </a:rPr>
              <a:t>records and </a:t>
            </a:r>
            <a:r>
              <a:rPr lang="en-US" sz="2400" dirty="0">
                <a:latin typeface="Bell MT" panose="02020503060305020303" pitchFamily="18" charset="0"/>
              </a:rPr>
              <a:t>fields within the data </a:t>
            </a:r>
          </a:p>
          <a:p>
            <a:pPr lvl="2"/>
            <a:r>
              <a:rPr lang="en-US" sz="2400" dirty="0">
                <a:latin typeface="Bell MT" panose="02020503060305020303" pitchFamily="18" charset="0"/>
              </a:rPr>
              <a:t>E.g. </a:t>
            </a:r>
            <a:r>
              <a:rPr lang="en-US" sz="2400" b="1" dirty="0">
                <a:latin typeface="Bell MT" panose="02020503060305020303" pitchFamily="18" charset="0"/>
              </a:rPr>
              <a:t>JSON and XML</a:t>
            </a:r>
            <a:r>
              <a:rPr lang="en-US" sz="2400" dirty="0">
                <a:latin typeface="Bell MT" panose="02020503060305020303" pitchFamily="18" charset="0"/>
              </a:rPr>
              <a:t/>
            </a:r>
            <a:br>
              <a:rPr lang="en-US" sz="2400" dirty="0">
                <a:latin typeface="Bell MT" panose="02020503060305020303" pitchFamily="18" charset="0"/>
              </a:rPr>
            </a:br>
            <a:r>
              <a:rPr lang="en-US" sz="2400" dirty="0">
                <a:latin typeface="Bell MT" panose="02020503060305020303" pitchFamily="18" charset="0"/>
              </a:rPr>
              <a:t/>
            </a:r>
            <a:br>
              <a:rPr lang="en-US" sz="2400" dirty="0">
                <a:latin typeface="Bell MT" panose="02020503060305020303" pitchFamily="18" charset="0"/>
              </a:rPr>
            </a:br>
            <a:endParaRPr lang="en-US" sz="2400" dirty="0">
              <a:latin typeface="Bell MT" panose="02020503060305020303" pitchFamily="18" charset="0"/>
            </a:endParaRPr>
          </a:p>
          <a:p>
            <a:pPr marL="0" indent="0">
              <a:buNone/>
            </a:pPr>
            <a:endParaRPr lang="en-US" sz="2400" b="1" dirty="0"/>
          </a:p>
          <a:p>
            <a:endParaRPr lang="en-US" sz="2400" dirty="0"/>
          </a:p>
          <a:p>
            <a:pPr marL="0" indent="0">
              <a:buNone/>
            </a:pP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/>
              <a:t/>
            </a:r>
            <a:br>
              <a:rPr lang="en-US" sz="2400" dirty="0"/>
            </a:br>
            <a:endParaRPr lang="en-US" sz="2400" b="1" dirty="0"/>
          </a:p>
        </p:txBody>
      </p:sp>
    </p:spTree>
    <p:extLst>
      <p:ext uri="{BB962C8B-B14F-4D97-AF65-F5344CB8AC3E}">
        <p14:creationId xmlns:p14="http://schemas.microsoft.com/office/powerpoint/2010/main" val="14654370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228600"/>
            <a:ext cx="8153400" cy="1722120"/>
          </a:xfrm>
        </p:spPr>
        <p:txBody>
          <a:bodyPr>
            <a:normAutofit/>
          </a:bodyPr>
          <a:lstStyle/>
          <a:p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types from data analytics </a:t>
            </a:r>
            <a:r>
              <a:rPr lang="en-US" sz="2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perspective cont’d </a:t>
            </a:r>
            <a:endParaRPr lang="en-US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sz="quarter" idx="13"/>
          </p:nvPr>
        </p:nvSpPr>
        <p:spPr>
          <a:xfrm>
            <a:off x="457200" y="1600200"/>
            <a:ext cx="8382000" cy="5105400"/>
          </a:xfrm>
        </p:spPr>
        <p:txBody>
          <a:bodyPr>
            <a:noAutofit/>
          </a:bodyPr>
          <a:lstStyle/>
          <a:p>
            <a:r>
              <a:rPr lang="en-US" sz="2400" b="1" dirty="0">
                <a:latin typeface="Bell MT" panose="02020503060305020303" pitchFamily="18" charset="0"/>
              </a:rPr>
              <a:t>Unstructured data:-</a:t>
            </a:r>
          </a:p>
          <a:p>
            <a:pPr lvl="1"/>
            <a:r>
              <a:rPr lang="en-US" sz="2400" dirty="0">
                <a:latin typeface="Bell MT" panose="02020503060305020303" pitchFamily="18" charset="0"/>
              </a:rPr>
              <a:t>Unstructured data is information that either does not have a predefined data model or is not organized in a pre-defined manner.</a:t>
            </a:r>
          </a:p>
          <a:p>
            <a:pPr lvl="1"/>
            <a:r>
              <a:rPr lang="en-US" sz="2400" dirty="0">
                <a:latin typeface="Bell MT" panose="02020503060305020303" pitchFamily="18" charset="0"/>
              </a:rPr>
              <a:t>Usually it is typically text-heavy but may contain data such as dates, numbers, and facts as well </a:t>
            </a:r>
          </a:p>
          <a:p>
            <a:pPr lvl="2"/>
            <a:r>
              <a:rPr lang="en-US" sz="2400" dirty="0">
                <a:latin typeface="Bell MT" panose="02020503060305020303" pitchFamily="18" charset="0"/>
              </a:rPr>
              <a:t>E.g. audio, video files or NoSQL databases </a:t>
            </a:r>
          </a:p>
          <a:p>
            <a:r>
              <a:rPr lang="en-US" sz="2400" b="1" dirty="0">
                <a:latin typeface="Bell MT" panose="02020503060305020303" pitchFamily="18" charset="0"/>
              </a:rPr>
              <a:t>Metadata :-</a:t>
            </a:r>
          </a:p>
          <a:p>
            <a:pPr lvl="1"/>
            <a:r>
              <a:rPr lang="en-US" sz="2400" dirty="0">
                <a:latin typeface="Bell MT" panose="02020503060305020303" pitchFamily="18" charset="0"/>
              </a:rPr>
              <a:t>Technically metadata is not a separate data structure, but it is one of the most important elements for Big </a:t>
            </a:r>
            <a:r>
              <a:rPr lang="en-US" sz="2400" dirty="0" smtClean="0">
                <a:latin typeface="Bell MT" panose="02020503060305020303" pitchFamily="18" charset="0"/>
              </a:rPr>
              <a:t>data </a:t>
            </a:r>
            <a:r>
              <a:rPr lang="en-US" sz="2400" dirty="0">
                <a:latin typeface="Bell MT" panose="02020503060305020303" pitchFamily="18" charset="0"/>
              </a:rPr>
              <a:t>analysis </a:t>
            </a:r>
            <a:r>
              <a:rPr lang="en-US" sz="2400" dirty="0" smtClean="0">
                <a:latin typeface="Bell MT" panose="02020503060305020303" pitchFamily="18" charset="0"/>
              </a:rPr>
              <a:t>and </a:t>
            </a:r>
            <a:r>
              <a:rPr lang="en-US" sz="2400" dirty="0">
                <a:latin typeface="Bell MT" panose="02020503060305020303" pitchFamily="18" charset="0"/>
              </a:rPr>
              <a:t>solutions. </a:t>
            </a:r>
          </a:p>
          <a:p>
            <a:pPr lvl="1"/>
            <a:r>
              <a:rPr lang="en-US" sz="2400" dirty="0">
                <a:latin typeface="Bell MT" panose="02020503060305020303" pitchFamily="18" charset="0"/>
              </a:rPr>
              <a:t>It provides additional information about a specific set of data; conveniently it can be said data about data</a:t>
            </a:r>
          </a:p>
          <a:p>
            <a:pPr lvl="2"/>
            <a:r>
              <a:rPr lang="en-US" sz="2400" dirty="0">
                <a:latin typeface="Bell MT" panose="02020503060305020303" pitchFamily="18" charset="0"/>
              </a:rPr>
              <a:t>E.g. Date and location of a photograph </a:t>
            </a:r>
          </a:p>
          <a:p>
            <a:endParaRPr lang="en-US" sz="2400" dirty="0">
              <a:latin typeface="Bell MT" panose="02020503060305020303" pitchFamily="18" charset="0"/>
            </a:endParaRPr>
          </a:p>
          <a:p>
            <a:pPr marL="0" indent="0">
              <a:buNone/>
            </a:pP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/>
              <a:t/>
            </a:r>
            <a:br>
              <a:rPr lang="en-US" sz="2400" dirty="0"/>
            </a:br>
            <a:endParaRPr lang="en-US" sz="2400" b="1" dirty="0"/>
          </a:p>
        </p:txBody>
      </p:sp>
    </p:spTree>
    <p:extLst>
      <p:ext uri="{BB962C8B-B14F-4D97-AF65-F5344CB8AC3E}">
        <p14:creationId xmlns:p14="http://schemas.microsoft.com/office/powerpoint/2010/main" val="427795318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380999"/>
            <a:ext cx="7924800" cy="838201"/>
          </a:xfrm>
        </p:spPr>
        <p:txBody>
          <a:bodyPr>
            <a:noAutofit/>
          </a:bodyPr>
          <a:lstStyle/>
          <a:p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value Chain 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sz="quarter" idx="13"/>
          </p:nvPr>
        </p:nvSpPr>
        <p:spPr>
          <a:xfrm>
            <a:off x="304800" y="1219200"/>
            <a:ext cx="8362951" cy="5486400"/>
          </a:xfrm>
        </p:spPr>
        <p:txBody>
          <a:bodyPr>
            <a:normAutofit/>
          </a:bodyPr>
          <a:lstStyle/>
          <a:p>
            <a:r>
              <a:rPr lang="en-US" sz="2400" dirty="0">
                <a:latin typeface="Bell MT" panose="02020503060305020303" pitchFamily="18" charset="0"/>
              </a:rPr>
              <a:t>Data Value Chain describes the information flow within a big data system as a series of steps needed to generate value and useful insights from data.</a:t>
            </a:r>
          </a:p>
          <a:p>
            <a:r>
              <a:rPr lang="en-US" sz="2400" dirty="0">
                <a:latin typeface="Bell MT" panose="02020503060305020303" pitchFamily="18" charset="0"/>
              </a:rPr>
              <a:t>It identifies the following key high-level  activities:-</a:t>
            </a: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/>
              <a:t/>
            </a:r>
            <a:br>
              <a:rPr lang="en-US" sz="2400" dirty="0"/>
            </a:br>
            <a:endParaRPr lang="en-US" sz="2400" b="1" dirty="0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8637" y="2895600"/>
            <a:ext cx="7915275" cy="3048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55678142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533400"/>
            <a:ext cx="7924800" cy="762000"/>
          </a:xfrm>
        </p:spPr>
        <p:txBody>
          <a:bodyPr>
            <a:noAutofit/>
          </a:bodyPr>
          <a:lstStyle/>
          <a:p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Acquisition  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sz="quarter" idx="13"/>
          </p:nvPr>
        </p:nvSpPr>
        <p:spPr>
          <a:xfrm>
            <a:off x="381000" y="1313597"/>
            <a:ext cx="8382000" cy="4673600"/>
          </a:xfrm>
        </p:spPr>
        <p:txBody>
          <a:bodyPr>
            <a:normAutofit/>
          </a:bodyPr>
          <a:lstStyle/>
          <a:p>
            <a:r>
              <a:rPr lang="en-US" sz="2400" b="1" dirty="0">
                <a:latin typeface="Bell MT" panose="02020503060305020303" pitchFamily="18" charset="0"/>
              </a:rPr>
              <a:t>Data acquisition </a:t>
            </a:r>
            <a:r>
              <a:rPr lang="en-US" sz="2400" dirty="0">
                <a:latin typeface="Bell MT" panose="02020503060305020303" pitchFamily="18" charset="0"/>
              </a:rPr>
              <a:t>is the process of gathering, filtering, and cleaning data before it is put in a data warehouse or any other storage solution on which data analysis can be carried out.</a:t>
            </a:r>
          </a:p>
          <a:p>
            <a:r>
              <a:rPr lang="en-US" sz="2400" dirty="0">
                <a:latin typeface="Bell MT" panose="02020503060305020303" pitchFamily="18" charset="0"/>
              </a:rPr>
              <a:t>The infrastructure required for big data acquisition must deliver low, predictable latency in both capturing data and in executing queries.</a:t>
            </a:r>
          </a:p>
          <a:p>
            <a:r>
              <a:rPr lang="en-US" sz="2400" dirty="0">
                <a:latin typeface="Bell MT" panose="02020503060305020303" pitchFamily="18" charset="0"/>
              </a:rPr>
              <a:t>Moreover, the infrastructure handle very high transaction volumes, often in a distributed environment; and support flexible and dynamic </a:t>
            </a:r>
            <a:r>
              <a:rPr lang="en-US" sz="2400" dirty="0" smtClean="0">
                <a:latin typeface="Bell MT" panose="02020503060305020303" pitchFamily="18" charset="0"/>
              </a:rPr>
              <a:t>data structures</a:t>
            </a:r>
            <a:r>
              <a:rPr lang="en-US" sz="2400" dirty="0">
                <a:latin typeface="Bell MT" panose="02020503060305020303" pitchFamily="18" charset="0"/>
              </a:rPr>
              <a:t>. </a:t>
            </a:r>
          </a:p>
          <a:p>
            <a:r>
              <a:rPr lang="en-US" sz="2400" dirty="0">
                <a:latin typeface="Bell MT" panose="02020503060305020303" pitchFamily="18" charset="0"/>
              </a:rPr>
              <a:t>Data acquisition is major challenges in big data because of it’s high-end infrastructure requirement. </a:t>
            </a:r>
            <a:br>
              <a:rPr lang="en-US" sz="2400" dirty="0">
                <a:latin typeface="Bell MT" panose="02020503060305020303" pitchFamily="18" charset="0"/>
              </a:rPr>
            </a:br>
            <a:endParaRPr lang="en-US" sz="2400" b="1" dirty="0">
              <a:latin typeface="Bell MT" panose="02020503060305020303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774087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609600"/>
            <a:ext cx="7924800" cy="914400"/>
          </a:xfrm>
        </p:spPr>
        <p:txBody>
          <a:bodyPr>
            <a:normAutofit/>
          </a:bodyPr>
          <a:lstStyle/>
          <a:p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Analysis 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sz="quarter" idx="13"/>
          </p:nvPr>
        </p:nvSpPr>
        <p:spPr>
          <a:xfrm>
            <a:off x="457201" y="1524000"/>
            <a:ext cx="8382000" cy="4800600"/>
          </a:xfrm>
        </p:spPr>
        <p:txBody>
          <a:bodyPr>
            <a:normAutofit/>
          </a:bodyPr>
          <a:lstStyle/>
          <a:p>
            <a:r>
              <a:rPr lang="en-US" sz="2400" b="1" dirty="0">
                <a:latin typeface="Bell MT" panose="02020503060305020303" pitchFamily="18" charset="0"/>
              </a:rPr>
              <a:t>Data analysis </a:t>
            </a:r>
            <a:r>
              <a:rPr lang="en-US" sz="2400" dirty="0">
                <a:latin typeface="Bell MT" panose="02020503060305020303" pitchFamily="18" charset="0"/>
              </a:rPr>
              <a:t>involves exploring, transforming, and modeling data with the goal of highlighting relevant data, synthesizing and extracting useful hidden information with high potential from a business point of view</a:t>
            </a:r>
            <a:r>
              <a:rPr lang="en-US" sz="2400" dirty="0" smtClean="0">
                <a:latin typeface="Bell MT" panose="02020503060305020303" pitchFamily="18" charset="0"/>
              </a:rPr>
              <a:t>.</a:t>
            </a:r>
          </a:p>
          <a:p>
            <a:endParaRPr lang="en-US" sz="2400" dirty="0">
              <a:latin typeface="Bell MT" panose="02020503060305020303" pitchFamily="18" charset="0"/>
            </a:endParaRPr>
          </a:p>
          <a:p>
            <a:r>
              <a:rPr lang="en-US" sz="2400" dirty="0">
                <a:latin typeface="Bell MT" panose="02020503060305020303" pitchFamily="18" charset="0"/>
              </a:rPr>
              <a:t>It also deals with making the raw data acquired amenable to use in decision making process</a:t>
            </a:r>
          </a:p>
          <a:p>
            <a:pPr marL="0" indent="0">
              <a:buNone/>
            </a:pPr>
            <a:r>
              <a:rPr lang="en-US" sz="2400" dirty="0"/>
              <a:t> </a:t>
            </a:r>
            <a:br>
              <a:rPr lang="en-US" sz="2400" dirty="0"/>
            </a:br>
            <a:r>
              <a:rPr lang="en-US" sz="2400" dirty="0"/>
              <a:t> </a:t>
            </a:r>
            <a:br>
              <a:rPr lang="en-US" sz="2400" dirty="0"/>
            </a:br>
            <a:endParaRPr lang="en-US" sz="2400" b="1" dirty="0"/>
          </a:p>
        </p:txBody>
      </p:sp>
    </p:spTree>
    <p:extLst>
      <p:ext uri="{BB962C8B-B14F-4D97-AF65-F5344CB8AC3E}">
        <p14:creationId xmlns:p14="http://schemas.microsoft.com/office/powerpoint/2010/main" val="212355459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609600"/>
            <a:ext cx="7924800" cy="1066800"/>
          </a:xfrm>
        </p:spPr>
        <p:txBody>
          <a:bodyPr>
            <a:normAutofit/>
          </a:bodyPr>
          <a:lstStyle/>
          <a:p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Curation  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sz="quarter" idx="13"/>
          </p:nvPr>
        </p:nvSpPr>
        <p:spPr>
          <a:xfrm>
            <a:off x="457200" y="1676401"/>
            <a:ext cx="8382000" cy="4724400"/>
          </a:xfrm>
        </p:spPr>
        <p:txBody>
          <a:bodyPr>
            <a:normAutofit fontScale="92500" lnSpcReduction="10000"/>
          </a:bodyPr>
          <a:lstStyle/>
          <a:p>
            <a:pPr algn="just"/>
            <a:r>
              <a:rPr lang="en-US" sz="2600" b="1" dirty="0">
                <a:latin typeface="Bell MT" panose="02020503060305020303" pitchFamily="18" charset="0"/>
              </a:rPr>
              <a:t>Data curation </a:t>
            </a:r>
            <a:r>
              <a:rPr lang="en-US" sz="2600" dirty="0" smtClean="0">
                <a:latin typeface="Bell MT" panose="02020503060305020303" pitchFamily="18" charset="0"/>
              </a:rPr>
              <a:t>is an active </a:t>
            </a:r>
            <a:r>
              <a:rPr lang="en-US" sz="2600" dirty="0">
                <a:latin typeface="Bell MT" panose="02020503060305020303" pitchFamily="18" charset="0"/>
              </a:rPr>
              <a:t>management of data over its life cycle to ensure it meets the necessary data quality requirements for its effective usage.</a:t>
            </a:r>
          </a:p>
          <a:p>
            <a:pPr lvl="1" algn="just"/>
            <a:r>
              <a:rPr lang="en-US" sz="2600" dirty="0">
                <a:latin typeface="Bell MT" panose="02020503060305020303" pitchFamily="18" charset="0"/>
              </a:rPr>
              <a:t>It’s process can be categorized into different activities such as content creation, selection, classification, transformation, validation, and preservation.  </a:t>
            </a:r>
          </a:p>
          <a:p>
            <a:pPr lvl="1" algn="just"/>
            <a:r>
              <a:rPr lang="en-US" sz="2600" dirty="0">
                <a:latin typeface="Bell MT" panose="02020503060305020303" pitchFamily="18" charset="0"/>
              </a:rPr>
              <a:t>Data curation is performed by expert </a:t>
            </a:r>
            <a:r>
              <a:rPr lang="en-US" sz="2600" dirty="0" smtClean="0">
                <a:latin typeface="Bell MT" panose="02020503060305020303" pitchFamily="18" charset="0"/>
              </a:rPr>
              <a:t>curators or annotators </a:t>
            </a:r>
            <a:r>
              <a:rPr lang="en-US" sz="2600" dirty="0">
                <a:latin typeface="Bell MT" panose="02020503060305020303" pitchFamily="18" charset="0"/>
              </a:rPr>
              <a:t>that are responsible for improving the accessibility and quality of data.</a:t>
            </a:r>
          </a:p>
          <a:p>
            <a:pPr marL="402336" lvl="1" indent="0">
              <a:buNone/>
            </a:pPr>
            <a:r>
              <a:rPr lang="en-US" sz="1800" dirty="0"/>
              <a:t/>
            </a:r>
            <a:br>
              <a:rPr lang="en-US" sz="1800" dirty="0"/>
            </a:br>
            <a:r>
              <a:rPr lang="en-US" sz="1800" dirty="0"/>
              <a:t/>
            </a:r>
            <a:br>
              <a:rPr lang="en-US" sz="1800" dirty="0"/>
            </a:br>
            <a:r>
              <a:rPr lang="en-US" sz="1800" dirty="0"/>
              <a:t/>
            </a:r>
            <a:br>
              <a:rPr lang="en-US" sz="1800" dirty="0"/>
            </a:br>
            <a:r>
              <a:rPr lang="en-US" sz="1800" dirty="0"/>
              <a:t> </a:t>
            </a:r>
            <a:br>
              <a:rPr lang="en-US" sz="1800" dirty="0"/>
            </a:br>
            <a:endParaRPr lang="en-US" sz="1800" dirty="0"/>
          </a:p>
          <a:p>
            <a:pPr marL="0" indent="0">
              <a:buNone/>
            </a:pPr>
            <a:r>
              <a:rPr lang="en-US" sz="2000" dirty="0"/>
              <a:t> </a:t>
            </a:r>
            <a:br>
              <a:rPr lang="en-US" sz="2000" dirty="0"/>
            </a:br>
            <a:r>
              <a:rPr lang="en-US" sz="2000" dirty="0"/>
              <a:t> </a:t>
            </a:r>
            <a:br>
              <a:rPr lang="en-US" sz="2000" dirty="0"/>
            </a:br>
            <a:endParaRPr lang="en-US" sz="2000" b="1" dirty="0"/>
          </a:p>
        </p:txBody>
      </p:sp>
    </p:spTree>
    <p:extLst>
      <p:ext uri="{BB962C8B-B14F-4D97-AF65-F5344CB8AC3E}">
        <p14:creationId xmlns:p14="http://schemas.microsoft.com/office/powerpoint/2010/main" val="240172355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609600"/>
            <a:ext cx="7924800" cy="914400"/>
          </a:xfrm>
        </p:spPr>
        <p:txBody>
          <a:bodyPr>
            <a:normAutofit/>
          </a:bodyPr>
          <a:lstStyle/>
          <a:p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Storage 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sz="quarter" idx="13"/>
          </p:nvPr>
        </p:nvSpPr>
        <p:spPr>
          <a:xfrm>
            <a:off x="228600" y="1542197"/>
            <a:ext cx="8382000" cy="4673600"/>
          </a:xfrm>
        </p:spPr>
        <p:txBody>
          <a:bodyPr>
            <a:normAutofit/>
          </a:bodyPr>
          <a:lstStyle/>
          <a:p>
            <a:r>
              <a:rPr lang="en-US" sz="2400" b="1" dirty="0">
                <a:latin typeface="Bell MT" panose="02020503060305020303" pitchFamily="18" charset="0"/>
              </a:rPr>
              <a:t>Data storage </a:t>
            </a:r>
            <a:r>
              <a:rPr lang="en-US" sz="2400" dirty="0">
                <a:latin typeface="Bell MT" panose="02020503060305020303" pitchFamily="18" charset="0"/>
              </a:rPr>
              <a:t>is the persistence and management of data in a scalable way that satisfies the needs of applications that require fast access to the data</a:t>
            </a:r>
            <a:r>
              <a:rPr lang="en-US" sz="2400" dirty="0" smtClean="0">
                <a:latin typeface="Bell MT" panose="02020503060305020303" pitchFamily="18" charset="0"/>
              </a:rPr>
              <a:t>.</a:t>
            </a:r>
          </a:p>
          <a:p>
            <a:endParaRPr lang="en-US" sz="2400" dirty="0">
              <a:latin typeface="Bell MT" panose="02020503060305020303" pitchFamily="18" charset="0"/>
            </a:endParaRPr>
          </a:p>
          <a:p>
            <a:r>
              <a:rPr lang="en-US" sz="2400" dirty="0">
                <a:latin typeface="Bell MT" panose="02020503060305020303" pitchFamily="18" charset="0"/>
              </a:rPr>
              <a:t>Relational database system has been used as a storage paradigm for over 40 years</a:t>
            </a:r>
            <a:r>
              <a:rPr lang="en-US" sz="2400" dirty="0" smtClean="0">
                <a:latin typeface="Bell MT" panose="02020503060305020303" pitchFamily="18" charset="0"/>
              </a:rPr>
              <a:t>.</a:t>
            </a:r>
          </a:p>
          <a:p>
            <a:endParaRPr lang="en-US" sz="2400" dirty="0">
              <a:latin typeface="Bell MT" panose="02020503060305020303" pitchFamily="18" charset="0"/>
            </a:endParaRPr>
          </a:p>
          <a:p>
            <a:r>
              <a:rPr lang="en-US" sz="2400" dirty="0">
                <a:latin typeface="Bell MT" panose="02020503060305020303" pitchFamily="18" charset="0"/>
              </a:rPr>
              <a:t>Following the volume and complexity of data recently highly scalable NoSQL technologies is applied for big data storage model.</a:t>
            </a:r>
          </a:p>
          <a:p>
            <a:pPr marL="0" indent="0">
              <a:buNone/>
            </a:pPr>
            <a:r>
              <a:rPr lang="en-US" sz="2400" dirty="0">
                <a:latin typeface="Bell MT" panose="02020503060305020303" pitchFamily="18" charset="0"/>
              </a:rPr>
              <a:t/>
            </a:r>
            <a:br>
              <a:rPr lang="en-US" sz="2400" dirty="0">
                <a:latin typeface="Bell MT" panose="02020503060305020303" pitchFamily="18" charset="0"/>
              </a:rPr>
            </a:br>
            <a:endParaRPr lang="en-US" sz="2400" b="1" dirty="0">
              <a:latin typeface="Bell MT" panose="02020503060305020303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445596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609600"/>
            <a:ext cx="7924800" cy="1341120"/>
          </a:xfrm>
        </p:spPr>
        <p:txBody>
          <a:bodyPr>
            <a:normAutofit/>
          </a:bodyPr>
          <a:lstStyle/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Usage 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sz="quarter" idx="13"/>
          </p:nvPr>
        </p:nvSpPr>
        <p:spPr>
          <a:xfrm>
            <a:off x="228600" y="1676400"/>
            <a:ext cx="8382000" cy="4673600"/>
          </a:xfrm>
        </p:spPr>
        <p:txBody>
          <a:bodyPr>
            <a:normAutofit/>
          </a:bodyPr>
          <a:lstStyle/>
          <a:p>
            <a:r>
              <a:rPr lang="en-US" sz="2400" b="1" dirty="0">
                <a:latin typeface="Bell MT" panose="02020503060305020303" pitchFamily="18" charset="0"/>
              </a:rPr>
              <a:t>Data usage</a:t>
            </a:r>
            <a:r>
              <a:rPr lang="en-US" sz="2400" dirty="0">
                <a:latin typeface="Bell MT" panose="02020503060305020303" pitchFamily="18" charset="0"/>
              </a:rPr>
              <a:t> covers the data-driven business activities that need access to data, its analysis, and the tools needed to integrate the data analysis within the business activity</a:t>
            </a:r>
            <a:r>
              <a:rPr lang="en-US" sz="2400" dirty="0" smtClean="0">
                <a:latin typeface="Bell MT" panose="02020503060305020303" pitchFamily="18" charset="0"/>
              </a:rPr>
              <a:t>.</a:t>
            </a:r>
          </a:p>
          <a:p>
            <a:endParaRPr lang="en-US" sz="2400" dirty="0">
              <a:latin typeface="Bell MT" panose="02020503060305020303" pitchFamily="18" charset="0"/>
            </a:endParaRPr>
          </a:p>
          <a:p>
            <a:pPr lvl="2"/>
            <a:r>
              <a:rPr lang="en-US" sz="2100" dirty="0" smtClean="0">
                <a:latin typeface="Bell MT" panose="02020503060305020303" pitchFamily="18" charset="0"/>
              </a:rPr>
              <a:t>It enhances business </a:t>
            </a:r>
            <a:r>
              <a:rPr lang="en-US" sz="2100" dirty="0">
                <a:latin typeface="Bell MT" panose="02020503060305020303" pitchFamily="18" charset="0"/>
              </a:rPr>
              <a:t>decision making </a:t>
            </a:r>
            <a:r>
              <a:rPr lang="en-US" sz="2100" dirty="0" smtClean="0">
                <a:latin typeface="Bell MT" panose="02020503060305020303" pitchFamily="18" charset="0"/>
              </a:rPr>
              <a:t>competitiveness </a:t>
            </a:r>
            <a:r>
              <a:rPr lang="en-US" sz="2100" dirty="0">
                <a:latin typeface="Bell MT" panose="02020503060305020303" pitchFamily="18" charset="0"/>
              </a:rPr>
              <a:t>through the reduction of costs, increased added value, or any other parameter that can be measured against existing performance criteria. </a:t>
            </a:r>
            <a:br>
              <a:rPr lang="en-US" sz="2100" dirty="0">
                <a:latin typeface="Bell MT" panose="02020503060305020303" pitchFamily="18" charset="0"/>
              </a:rPr>
            </a:br>
            <a:r>
              <a:rPr lang="en-US" sz="2100" dirty="0">
                <a:latin typeface="Bell MT" panose="02020503060305020303" pitchFamily="18" charset="0"/>
              </a:rPr>
              <a:t> </a:t>
            </a:r>
            <a:br>
              <a:rPr lang="en-US" sz="2100" dirty="0">
                <a:latin typeface="Bell MT" panose="02020503060305020303" pitchFamily="18" charset="0"/>
              </a:rPr>
            </a:br>
            <a:r>
              <a:rPr lang="en-US" sz="2100" dirty="0">
                <a:latin typeface="Bell MT" panose="02020503060305020303" pitchFamily="18" charset="0"/>
              </a:rPr>
              <a:t/>
            </a:r>
            <a:br>
              <a:rPr lang="en-US" sz="2100" dirty="0">
                <a:latin typeface="Bell MT" panose="02020503060305020303" pitchFamily="18" charset="0"/>
              </a:rPr>
            </a:br>
            <a:endParaRPr lang="en-US" sz="2100" b="1" dirty="0">
              <a:latin typeface="Bell MT" panose="02020503060305020303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377409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52400"/>
            <a:ext cx="7924800" cy="1341120"/>
          </a:xfrm>
        </p:spPr>
        <p:txBody>
          <a:bodyPr>
            <a:normAutofit/>
          </a:bodyPr>
          <a:lstStyle/>
          <a:p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Basic concepts of big data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3"/>
          </p:nvPr>
        </p:nvSpPr>
        <p:spPr>
          <a:xfrm>
            <a:off x="457200" y="1600200"/>
            <a:ext cx="8382000" cy="4673600"/>
          </a:xfrm>
        </p:spPr>
        <p:txBody>
          <a:bodyPr>
            <a:normAutofit lnSpcReduction="10000"/>
          </a:bodyPr>
          <a:lstStyle/>
          <a:p>
            <a:r>
              <a:rPr lang="en-US" sz="2400" b="1" dirty="0" smtClean="0">
                <a:latin typeface="Bell MT" panose="02020503060305020303" pitchFamily="18" charset="0"/>
              </a:rPr>
              <a:t>What is big data?</a:t>
            </a:r>
          </a:p>
          <a:p>
            <a:pPr lvl="1"/>
            <a:r>
              <a:rPr lang="en-US" sz="2400" dirty="0">
                <a:latin typeface="Bell MT" panose="02020503060305020303" pitchFamily="18" charset="0"/>
              </a:rPr>
              <a:t>Big data is the term for a collection of data </a:t>
            </a:r>
            <a:r>
              <a:rPr lang="en-US" sz="2400" dirty="0" smtClean="0">
                <a:latin typeface="Bell MT" panose="02020503060305020303" pitchFamily="18" charset="0"/>
              </a:rPr>
              <a:t>sets.</a:t>
            </a:r>
          </a:p>
          <a:p>
            <a:pPr lvl="1"/>
            <a:r>
              <a:rPr lang="en-US" sz="2400" dirty="0" smtClean="0">
                <a:latin typeface="Bell MT" panose="02020503060305020303" pitchFamily="18" charset="0"/>
              </a:rPr>
              <a:t> </a:t>
            </a:r>
            <a:r>
              <a:rPr lang="en-US" sz="2400" dirty="0">
                <a:latin typeface="Bell MT" panose="02020503060305020303" pitchFamily="18" charset="0"/>
              </a:rPr>
              <a:t>so large and complex that it becomes difficult </a:t>
            </a:r>
            <a:r>
              <a:rPr lang="en-US" sz="2400" dirty="0" smtClean="0">
                <a:latin typeface="Bell MT" panose="02020503060305020303" pitchFamily="18" charset="0"/>
              </a:rPr>
              <a:t>to process </a:t>
            </a:r>
            <a:r>
              <a:rPr lang="en-US" sz="2400" dirty="0">
                <a:latin typeface="Bell MT" panose="02020503060305020303" pitchFamily="18" charset="0"/>
              </a:rPr>
              <a:t>using on-hand database management tools or traditional data processing applications. </a:t>
            </a:r>
            <a:endParaRPr lang="en-US" sz="2400" dirty="0" smtClean="0">
              <a:latin typeface="Bell MT" panose="02020503060305020303" pitchFamily="18" charset="0"/>
            </a:endParaRPr>
          </a:p>
          <a:p>
            <a:pPr lvl="1"/>
            <a:r>
              <a:rPr lang="en-US" sz="2400" dirty="0">
                <a:latin typeface="Bell MT" panose="02020503060305020303" pitchFamily="18" charset="0"/>
              </a:rPr>
              <a:t> </a:t>
            </a:r>
            <a:r>
              <a:rPr lang="en-US" sz="2400" dirty="0" smtClean="0">
                <a:latin typeface="Bell MT" panose="02020503060305020303" pitchFamily="18" charset="0"/>
              </a:rPr>
              <a:t>The  </a:t>
            </a:r>
            <a:r>
              <a:rPr lang="en-US" sz="2400" dirty="0">
                <a:latin typeface="Bell MT" panose="02020503060305020303" pitchFamily="18" charset="0"/>
              </a:rPr>
              <a:t>common scale of big datasets </a:t>
            </a:r>
            <a:r>
              <a:rPr lang="en-US" sz="2400" dirty="0" smtClean="0">
                <a:latin typeface="Bell MT" panose="02020503060305020303" pitchFamily="18" charset="0"/>
              </a:rPr>
              <a:t>is constantly </a:t>
            </a:r>
            <a:r>
              <a:rPr lang="en-US" sz="2400" dirty="0">
                <a:latin typeface="Bell MT" panose="02020503060305020303" pitchFamily="18" charset="0"/>
              </a:rPr>
              <a:t>shifting and may vary significantly from organization to organization. </a:t>
            </a:r>
            <a:endParaRPr lang="en-US" sz="2400" dirty="0" smtClean="0">
              <a:latin typeface="Bell MT" panose="02020503060305020303" pitchFamily="18" charset="0"/>
            </a:endParaRPr>
          </a:p>
          <a:p>
            <a:pPr lvl="1"/>
            <a:r>
              <a:rPr lang="en-US" sz="2400" dirty="0" smtClean="0">
                <a:latin typeface="Bell MT" panose="02020503060305020303" pitchFamily="18" charset="0"/>
              </a:rPr>
              <a:t>Big </a:t>
            </a:r>
            <a:r>
              <a:rPr lang="en-US" sz="2400" dirty="0">
                <a:latin typeface="Bell MT" panose="02020503060305020303" pitchFamily="18" charset="0"/>
              </a:rPr>
              <a:t>data </a:t>
            </a:r>
            <a:r>
              <a:rPr lang="en-US" sz="2400" dirty="0" smtClean="0">
                <a:latin typeface="Bell MT" panose="02020503060305020303" pitchFamily="18" charset="0"/>
              </a:rPr>
              <a:t>is characterized </a:t>
            </a:r>
            <a:r>
              <a:rPr lang="en-US" sz="2400" dirty="0">
                <a:latin typeface="Bell MT" panose="02020503060305020303" pitchFamily="18" charset="0"/>
              </a:rPr>
              <a:t>by </a:t>
            </a:r>
            <a:r>
              <a:rPr lang="en-US" sz="2400" dirty="0" smtClean="0">
                <a:latin typeface="Bell MT" panose="02020503060305020303" pitchFamily="18" charset="0"/>
              </a:rPr>
              <a:t>4V’s actually beyond this:-</a:t>
            </a:r>
          </a:p>
          <a:p>
            <a:pPr lvl="2"/>
            <a:r>
              <a:rPr lang="en-US" sz="2000" b="1" dirty="0" smtClean="0">
                <a:latin typeface="Bell MT" panose="02020503060305020303" pitchFamily="18" charset="0"/>
              </a:rPr>
              <a:t>Volume: </a:t>
            </a:r>
            <a:r>
              <a:rPr lang="en-US" sz="2000" dirty="0" smtClean="0">
                <a:latin typeface="Bell MT" panose="02020503060305020303" pitchFamily="18" charset="0"/>
              </a:rPr>
              <a:t>large amounts of data Zeta bytes/Massive datasets</a:t>
            </a:r>
          </a:p>
          <a:p>
            <a:pPr lvl="2"/>
            <a:r>
              <a:rPr lang="en-US" sz="2000" dirty="0" smtClean="0">
                <a:latin typeface="Bell MT" panose="02020503060305020303" pitchFamily="18" charset="0"/>
              </a:rPr>
              <a:t> </a:t>
            </a:r>
            <a:r>
              <a:rPr lang="en-US" sz="2000" b="1" dirty="0">
                <a:latin typeface="Bell MT" panose="02020503060305020303" pitchFamily="18" charset="0"/>
              </a:rPr>
              <a:t>Velocity: </a:t>
            </a:r>
            <a:r>
              <a:rPr lang="en-US" sz="2000" dirty="0">
                <a:latin typeface="Bell MT" panose="02020503060305020303" pitchFamily="18" charset="0"/>
              </a:rPr>
              <a:t>Data is live streaming or in motion</a:t>
            </a:r>
          </a:p>
          <a:p>
            <a:pPr lvl="2"/>
            <a:r>
              <a:rPr lang="en-US" sz="2000" dirty="0" smtClean="0">
                <a:latin typeface="Bell MT" panose="02020503060305020303" pitchFamily="18" charset="0"/>
              </a:rPr>
              <a:t> </a:t>
            </a:r>
            <a:r>
              <a:rPr lang="en-US" sz="2000" b="1" dirty="0">
                <a:latin typeface="Bell MT" panose="02020503060305020303" pitchFamily="18" charset="0"/>
              </a:rPr>
              <a:t>Variety: </a:t>
            </a:r>
            <a:r>
              <a:rPr lang="en-US" sz="2000" dirty="0">
                <a:latin typeface="Bell MT" panose="02020503060305020303" pitchFamily="18" charset="0"/>
              </a:rPr>
              <a:t>data comes in many different forms from diverse sources</a:t>
            </a:r>
          </a:p>
          <a:p>
            <a:pPr lvl="2"/>
            <a:r>
              <a:rPr lang="en-US" sz="2000" b="1" dirty="0" smtClean="0">
                <a:latin typeface="Bell MT" panose="02020503060305020303" pitchFamily="18" charset="0"/>
              </a:rPr>
              <a:t>Veracity</a:t>
            </a:r>
            <a:r>
              <a:rPr lang="en-US" sz="2000" b="1" dirty="0">
                <a:latin typeface="Bell MT" panose="02020503060305020303" pitchFamily="18" charset="0"/>
              </a:rPr>
              <a:t>:</a:t>
            </a:r>
            <a:r>
              <a:rPr lang="en-US" sz="2000" dirty="0">
                <a:latin typeface="Bell MT" panose="02020503060305020303" pitchFamily="18" charset="0"/>
              </a:rPr>
              <a:t> can we trust the data? How accurate is it? </a:t>
            </a:r>
            <a:r>
              <a:rPr lang="en-US" sz="1800" dirty="0"/>
              <a:t/>
            </a:r>
            <a:br>
              <a:rPr lang="en-US" sz="1800" dirty="0"/>
            </a:br>
            <a:r>
              <a:rPr lang="en-US" sz="1800" dirty="0"/>
              <a:t/>
            </a:r>
            <a:br>
              <a:rPr lang="en-US" sz="1800" dirty="0"/>
            </a:br>
            <a:endParaRPr lang="en-US" sz="1800" b="1" dirty="0"/>
          </a:p>
        </p:txBody>
      </p:sp>
    </p:spTree>
    <p:extLst>
      <p:ext uri="{BB962C8B-B14F-4D97-AF65-F5344CB8AC3E}">
        <p14:creationId xmlns:p14="http://schemas.microsoft.com/office/powerpoint/2010/main" val="251976294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304800"/>
            <a:ext cx="7924800" cy="1341120"/>
          </a:xfrm>
        </p:spPr>
        <p:txBody>
          <a:bodyPr>
            <a:normAutofit/>
          </a:bodyPr>
          <a:lstStyle/>
          <a:p>
            <a:r>
              <a:rPr lang="en-US" sz="2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Big data cont’d</a:t>
            </a:r>
            <a:endParaRPr lang="en-US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sz="quarter" idx="13"/>
          </p:nvPr>
        </p:nvSpPr>
        <p:spPr>
          <a:xfrm>
            <a:off x="457200" y="1645920"/>
            <a:ext cx="8382000" cy="4673600"/>
          </a:xfrm>
        </p:spPr>
        <p:txBody>
          <a:bodyPr>
            <a:normAutofit/>
          </a:bodyPr>
          <a:lstStyle/>
          <a:p>
            <a:r>
              <a:rPr lang="en-US" sz="2400" dirty="0" smtClean="0">
                <a:latin typeface="Bell MT" panose="02020503060305020303" pitchFamily="18" charset="0"/>
              </a:rPr>
              <a:t>The following figure depicts the 4V’s of big data</a:t>
            </a: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/>
              <a:t/>
            </a:r>
            <a:br>
              <a:rPr lang="en-US" sz="2400" dirty="0"/>
            </a:br>
            <a:endParaRPr lang="en-US" sz="2400" b="1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228600" y="2057400"/>
            <a:ext cx="8153400" cy="4114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935470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28600"/>
            <a:ext cx="7924800" cy="1341120"/>
          </a:xfrm>
        </p:spPr>
        <p:txBody>
          <a:bodyPr>
            <a:normAutofit/>
          </a:bodyPr>
          <a:lstStyle/>
          <a:p>
            <a:r>
              <a:rPr lang="en-US" sz="2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Big data cont’d</a:t>
            </a:r>
            <a:endParaRPr lang="en-US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sz="quarter" idx="13"/>
          </p:nvPr>
        </p:nvSpPr>
        <p:spPr>
          <a:xfrm>
            <a:off x="381000" y="1371600"/>
            <a:ext cx="8382000" cy="4673600"/>
          </a:xfrm>
        </p:spPr>
        <p:txBody>
          <a:bodyPr>
            <a:normAutofit/>
          </a:bodyPr>
          <a:lstStyle/>
          <a:p>
            <a:r>
              <a:rPr lang="en-US" sz="2400" dirty="0" smtClean="0">
                <a:latin typeface="Bell MT" panose="02020503060305020303" pitchFamily="18" charset="0"/>
              </a:rPr>
              <a:t>The following figure depicts the 5 major use cases of big data</a:t>
            </a: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/>
              <a:t/>
            </a:r>
            <a:br>
              <a:rPr lang="en-US" sz="2400" dirty="0"/>
            </a:br>
            <a:endParaRPr lang="en-US" sz="2400" b="1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533400" y="2364648"/>
            <a:ext cx="7772400" cy="3657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802092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Clustered </a:t>
            </a:r>
            <a:r>
              <a:rPr lang="en-US" sz="2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Computing and Hadoop Ecosystem</a:t>
            </a:r>
            <a:endParaRPr lang="en-US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sz="quarter" idx="13"/>
          </p:nvPr>
        </p:nvSpPr>
        <p:spPr>
          <a:xfrm>
            <a:off x="397207" y="1690689"/>
            <a:ext cx="8153400" cy="4368800"/>
          </a:xfrm>
        </p:spPr>
        <p:txBody>
          <a:bodyPr>
            <a:noAutofit/>
          </a:bodyPr>
          <a:lstStyle/>
          <a:p>
            <a:r>
              <a:rPr lang="en-US" sz="2400" b="1" dirty="0" smtClean="0">
                <a:latin typeface="Bell MT" panose="02020503060305020303" pitchFamily="18" charset="0"/>
              </a:rPr>
              <a:t>Clustered Computing</a:t>
            </a:r>
          </a:p>
          <a:p>
            <a:pPr lvl="1"/>
            <a:r>
              <a:rPr lang="en-US" sz="2000" dirty="0" smtClean="0">
                <a:latin typeface="Bell MT" panose="02020503060305020303" pitchFamily="18" charset="0"/>
              </a:rPr>
              <a:t>Because </a:t>
            </a:r>
            <a:r>
              <a:rPr lang="en-US" sz="2000" dirty="0">
                <a:latin typeface="Bell MT" panose="02020503060305020303" pitchFamily="18" charset="0"/>
              </a:rPr>
              <a:t>of the qualities of big data, individual computers are often inadequate for handling the data at most stages. </a:t>
            </a:r>
            <a:endParaRPr lang="en-US" sz="2000" dirty="0" smtClean="0">
              <a:latin typeface="Bell MT" panose="02020503060305020303" pitchFamily="18" charset="0"/>
            </a:endParaRPr>
          </a:p>
          <a:p>
            <a:pPr lvl="1"/>
            <a:r>
              <a:rPr lang="en-US" sz="2000" dirty="0" smtClean="0">
                <a:latin typeface="Bell MT" panose="02020503060305020303" pitchFamily="18" charset="0"/>
              </a:rPr>
              <a:t>To </a:t>
            </a:r>
            <a:r>
              <a:rPr lang="en-US" sz="2000" dirty="0">
                <a:latin typeface="Bell MT" panose="02020503060305020303" pitchFamily="18" charset="0"/>
              </a:rPr>
              <a:t>better address the high storage and computational needs of big data, computer clusters are a better fit</a:t>
            </a:r>
            <a:r>
              <a:rPr lang="en-US" sz="2000" dirty="0" smtClean="0">
                <a:latin typeface="Bell MT" panose="02020503060305020303" pitchFamily="18" charset="0"/>
              </a:rPr>
              <a:t>.</a:t>
            </a:r>
          </a:p>
          <a:p>
            <a:r>
              <a:rPr lang="en-US" sz="2400" dirty="0" smtClean="0">
                <a:latin typeface="Bell MT" panose="02020503060305020303" pitchFamily="18" charset="0"/>
              </a:rPr>
              <a:t> </a:t>
            </a:r>
            <a:r>
              <a:rPr lang="en-US" sz="2400" dirty="0">
                <a:latin typeface="Bell MT" panose="02020503060305020303" pitchFamily="18" charset="0"/>
              </a:rPr>
              <a:t>Big data clustering software combines the resources of many smaller machines, seeking to provide a number of </a:t>
            </a:r>
            <a:r>
              <a:rPr lang="en-US" sz="2400" dirty="0" smtClean="0">
                <a:latin typeface="Bell MT" panose="02020503060305020303" pitchFamily="18" charset="0"/>
              </a:rPr>
              <a:t>benefits such as:</a:t>
            </a:r>
          </a:p>
          <a:p>
            <a:pPr lvl="1"/>
            <a:r>
              <a:rPr lang="en-US" sz="2000" b="1" dirty="0">
                <a:latin typeface="Bell MT" panose="02020503060305020303" pitchFamily="18" charset="0"/>
              </a:rPr>
              <a:t>Resource </a:t>
            </a:r>
            <a:r>
              <a:rPr lang="en-US" sz="2000" b="1" dirty="0" smtClean="0">
                <a:latin typeface="Bell MT" panose="02020503060305020303" pitchFamily="18" charset="0"/>
              </a:rPr>
              <a:t>Pooling: </a:t>
            </a:r>
            <a:r>
              <a:rPr lang="en-US" sz="2000" dirty="0" smtClean="0">
                <a:latin typeface="Bell MT" panose="02020503060305020303" pitchFamily="18" charset="0"/>
              </a:rPr>
              <a:t>combining storage space and  cpu to process large dataset</a:t>
            </a:r>
          </a:p>
          <a:p>
            <a:pPr lvl="1"/>
            <a:r>
              <a:rPr lang="en-US" sz="2000" dirty="0">
                <a:latin typeface="Bell MT" panose="02020503060305020303" pitchFamily="18" charset="0"/>
              </a:rPr>
              <a:t> </a:t>
            </a:r>
            <a:r>
              <a:rPr lang="en-US" sz="2000" b="1" dirty="0">
                <a:latin typeface="Bell MT" panose="02020503060305020303" pitchFamily="18" charset="0"/>
              </a:rPr>
              <a:t>High Availability: </a:t>
            </a:r>
            <a:r>
              <a:rPr lang="en-US" sz="2000" dirty="0">
                <a:latin typeface="Bell MT" panose="02020503060305020303" pitchFamily="18" charset="0"/>
              </a:rPr>
              <a:t>Clusters can provide varying levels of fault tolerance and availability </a:t>
            </a:r>
            <a:endParaRPr lang="en-US" sz="2000" dirty="0" smtClean="0">
              <a:latin typeface="Bell MT" panose="02020503060305020303" pitchFamily="18" charset="0"/>
            </a:endParaRPr>
          </a:p>
          <a:p>
            <a:pPr lvl="1"/>
            <a:r>
              <a:rPr lang="en-US" sz="2000" b="1" dirty="0">
                <a:latin typeface="Bell MT" panose="02020503060305020303" pitchFamily="18" charset="0"/>
              </a:rPr>
              <a:t>Easy Scalability: </a:t>
            </a:r>
            <a:r>
              <a:rPr lang="en-US" sz="2000" dirty="0">
                <a:latin typeface="Bell MT" panose="02020503060305020303" pitchFamily="18" charset="0"/>
              </a:rPr>
              <a:t>Clusters make it easy to scale horizontally by adding additional machines to the </a:t>
            </a:r>
            <a:r>
              <a:rPr lang="en-US" sz="2000" dirty="0" smtClean="0">
                <a:latin typeface="Bell MT" panose="02020503060305020303" pitchFamily="18" charset="0"/>
              </a:rPr>
              <a:t>group.</a:t>
            </a:r>
            <a:endParaRPr lang="en-US" sz="2000" dirty="0">
              <a:latin typeface="Bell MT" panose="02020503060305020303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002152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Clustered </a:t>
            </a:r>
            <a:r>
              <a:rPr lang="en-US" sz="2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Computing cont’d </a:t>
            </a:r>
            <a:endParaRPr lang="en-US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sz="quarter" idx="13"/>
          </p:nvPr>
        </p:nvSpPr>
        <p:spPr>
          <a:xfrm>
            <a:off x="266700" y="1683865"/>
            <a:ext cx="8610600" cy="4368800"/>
          </a:xfrm>
        </p:spPr>
        <p:txBody>
          <a:bodyPr>
            <a:normAutofit/>
          </a:bodyPr>
          <a:lstStyle/>
          <a:p>
            <a:pPr algn="just"/>
            <a:r>
              <a:rPr lang="en-US" sz="2400" dirty="0" smtClean="0">
                <a:latin typeface="Bell MT" panose="02020503060305020303" pitchFamily="18" charset="0"/>
              </a:rPr>
              <a:t>Employing clustered resources may require managing cluster membership, coordinating </a:t>
            </a:r>
            <a:r>
              <a:rPr lang="en-US" sz="2400" dirty="0">
                <a:latin typeface="Bell MT" panose="02020503060305020303" pitchFamily="18" charset="0"/>
              </a:rPr>
              <a:t>resource sharing, and </a:t>
            </a:r>
            <a:r>
              <a:rPr lang="en-US" sz="2400" dirty="0" smtClean="0">
                <a:latin typeface="Bell MT" panose="02020503060305020303" pitchFamily="18" charset="0"/>
              </a:rPr>
              <a:t>scheduling actual </a:t>
            </a:r>
            <a:r>
              <a:rPr lang="en-US" sz="2400" dirty="0">
                <a:latin typeface="Bell MT" panose="02020503060305020303" pitchFamily="18" charset="0"/>
              </a:rPr>
              <a:t>work on </a:t>
            </a:r>
            <a:r>
              <a:rPr lang="en-US" sz="2400" dirty="0" smtClean="0">
                <a:latin typeface="Bell MT" panose="02020503060305020303" pitchFamily="18" charset="0"/>
              </a:rPr>
              <a:t>individual nodes or computers.</a:t>
            </a:r>
          </a:p>
          <a:p>
            <a:pPr algn="just"/>
            <a:endParaRPr lang="en-US" sz="2400" dirty="0" smtClean="0">
              <a:latin typeface="Bell MT" panose="02020503060305020303" pitchFamily="18" charset="0"/>
            </a:endParaRPr>
          </a:p>
          <a:p>
            <a:pPr algn="just"/>
            <a:r>
              <a:rPr lang="en-US" sz="2400" dirty="0" smtClean="0">
                <a:latin typeface="Bell MT" panose="02020503060305020303" pitchFamily="18" charset="0"/>
              </a:rPr>
              <a:t>The cluster membership and resource allocation task is done by apache open source framework software's like Hadoop's </a:t>
            </a:r>
            <a:r>
              <a:rPr lang="en-US" sz="2400" b="1" dirty="0">
                <a:latin typeface="Bell MT" panose="02020503060305020303" pitchFamily="18" charset="0"/>
              </a:rPr>
              <a:t>YARN</a:t>
            </a:r>
            <a:r>
              <a:rPr lang="en-US" sz="2400" dirty="0">
                <a:latin typeface="Bell MT" panose="02020503060305020303" pitchFamily="18" charset="0"/>
              </a:rPr>
              <a:t>(which stands for Yet Another Resource </a:t>
            </a:r>
            <a:r>
              <a:rPr lang="en-US" sz="2400" dirty="0" smtClean="0">
                <a:latin typeface="Bell MT" panose="02020503060305020303" pitchFamily="18" charset="0"/>
              </a:rPr>
              <a:t>Negotiator.)</a:t>
            </a:r>
          </a:p>
          <a:p>
            <a:pPr algn="just"/>
            <a:endParaRPr lang="en-US" sz="2400" dirty="0" smtClean="0">
              <a:latin typeface="Bell MT" panose="02020503060305020303" pitchFamily="18" charset="0"/>
            </a:endParaRPr>
          </a:p>
          <a:p>
            <a:pPr algn="just"/>
            <a:r>
              <a:rPr lang="en-US" sz="2400" dirty="0" smtClean="0">
                <a:latin typeface="Bell MT" panose="02020503060305020303" pitchFamily="18" charset="0"/>
              </a:rPr>
              <a:t>The assembled cluster machines act seamlessly and help other software interfaces to process the data. </a:t>
            </a:r>
            <a:endParaRPr lang="en-US" sz="2400" dirty="0">
              <a:latin typeface="Bell MT" panose="02020503060305020303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1282747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Hadoop 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 its Ecosystem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3"/>
          </p:nvPr>
        </p:nvSpPr>
        <p:spPr>
          <a:xfrm>
            <a:off x="266700" y="1447800"/>
            <a:ext cx="8610600" cy="4724400"/>
          </a:xfrm>
        </p:spPr>
        <p:txBody>
          <a:bodyPr>
            <a:noAutofit/>
          </a:bodyPr>
          <a:lstStyle/>
          <a:p>
            <a:pPr algn="just"/>
            <a:r>
              <a:rPr lang="en-US" sz="2400" dirty="0" smtClean="0">
                <a:latin typeface="Bell MT" panose="02020503060305020303" pitchFamily="18" charset="0"/>
              </a:rPr>
              <a:t>What is Hadoop?</a:t>
            </a:r>
          </a:p>
          <a:p>
            <a:pPr lvl="1" algn="just"/>
            <a:r>
              <a:rPr lang="en-US" sz="2400" dirty="0" smtClean="0">
                <a:latin typeface="Bell MT" panose="02020503060305020303" pitchFamily="18" charset="0"/>
              </a:rPr>
              <a:t>It’s apache </a:t>
            </a:r>
            <a:r>
              <a:rPr lang="en-US" sz="2400" dirty="0">
                <a:latin typeface="Bell MT" panose="02020503060305020303" pitchFamily="18" charset="0"/>
              </a:rPr>
              <a:t>open source software framework for reliable, scalable, distributed computing of massive amount of data </a:t>
            </a:r>
            <a:endParaRPr lang="en-US" sz="2400" dirty="0" smtClean="0">
              <a:latin typeface="Bell MT" panose="02020503060305020303" pitchFamily="18" charset="0"/>
            </a:endParaRPr>
          </a:p>
          <a:p>
            <a:pPr lvl="3" algn="just"/>
            <a:r>
              <a:rPr lang="en-US" sz="2000" dirty="0" smtClean="0">
                <a:latin typeface="Bell MT" panose="02020503060305020303" pitchFamily="18" charset="0"/>
              </a:rPr>
              <a:t> </a:t>
            </a:r>
            <a:r>
              <a:rPr lang="en-US" sz="2000" dirty="0">
                <a:latin typeface="Bell MT" panose="02020503060305020303" pitchFamily="18" charset="0"/>
              </a:rPr>
              <a:t>Hides underlying system details and complexities from </a:t>
            </a:r>
            <a:r>
              <a:rPr lang="en-US" sz="2000" dirty="0" smtClean="0">
                <a:latin typeface="Bell MT" panose="02020503060305020303" pitchFamily="18" charset="0"/>
              </a:rPr>
              <a:t>user</a:t>
            </a:r>
          </a:p>
          <a:p>
            <a:pPr lvl="3" algn="just"/>
            <a:r>
              <a:rPr lang="en-US" sz="2000" dirty="0" smtClean="0">
                <a:latin typeface="Bell MT" panose="02020503060305020303" pitchFamily="18" charset="0"/>
              </a:rPr>
              <a:t> Developed </a:t>
            </a:r>
            <a:r>
              <a:rPr lang="en-US" sz="2000" dirty="0">
                <a:latin typeface="Bell MT" panose="02020503060305020303" pitchFamily="18" charset="0"/>
              </a:rPr>
              <a:t>in </a:t>
            </a:r>
            <a:r>
              <a:rPr lang="en-US" sz="2000" dirty="0" smtClean="0">
                <a:latin typeface="Bell MT" panose="02020503060305020303" pitchFamily="18" charset="0"/>
              </a:rPr>
              <a:t>Java</a:t>
            </a:r>
          </a:p>
          <a:p>
            <a:pPr lvl="3" algn="just"/>
            <a:r>
              <a:rPr lang="en-US" sz="2000" dirty="0">
                <a:latin typeface="Bell MT" panose="02020503060305020303" pitchFamily="18" charset="0"/>
              </a:rPr>
              <a:t>Flexible, enterprise-class support for processing large volumes of data </a:t>
            </a:r>
            <a:endParaRPr lang="en-US" sz="2000" dirty="0" smtClean="0">
              <a:latin typeface="Bell MT" panose="02020503060305020303" pitchFamily="18" charset="0"/>
            </a:endParaRPr>
          </a:p>
          <a:p>
            <a:pPr lvl="3" algn="just"/>
            <a:r>
              <a:rPr lang="en-US" sz="2000" dirty="0">
                <a:latin typeface="Bell MT" panose="02020503060305020303" pitchFamily="18" charset="0"/>
              </a:rPr>
              <a:t>Inspired by Google technologies  (MapReduce, GFS, BigTable, </a:t>
            </a:r>
            <a:r>
              <a:rPr lang="en-US" sz="2000" dirty="0" smtClean="0">
                <a:latin typeface="Bell MT" panose="02020503060305020303" pitchFamily="18" charset="0"/>
              </a:rPr>
              <a:t>…)</a:t>
            </a:r>
          </a:p>
          <a:p>
            <a:pPr lvl="3" algn="just"/>
            <a:r>
              <a:rPr lang="en-US" sz="2000" dirty="0" smtClean="0">
                <a:latin typeface="Bell MT" panose="02020503060305020303" pitchFamily="18" charset="0"/>
              </a:rPr>
              <a:t>Initiated </a:t>
            </a:r>
            <a:r>
              <a:rPr lang="en-US" sz="2000" dirty="0">
                <a:latin typeface="Bell MT" panose="02020503060305020303" pitchFamily="18" charset="0"/>
              </a:rPr>
              <a:t>at Yahoo </a:t>
            </a:r>
            <a:r>
              <a:rPr lang="en-US" sz="2000" dirty="0" smtClean="0">
                <a:latin typeface="Bell MT" panose="02020503060305020303" pitchFamily="18" charset="0"/>
              </a:rPr>
              <a:t>: to address scalability problems of an open source web technology(Nutch)</a:t>
            </a:r>
          </a:p>
          <a:p>
            <a:pPr lvl="3" algn="just"/>
            <a:r>
              <a:rPr lang="en-US" sz="2000" dirty="0" smtClean="0">
                <a:latin typeface="Bell MT" panose="02020503060305020303" pitchFamily="18" charset="0"/>
              </a:rPr>
              <a:t> Supports </a:t>
            </a:r>
            <a:r>
              <a:rPr lang="en-US" sz="2000" dirty="0">
                <a:latin typeface="Bell MT" panose="02020503060305020303" pitchFamily="18" charset="0"/>
              </a:rPr>
              <a:t>wide variety of data </a:t>
            </a:r>
            <a:endParaRPr lang="en-US" sz="2000" dirty="0" smtClean="0">
              <a:latin typeface="Bell MT" panose="02020503060305020303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481784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Hadoop 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 its </a:t>
            </a:r>
            <a:r>
              <a:rPr lang="en-US" sz="2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Ecosystem Cont’d  </a:t>
            </a:r>
            <a:endParaRPr lang="en-US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sz="quarter" idx="13"/>
              </p:nvPr>
            </p:nvSpPr>
            <p:spPr>
              <a:xfrm>
                <a:off x="422228" y="1600200"/>
                <a:ext cx="8077200" cy="4368800"/>
              </a:xfrm>
            </p:spPr>
            <p:txBody>
              <a:bodyPr>
                <a:noAutofit/>
              </a:bodyPr>
              <a:lstStyle/>
              <a:p>
                <a:pPr algn="just"/>
                <a:r>
                  <a:rPr lang="en-US" sz="2400" dirty="0" smtClean="0">
                    <a:latin typeface="Bell MT" panose="02020503060305020303" pitchFamily="18" charset="0"/>
                  </a:rPr>
                  <a:t>Hadoop enables applications to work with thousands of nodes and petabytes(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40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50</m:t>
                        </m:r>
                      </m:sup>
                    </m:sSup>
                  </m:oMath>
                </a14:m>
                <a:r>
                  <a:rPr lang="en-US" sz="2400" dirty="0" smtClean="0">
                    <a:latin typeface="Bell MT" panose="02020503060305020303" pitchFamily="18" charset="0"/>
                  </a:rPr>
                  <a:t> bytes) of data in a highly parallel, cost effective manner.</a:t>
                </a:r>
              </a:p>
              <a:p>
                <a:pPr lvl="1" algn="just"/>
                <a:r>
                  <a:rPr lang="en-US" sz="2250" dirty="0" smtClean="0">
                    <a:latin typeface="Bell MT" panose="02020503060305020303" pitchFamily="18" charset="0"/>
                  </a:rPr>
                  <a:t>  CPU + disks = “node” </a:t>
                </a:r>
              </a:p>
              <a:p>
                <a:pPr lvl="1" algn="just"/>
                <a:r>
                  <a:rPr lang="en-US" sz="2250" dirty="0" smtClean="0">
                    <a:latin typeface="Bell MT" panose="02020503060305020303" pitchFamily="18" charset="0"/>
                  </a:rPr>
                  <a:t> Nodes can be combined into clusters </a:t>
                </a:r>
              </a:p>
              <a:p>
                <a:pPr lvl="1" algn="just"/>
                <a:r>
                  <a:rPr lang="en-US" sz="2250" dirty="0" smtClean="0">
                    <a:latin typeface="Bell MT" panose="02020503060305020303" pitchFamily="18" charset="0"/>
                  </a:rPr>
                  <a:t> New nodes can be added as needed without changing </a:t>
                </a:r>
              </a:p>
              <a:p>
                <a:pPr lvl="2" algn="just"/>
                <a:r>
                  <a:rPr lang="en-US" sz="2250" dirty="0" smtClean="0">
                    <a:latin typeface="Bell MT" panose="02020503060305020303" pitchFamily="18" charset="0"/>
                  </a:rPr>
                  <a:t>  Data formats </a:t>
                </a:r>
              </a:p>
              <a:p>
                <a:pPr lvl="2" algn="just"/>
                <a:r>
                  <a:rPr lang="en-US" sz="2250" dirty="0" smtClean="0">
                    <a:latin typeface="Bell MT" panose="02020503060305020303" pitchFamily="18" charset="0"/>
                  </a:rPr>
                  <a:t> How data is loaded </a:t>
                </a:r>
              </a:p>
              <a:p>
                <a:pPr lvl="2" algn="just"/>
                <a:r>
                  <a:rPr lang="en-US" sz="2250" dirty="0" smtClean="0">
                    <a:latin typeface="Bell MT" panose="02020503060305020303" pitchFamily="18" charset="0"/>
                  </a:rPr>
                  <a:t> How jobs are written</a:t>
                </a:r>
              </a:p>
              <a:p>
                <a:pPr marL="0" indent="0" algn="just">
                  <a:buNone/>
                </a:pPr>
                <a:endParaRPr lang="en-US" sz="2400" dirty="0">
                  <a:latin typeface="Bell MT" panose="02020503060305020303" pitchFamily="18" charset="0"/>
                </a:endParaRP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3"/>
              </p:nvPr>
            </p:nvSpPr>
            <p:spPr>
              <a:xfrm>
                <a:off x="422228" y="1600200"/>
                <a:ext cx="8077200" cy="4368800"/>
              </a:xfrm>
              <a:blipFill rotWithShape="0">
                <a:blip r:embed="rId3"/>
                <a:stretch>
                  <a:fillRect l="-981" t="-1816" r="-120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45264268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6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Hadoop</a:t>
            </a:r>
            <a:r>
              <a:rPr lang="en-US" sz="36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and its Ecosystem Cont’d 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3"/>
          </p:nvPr>
        </p:nvSpPr>
        <p:spPr/>
        <p:txBody>
          <a:bodyPr>
            <a:normAutofit fontScale="92500"/>
          </a:bodyPr>
          <a:lstStyle/>
          <a:p>
            <a:pPr algn="just"/>
            <a:r>
              <a:rPr lang="en-US" sz="2600" dirty="0" err="1" smtClean="0">
                <a:latin typeface="Bell MT" panose="02020503060305020303" pitchFamily="18" charset="0"/>
              </a:rPr>
              <a:t>Hadoop</a:t>
            </a:r>
            <a:r>
              <a:rPr lang="en-US" sz="2600" dirty="0" smtClean="0">
                <a:latin typeface="Bell MT" panose="02020503060305020303" pitchFamily="18" charset="0"/>
              </a:rPr>
              <a:t> is supplemented by an ecosystem of open source projects such as:</a:t>
            </a:r>
          </a:p>
          <a:p>
            <a:pPr lvl="1" algn="just"/>
            <a:r>
              <a:rPr lang="en-US" sz="2400" b="1" dirty="0" smtClean="0">
                <a:latin typeface="Bell MT" panose="02020503060305020303" pitchFamily="18" charset="0"/>
              </a:rPr>
              <a:t>HDFS: </a:t>
            </a:r>
            <a:r>
              <a:rPr lang="en-US" sz="2400" dirty="0" err="1" smtClean="0">
                <a:latin typeface="Bell MT" panose="02020503060305020303" pitchFamily="18" charset="0"/>
              </a:rPr>
              <a:t>Hadoop</a:t>
            </a:r>
            <a:r>
              <a:rPr lang="en-US" sz="2400" dirty="0" smtClean="0">
                <a:latin typeface="Bell MT" panose="02020503060305020303" pitchFamily="18" charset="0"/>
              </a:rPr>
              <a:t> Distributed File System</a:t>
            </a:r>
          </a:p>
          <a:p>
            <a:pPr lvl="1" algn="just"/>
            <a:r>
              <a:rPr lang="en-US" sz="2400" b="1" dirty="0" smtClean="0">
                <a:latin typeface="Bell MT" panose="02020503060305020303" pitchFamily="18" charset="0"/>
              </a:rPr>
              <a:t>YARN: </a:t>
            </a:r>
            <a:r>
              <a:rPr lang="en-US" sz="2400" dirty="0" smtClean="0">
                <a:latin typeface="Bell MT" panose="02020503060305020303" pitchFamily="18" charset="0"/>
              </a:rPr>
              <a:t>Yet Another Resource Negotiator </a:t>
            </a:r>
          </a:p>
          <a:p>
            <a:pPr lvl="1" algn="just"/>
            <a:r>
              <a:rPr lang="en-US" sz="2400" dirty="0" smtClean="0">
                <a:latin typeface="Bell MT" panose="02020503060305020303" pitchFamily="18" charset="0"/>
              </a:rPr>
              <a:t> </a:t>
            </a:r>
            <a:r>
              <a:rPr lang="en-US" sz="2400" b="1" dirty="0" err="1" smtClean="0">
                <a:latin typeface="Bell MT" panose="02020503060305020303" pitchFamily="18" charset="0"/>
              </a:rPr>
              <a:t>MapReduce</a:t>
            </a:r>
            <a:r>
              <a:rPr lang="en-US" sz="2400" b="1" dirty="0" smtClean="0">
                <a:latin typeface="Bell MT" panose="02020503060305020303" pitchFamily="18" charset="0"/>
              </a:rPr>
              <a:t>: </a:t>
            </a:r>
            <a:r>
              <a:rPr lang="en-US" sz="2400" dirty="0" smtClean="0">
                <a:latin typeface="Bell MT" panose="02020503060305020303" pitchFamily="18" charset="0"/>
              </a:rPr>
              <a:t>Programming based Data Processing</a:t>
            </a:r>
          </a:p>
          <a:p>
            <a:pPr lvl="1" algn="just"/>
            <a:r>
              <a:rPr lang="en-US" sz="2400" b="1" dirty="0" smtClean="0">
                <a:latin typeface="Bell MT" panose="02020503060305020303" pitchFamily="18" charset="0"/>
              </a:rPr>
              <a:t>Spark: </a:t>
            </a:r>
            <a:r>
              <a:rPr lang="en-US" sz="2400" dirty="0" smtClean="0">
                <a:latin typeface="Bell MT" panose="02020503060305020303" pitchFamily="18" charset="0"/>
              </a:rPr>
              <a:t>In-Memory data processing </a:t>
            </a:r>
          </a:p>
          <a:p>
            <a:pPr lvl="1" algn="just"/>
            <a:r>
              <a:rPr lang="en-US" sz="2400" b="1" dirty="0" smtClean="0">
                <a:latin typeface="Bell MT" panose="02020503060305020303" pitchFamily="18" charset="0"/>
              </a:rPr>
              <a:t>PIG, HIVE</a:t>
            </a:r>
            <a:r>
              <a:rPr lang="en-US" sz="2400" dirty="0" smtClean="0">
                <a:latin typeface="Bell MT" panose="02020503060305020303" pitchFamily="18" charset="0"/>
              </a:rPr>
              <a:t>: Query-based processing of data services </a:t>
            </a:r>
          </a:p>
          <a:p>
            <a:pPr lvl="1" algn="just"/>
            <a:r>
              <a:rPr lang="en-US" sz="2400" dirty="0" smtClean="0">
                <a:latin typeface="Bell MT" panose="02020503060305020303" pitchFamily="18" charset="0"/>
              </a:rPr>
              <a:t> </a:t>
            </a:r>
            <a:r>
              <a:rPr lang="en-US" sz="2400" b="1" dirty="0" err="1" smtClean="0">
                <a:latin typeface="Bell MT" panose="02020503060305020303" pitchFamily="18" charset="0"/>
              </a:rPr>
              <a:t>HBase</a:t>
            </a:r>
            <a:r>
              <a:rPr lang="en-US" sz="2400" dirty="0" smtClean="0">
                <a:latin typeface="Bell MT" panose="02020503060305020303" pitchFamily="18" charset="0"/>
              </a:rPr>
              <a:t>: </a:t>
            </a:r>
            <a:r>
              <a:rPr lang="en-US" sz="2400" dirty="0" err="1" smtClean="0">
                <a:latin typeface="Bell MT" panose="02020503060305020303" pitchFamily="18" charset="0"/>
              </a:rPr>
              <a:t>NoSQL</a:t>
            </a:r>
            <a:r>
              <a:rPr lang="en-US" sz="2400" dirty="0" smtClean="0">
                <a:latin typeface="Bell MT" panose="02020503060305020303" pitchFamily="18" charset="0"/>
              </a:rPr>
              <a:t> Database </a:t>
            </a:r>
          </a:p>
          <a:p>
            <a:pPr lvl="1" algn="just"/>
            <a:r>
              <a:rPr lang="en-US" sz="2400" dirty="0" smtClean="0">
                <a:latin typeface="Bell MT" panose="02020503060305020303" pitchFamily="18" charset="0"/>
              </a:rPr>
              <a:t> </a:t>
            </a:r>
            <a:r>
              <a:rPr lang="en-US" sz="2400" b="1" dirty="0" smtClean="0">
                <a:latin typeface="Bell MT" panose="02020503060305020303" pitchFamily="18" charset="0"/>
              </a:rPr>
              <a:t>Mahout, Spark </a:t>
            </a:r>
            <a:r>
              <a:rPr lang="en-US" sz="2400" b="1" dirty="0" err="1" smtClean="0">
                <a:latin typeface="Bell MT" panose="02020503060305020303" pitchFamily="18" charset="0"/>
              </a:rPr>
              <a:t>MLLib</a:t>
            </a:r>
            <a:r>
              <a:rPr lang="en-US" sz="2400" dirty="0" smtClean="0">
                <a:latin typeface="Bell MT" panose="02020503060305020303" pitchFamily="18" charset="0"/>
              </a:rPr>
              <a:t>: Machine Learning algorithm libraries </a:t>
            </a:r>
          </a:p>
          <a:p>
            <a:pPr lvl="1" algn="just"/>
            <a:r>
              <a:rPr lang="en-US" sz="2400" dirty="0" smtClean="0">
                <a:latin typeface="Bell MT" panose="02020503060305020303" pitchFamily="18" charset="0"/>
              </a:rPr>
              <a:t> </a:t>
            </a:r>
            <a:r>
              <a:rPr lang="en-US" sz="2400" b="1" dirty="0" smtClean="0">
                <a:latin typeface="Bell MT" panose="02020503060305020303" pitchFamily="18" charset="0"/>
              </a:rPr>
              <a:t>Solar, </a:t>
            </a:r>
            <a:r>
              <a:rPr lang="en-US" sz="2400" b="1" dirty="0" err="1" smtClean="0">
                <a:latin typeface="Bell MT" panose="02020503060305020303" pitchFamily="18" charset="0"/>
              </a:rPr>
              <a:t>Lucene</a:t>
            </a:r>
            <a:r>
              <a:rPr lang="en-US" sz="2400" dirty="0" smtClean="0">
                <a:latin typeface="Bell MT" panose="02020503060305020303" pitchFamily="18" charset="0"/>
              </a:rPr>
              <a:t>: Searching and Indexing </a:t>
            </a:r>
          </a:p>
          <a:p>
            <a:pPr lvl="1" algn="just"/>
            <a:r>
              <a:rPr lang="en-US" sz="2400" dirty="0" smtClean="0">
                <a:latin typeface="Bell MT" panose="02020503060305020303" pitchFamily="18" charset="0"/>
              </a:rPr>
              <a:t> </a:t>
            </a:r>
            <a:r>
              <a:rPr lang="en-US" sz="2400" b="1" dirty="0" smtClean="0">
                <a:latin typeface="Bell MT" panose="02020503060305020303" pitchFamily="18" charset="0"/>
              </a:rPr>
              <a:t>Zookeeper</a:t>
            </a:r>
            <a:r>
              <a:rPr lang="en-US" sz="2400" dirty="0" smtClean="0">
                <a:latin typeface="Bell MT" panose="02020503060305020303" pitchFamily="18" charset="0"/>
              </a:rPr>
              <a:t>: Managing cluster </a:t>
            </a:r>
          </a:p>
          <a:p>
            <a:pPr lvl="1" algn="just"/>
            <a:r>
              <a:rPr lang="en-US" sz="2400" b="1" dirty="0" err="1" smtClean="0">
                <a:latin typeface="Bell MT" panose="02020503060305020303" pitchFamily="18" charset="0"/>
              </a:rPr>
              <a:t>Oozie</a:t>
            </a:r>
            <a:r>
              <a:rPr lang="en-US" sz="2400" dirty="0" smtClean="0">
                <a:latin typeface="Bell MT" panose="02020503060305020303" pitchFamily="18" charset="0"/>
              </a:rPr>
              <a:t>: Job Scheduling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48780461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65127"/>
            <a:ext cx="7886700" cy="854074"/>
          </a:xfrm>
        </p:spPr>
        <p:txBody>
          <a:bodyPr/>
          <a:lstStyle/>
          <a:p>
            <a:r>
              <a:rPr lang="en-US" sz="2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Hadoop 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 its </a:t>
            </a:r>
            <a:r>
              <a:rPr lang="en-US" sz="2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Ecosystem Cont’d  </a:t>
            </a:r>
            <a:endParaRPr lang="en-US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sz="quarter" idx="13"/>
          </p:nvPr>
        </p:nvSpPr>
        <p:spPr>
          <a:xfrm>
            <a:off x="628650" y="1228300"/>
            <a:ext cx="8077200" cy="4368800"/>
          </a:xfrm>
        </p:spPr>
        <p:txBody>
          <a:bodyPr>
            <a:normAutofit/>
          </a:bodyPr>
          <a:lstStyle/>
          <a:p>
            <a:pPr algn="just"/>
            <a:r>
              <a:rPr lang="en-US" sz="2400" dirty="0" err="1" smtClean="0">
                <a:latin typeface="Bell MT" panose="02020503060305020303" pitchFamily="18" charset="0"/>
              </a:rPr>
              <a:t>Hadoop</a:t>
            </a:r>
            <a:r>
              <a:rPr lang="en-US" sz="2400" dirty="0" smtClean="0">
                <a:latin typeface="Bell MT" panose="02020503060305020303" pitchFamily="18" charset="0"/>
              </a:rPr>
              <a:t> has an ecosystem that has evolved from its four core components: Data management, access, processing, and storage.</a:t>
            </a:r>
          </a:p>
          <a:p>
            <a:pPr algn="just"/>
            <a:r>
              <a:rPr lang="en-US" sz="2400" dirty="0" smtClean="0">
                <a:latin typeface="Bell MT" panose="02020503060305020303" pitchFamily="18" charset="0"/>
              </a:rPr>
              <a:t>The following figure depict Hadoop ecosystem</a:t>
            </a:r>
            <a:endParaRPr lang="en-US" sz="2400" dirty="0">
              <a:latin typeface="Bell MT" panose="02020503060305020303" pitchFamily="18" charset="0"/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1066800" y="2895600"/>
            <a:ext cx="6096000" cy="35901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540123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Life cycle of big data with Hadoop</a:t>
            </a:r>
            <a:endParaRPr lang="en-US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sz="quarter" idx="13"/>
          </p:nvPr>
        </p:nvSpPr>
        <p:spPr>
          <a:xfrm>
            <a:off x="533400" y="1524000"/>
            <a:ext cx="8077200" cy="4368800"/>
          </a:xfrm>
        </p:spPr>
        <p:txBody>
          <a:bodyPr>
            <a:normAutofit/>
          </a:bodyPr>
          <a:lstStyle/>
          <a:p>
            <a:pPr algn="just"/>
            <a:r>
              <a:rPr lang="en-US" sz="1600" b="1" dirty="0">
                <a:latin typeface="Bell MT" panose="02020503060305020303" pitchFamily="18" charset="0"/>
              </a:rPr>
              <a:t> </a:t>
            </a:r>
            <a:r>
              <a:rPr lang="en-US" sz="2400" b="1" dirty="0">
                <a:latin typeface="Bell MT" panose="02020503060305020303" pitchFamily="18" charset="0"/>
              </a:rPr>
              <a:t>Ingesting data into the system </a:t>
            </a:r>
            <a:endParaRPr lang="en-US" sz="2400" b="1" dirty="0" smtClean="0">
              <a:latin typeface="Bell MT" panose="02020503060305020303" pitchFamily="18" charset="0"/>
            </a:endParaRPr>
          </a:p>
          <a:p>
            <a:pPr lvl="1" algn="just"/>
            <a:r>
              <a:rPr lang="en-US" sz="2400" dirty="0" smtClean="0">
                <a:latin typeface="Bell MT" panose="02020503060305020303" pitchFamily="18" charset="0"/>
              </a:rPr>
              <a:t>First the data is ingested or transferred to Hadoop from various sources such as relational databases, systems, or local files. </a:t>
            </a:r>
          </a:p>
          <a:p>
            <a:pPr lvl="2" algn="just"/>
            <a:r>
              <a:rPr lang="en-US" sz="2400" dirty="0" smtClean="0">
                <a:solidFill>
                  <a:schemeClr val="accent1"/>
                </a:solidFill>
                <a:latin typeface="Bell MT" panose="02020503060305020303" pitchFamily="18" charset="0"/>
              </a:rPr>
              <a:t>Sqoop transfers data from RDBMS to HDFS, whereas Flume transfers event data</a:t>
            </a:r>
          </a:p>
          <a:p>
            <a:pPr algn="just"/>
            <a:r>
              <a:rPr lang="en-US" sz="2400" b="1" dirty="0" smtClean="0">
                <a:latin typeface="Bell MT" panose="02020503060305020303" pitchFamily="18" charset="0"/>
              </a:rPr>
              <a:t> Processing the data in storage </a:t>
            </a:r>
          </a:p>
          <a:p>
            <a:pPr lvl="1" algn="just"/>
            <a:r>
              <a:rPr lang="en-US" sz="2400" dirty="0" smtClean="0">
                <a:latin typeface="Bell MT" panose="02020503060305020303" pitchFamily="18" charset="0"/>
              </a:rPr>
              <a:t>The second stage is Processing. In this stage, the data is stored and processed. </a:t>
            </a:r>
          </a:p>
          <a:p>
            <a:pPr lvl="2" algn="just"/>
            <a:r>
              <a:rPr lang="en-US" sz="2400" dirty="0" smtClean="0">
                <a:solidFill>
                  <a:schemeClr val="accent1"/>
                </a:solidFill>
                <a:latin typeface="Bell MT" panose="02020503060305020303" pitchFamily="18" charset="0"/>
              </a:rPr>
              <a:t>The data is stored in the distributed file system, HDFS, and the NoSQL distributed data, HBase. Spark and MapReduce perform data processing</a:t>
            </a:r>
          </a:p>
          <a:p>
            <a:pPr marL="402336" lvl="1" indent="0" algn="just">
              <a:buNone/>
            </a:pPr>
            <a:endParaRPr lang="en-US" sz="1400" b="1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873673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Life cycle of big data with Hadoop Cont’d</a:t>
            </a:r>
            <a:endParaRPr lang="en-US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sz="quarter" idx="13"/>
          </p:nvPr>
        </p:nvSpPr>
        <p:spPr>
          <a:xfrm>
            <a:off x="228600" y="1704337"/>
            <a:ext cx="8077200" cy="4368800"/>
          </a:xfrm>
        </p:spPr>
        <p:txBody>
          <a:bodyPr>
            <a:normAutofit/>
          </a:bodyPr>
          <a:lstStyle/>
          <a:p>
            <a:pPr algn="just"/>
            <a:r>
              <a:rPr lang="en-US" sz="2400" b="1" dirty="0">
                <a:latin typeface="Bell MT" panose="02020503060305020303" pitchFamily="18" charset="0"/>
              </a:rPr>
              <a:t>Computing and analyzing data </a:t>
            </a:r>
          </a:p>
          <a:p>
            <a:pPr lvl="1" algn="just"/>
            <a:r>
              <a:rPr lang="en-US" sz="2400" dirty="0" smtClean="0">
                <a:latin typeface="Bell MT" panose="02020503060305020303" pitchFamily="18" charset="0"/>
              </a:rPr>
              <a:t>The </a:t>
            </a:r>
            <a:r>
              <a:rPr lang="en-US" sz="2400" dirty="0">
                <a:latin typeface="Bell MT" panose="02020503060305020303" pitchFamily="18" charset="0"/>
              </a:rPr>
              <a:t>third stage is </a:t>
            </a:r>
            <a:r>
              <a:rPr lang="en-US" sz="2400" dirty="0" smtClean="0">
                <a:latin typeface="Bell MT" panose="02020503060305020303" pitchFamily="18" charset="0"/>
              </a:rPr>
              <a:t>analyzing and processing data using open source </a:t>
            </a:r>
            <a:r>
              <a:rPr lang="en-US" sz="2400" dirty="0">
                <a:latin typeface="Bell MT" panose="02020503060305020303" pitchFamily="18" charset="0"/>
              </a:rPr>
              <a:t>frameworks such as Pig, Hive, and Impala</a:t>
            </a:r>
            <a:r>
              <a:rPr lang="en-US" sz="2400" dirty="0" smtClean="0">
                <a:latin typeface="Bell MT" panose="02020503060305020303" pitchFamily="18" charset="0"/>
              </a:rPr>
              <a:t>.</a:t>
            </a:r>
          </a:p>
          <a:p>
            <a:pPr lvl="2" algn="just"/>
            <a:r>
              <a:rPr lang="en-US" sz="2400" dirty="0" smtClean="0">
                <a:latin typeface="Bell MT" panose="02020503060305020303" pitchFamily="18" charset="0"/>
              </a:rPr>
              <a:t> </a:t>
            </a:r>
            <a:r>
              <a:rPr lang="en-US" sz="2400" b="1" dirty="0" smtClean="0">
                <a:latin typeface="Bell MT" panose="02020503060305020303" pitchFamily="18" charset="0"/>
              </a:rPr>
              <a:t>Pig</a:t>
            </a:r>
            <a:r>
              <a:rPr lang="en-US" sz="2400" dirty="0" smtClean="0">
                <a:latin typeface="Bell MT" panose="02020503060305020303" pitchFamily="18" charset="0"/>
              </a:rPr>
              <a:t> </a:t>
            </a:r>
            <a:r>
              <a:rPr lang="en-US" sz="2400" dirty="0">
                <a:latin typeface="Bell MT" panose="02020503060305020303" pitchFamily="18" charset="0"/>
              </a:rPr>
              <a:t>converts the data using a map and reduce and then analyzes it. </a:t>
            </a:r>
            <a:endParaRPr lang="en-US" sz="2400" dirty="0" smtClean="0">
              <a:latin typeface="Bell MT" panose="02020503060305020303" pitchFamily="18" charset="0"/>
            </a:endParaRPr>
          </a:p>
          <a:p>
            <a:pPr lvl="2" algn="just"/>
            <a:r>
              <a:rPr lang="en-US" sz="2400" b="1" dirty="0" smtClean="0">
                <a:latin typeface="Bell MT" panose="02020503060305020303" pitchFamily="18" charset="0"/>
              </a:rPr>
              <a:t>Hive </a:t>
            </a:r>
            <a:r>
              <a:rPr lang="en-US" sz="2400" dirty="0" smtClean="0">
                <a:latin typeface="Bell MT" panose="02020503060305020303" pitchFamily="18" charset="0"/>
              </a:rPr>
              <a:t>is </a:t>
            </a:r>
            <a:r>
              <a:rPr lang="en-US" sz="2400" dirty="0">
                <a:latin typeface="Bell MT" panose="02020503060305020303" pitchFamily="18" charset="0"/>
              </a:rPr>
              <a:t>also based on the map and reduce programming and is most suitable for </a:t>
            </a:r>
            <a:r>
              <a:rPr lang="en-US" sz="2400" dirty="0" smtClean="0">
                <a:latin typeface="Bell MT" panose="02020503060305020303" pitchFamily="18" charset="0"/>
              </a:rPr>
              <a:t>structured data</a:t>
            </a:r>
          </a:p>
          <a:p>
            <a:pPr algn="just"/>
            <a:r>
              <a:rPr lang="en-US" sz="2400" b="1" dirty="0">
                <a:solidFill>
                  <a:schemeClr val="tx1"/>
                </a:solidFill>
                <a:latin typeface="Bell MT" panose="02020503060305020303" pitchFamily="18" charset="0"/>
              </a:rPr>
              <a:t> Visualizing the results </a:t>
            </a:r>
            <a:endParaRPr lang="en-US" sz="2400" b="1" dirty="0" smtClean="0">
              <a:solidFill>
                <a:schemeClr val="tx1"/>
              </a:solidFill>
              <a:latin typeface="Bell MT" panose="02020503060305020303" pitchFamily="18" charset="0"/>
            </a:endParaRPr>
          </a:p>
          <a:p>
            <a:pPr lvl="1" algn="just"/>
            <a:r>
              <a:rPr lang="en-US" sz="2400" dirty="0">
                <a:solidFill>
                  <a:schemeClr val="tx1"/>
                </a:solidFill>
                <a:latin typeface="Bell MT" panose="02020503060305020303" pitchFamily="18" charset="0"/>
              </a:rPr>
              <a:t>The fourth stage is Access, which is performed by tools such as </a:t>
            </a:r>
            <a:r>
              <a:rPr lang="en-US" sz="2400" b="1" dirty="0">
                <a:solidFill>
                  <a:schemeClr val="tx1"/>
                </a:solidFill>
                <a:latin typeface="Bell MT" panose="02020503060305020303" pitchFamily="18" charset="0"/>
              </a:rPr>
              <a:t>Hue</a:t>
            </a:r>
            <a:r>
              <a:rPr lang="en-US" sz="2400" dirty="0">
                <a:solidFill>
                  <a:schemeClr val="tx1"/>
                </a:solidFill>
                <a:latin typeface="Bell MT" panose="02020503060305020303" pitchFamily="18" charset="0"/>
              </a:rPr>
              <a:t> and </a:t>
            </a:r>
            <a:r>
              <a:rPr lang="en-US" sz="2400" b="1" dirty="0">
                <a:solidFill>
                  <a:schemeClr val="tx1"/>
                </a:solidFill>
                <a:latin typeface="Bell MT" panose="02020503060305020303" pitchFamily="18" charset="0"/>
              </a:rPr>
              <a:t>Cloudera</a:t>
            </a:r>
            <a:r>
              <a:rPr lang="en-US" sz="2400" dirty="0">
                <a:solidFill>
                  <a:schemeClr val="tx1"/>
                </a:solidFill>
                <a:latin typeface="Bell MT" panose="02020503060305020303" pitchFamily="18" charset="0"/>
              </a:rPr>
              <a:t> Search</a:t>
            </a:r>
            <a:r>
              <a:rPr lang="en-US" sz="2400" dirty="0" smtClean="0">
                <a:solidFill>
                  <a:schemeClr val="tx1"/>
                </a:solidFill>
                <a:latin typeface="Bell MT" panose="02020503060305020303" pitchFamily="18" charset="0"/>
              </a:rPr>
              <a:t>.</a:t>
            </a:r>
          </a:p>
          <a:p>
            <a:pPr lvl="1" algn="just"/>
            <a:r>
              <a:rPr lang="en-US" sz="2400" dirty="0" smtClean="0">
                <a:solidFill>
                  <a:schemeClr val="tx1"/>
                </a:solidFill>
                <a:latin typeface="Bell MT" panose="02020503060305020303" pitchFamily="18" charset="0"/>
              </a:rPr>
              <a:t> </a:t>
            </a:r>
            <a:r>
              <a:rPr lang="en-US" sz="2400" dirty="0">
                <a:solidFill>
                  <a:schemeClr val="tx1"/>
                </a:solidFill>
                <a:latin typeface="Bell MT" panose="02020503060305020303" pitchFamily="18" charset="0"/>
              </a:rPr>
              <a:t>In this stage, the analyzed data can be accessed by users. </a:t>
            </a:r>
          </a:p>
        </p:txBody>
      </p:sp>
    </p:spTree>
    <p:extLst>
      <p:ext uri="{BB962C8B-B14F-4D97-AF65-F5344CB8AC3E}">
        <p14:creationId xmlns:p14="http://schemas.microsoft.com/office/powerpoint/2010/main" val="36295662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6600" dirty="0" smtClean="0">
                <a:latin typeface="Bell MT" panose="02020503060305020303" pitchFamily="18" charset="0"/>
              </a:rPr>
              <a:t>   Any Question?</a:t>
            </a:r>
            <a:endParaRPr lang="en-US" sz="6600" dirty="0">
              <a:latin typeface="Bell MT" panose="02020503060305020303" pitchFamily="18" charset="0"/>
            </a:endParaRPr>
          </a:p>
        </p:txBody>
      </p:sp>
      <p:pic>
        <p:nvPicPr>
          <p:cNvPr id="4" name="Picture 12" descr="http://t0.gstatic.com/images?q=tbn:ANd9GcRZHt6JcXrsXwmrr-T3Kai2J6y43f-cBmsqa9K_JMsOQXzJc2_q9g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3401" y="1828800"/>
            <a:ext cx="7772400" cy="4495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48113112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10759</TotalTime>
  <Words>2058</Words>
  <Application>Microsoft Office PowerPoint</Application>
  <PresentationFormat>On-screen Show (4:3)</PresentationFormat>
  <Paragraphs>215</Paragraphs>
  <Slides>30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30</vt:i4>
      </vt:variant>
    </vt:vector>
  </HeadingPairs>
  <TitlesOfParts>
    <vt:vector size="37" baseType="lpstr">
      <vt:lpstr>Arial</vt:lpstr>
      <vt:lpstr>Bell MT</vt:lpstr>
      <vt:lpstr>Calibri</vt:lpstr>
      <vt:lpstr>Calibri Light</vt:lpstr>
      <vt:lpstr>Cambria Math</vt:lpstr>
      <vt:lpstr>Times New Roman</vt:lpstr>
      <vt:lpstr>Office Theme</vt:lpstr>
      <vt:lpstr> Chapter-2  Introduction to Data science  </vt:lpstr>
      <vt:lpstr>Unit objectives</vt:lpstr>
      <vt:lpstr>Overview of Data science</vt:lpstr>
      <vt:lpstr>Methodology of data science </vt:lpstr>
      <vt:lpstr>Application of Data science</vt:lpstr>
      <vt:lpstr>Data Vs. Information</vt:lpstr>
      <vt:lpstr>Data Processing Cycle </vt:lpstr>
      <vt:lpstr>Data types and their representations </vt:lpstr>
      <vt:lpstr>Data types and their representations cont’d </vt:lpstr>
      <vt:lpstr>Data types and their representations cont’d </vt:lpstr>
      <vt:lpstr>Data types from data analytics perspective cont’d </vt:lpstr>
      <vt:lpstr>Data types from data analytics perspective cont’d </vt:lpstr>
      <vt:lpstr>Data value Chain  </vt:lpstr>
      <vt:lpstr>Data Acquisition   </vt:lpstr>
      <vt:lpstr>Data Analysis  </vt:lpstr>
      <vt:lpstr>Data Curation   </vt:lpstr>
      <vt:lpstr>Data Storage  </vt:lpstr>
      <vt:lpstr>Data Usage  </vt:lpstr>
      <vt:lpstr>Basic concepts of big data</vt:lpstr>
      <vt:lpstr>Big data cont’d</vt:lpstr>
      <vt:lpstr>Big data cont’d</vt:lpstr>
      <vt:lpstr>Clustered Computing and Hadoop Ecosystem</vt:lpstr>
      <vt:lpstr>Clustered Computing cont’d </vt:lpstr>
      <vt:lpstr>Hadoop and its Ecosystem </vt:lpstr>
      <vt:lpstr>Hadoop and its Ecosystem Cont’d  </vt:lpstr>
      <vt:lpstr>Hadoop and its Ecosystem Cont’d </vt:lpstr>
      <vt:lpstr>Hadoop and its Ecosystem Cont’d  </vt:lpstr>
      <vt:lpstr>Life cycle of big data with Hadoop</vt:lpstr>
      <vt:lpstr>Life cycle of big data with Hadoop Cont’d</vt:lpstr>
      <vt:lpstr>   Any Question?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Chapter-2  Introduction to data science</dc:title>
  <dc:creator>Ephrem</dc:creator>
  <cp:lastModifiedBy>Fortune</cp:lastModifiedBy>
  <cp:revision>171</cp:revision>
  <dcterms:created xsi:type="dcterms:W3CDTF">2020-03-08T11:38:13Z</dcterms:created>
  <dcterms:modified xsi:type="dcterms:W3CDTF">2025-04-04T06:51:32Z</dcterms:modified>
</cp:coreProperties>
</file>