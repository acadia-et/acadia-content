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6" r:id="rId11"/>
    <p:sldId id="267" r:id="rId12"/>
    <p:sldId id="269" r:id="rId13"/>
    <p:sldId id="268" r:id="rId14"/>
    <p:sldId id="270" r:id="rId15"/>
    <p:sldId id="276" r:id="rId16"/>
    <p:sldId id="271" r:id="rId17"/>
    <p:sldId id="272" r:id="rId18"/>
    <p:sldId id="274" r:id="rId19"/>
    <p:sldId id="27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2291B-4593-40BE-B622-7BEC0D5727C1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1F105-3406-423C-96E3-8FFAD5AFF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75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Direct and Indirect Augmentation of Objects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1F105-3406-423C-96E3-8FFAD5AFF39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2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8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49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4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5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7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7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2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8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8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0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29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28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49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5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13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546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803400"/>
            <a:ext cx="8153400" cy="4368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2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0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36F55DA8-8E1C-4423-95B4-5736CF85DFAC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331DD325-FADC-454E-AD0C-7AD0E57137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orcid.org/0000-0002-0578-8904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914400"/>
            <a:ext cx="6477000" cy="2717800"/>
          </a:xfrm>
        </p:spPr>
        <p:txBody>
          <a:bodyPr/>
          <a:lstStyle/>
          <a:p>
            <a:pPr algn="ctr"/>
            <a:r>
              <a:rPr lang="en-US" dirty="0" smtClean="0"/>
              <a:t>Chapter 5</a:t>
            </a:r>
            <a:br>
              <a:rPr lang="en-US" dirty="0" smtClean="0"/>
            </a:br>
            <a:r>
              <a:rPr lang="en-US" dirty="0" smtClean="0"/>
              <a:t>Augmented reality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AR, VR, and MR..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12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Unit objectives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2209800"/>
            <a:ext cx="8153400" cy="4368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Bell MT" pitchFamily="18" charset="0"/>
              </a:rPr>
              <a:t>At the end of this chapter students are will be able to answer the following questions;</a:t>
            </a:r>
          </a:p>
          <a:p>
            <a:pPr lvl="1"/>
            <a:r>
              <a:rPr lang="en-US" sz="2400" dirty="0" smtClean="0">
                <a:latin typeface="Bell MT" pitchFamily="18" charset="0"/>
              </a:rPr>
              <a:t>Explain </a:t>
            </a:r>
            <a:r>
              <a:rPr lang="en-US" sz="2400" dirty="0">
                <a:latin typeface="Bell MT" pitchFamily="18" charset="0"/>
              </a:rPr>
              <a:t>augmented reality </a:t>
            </a:r>
            <a:endParaRPr lang="en-US" sz="2400" dirty="0" smtClean="0">
              <a:latin typeface="Bell MT" pitchFamily="18" charset="0"/>
            </a:endParaRPr>
          </a:p>
          <a:p>
            <a:pPr lvl="1"/>
            <a:r>
              <a:rPr lang="en-US" sz="2400" dirty="0" smtClean="0">
                <a:latin typeface="Bell MT" pitchFamily="18" charset="0"/>
              </a:rPr>
              <a:t> </a:t>
            </a:r>
            <a:r>
              <a:rPr lang="en-US" sz="2400" dirty="0">
                <a:latin typeface="Bell MT" pitchFamily="18" charset="0"/>
              </a:rPr>
              <a:t>Explain the features of augmented reality </a:t>
            </a:r>
            <a:endParaRPr lang="en-US" sz="2400" dirty="0" smtClean="0">
              <a:latin typeface="Bell MT" pitchFamily="18" charset="0"/>
            </a:endParaRPr>
          </a:p>
          <a:p>
            <a:pPr lvl="1"/>
            <a:r>
              <a:rPr lang="en-US" sz="2400" dirty="0" smtClean="0">
                <a:latin typeface="Bell MT" pitchFamily="18" charset="0"/>
              </a:rPr>
              <a:t> Explain </a:t>
            </a:r>
            <a:r>
              <a:rPr lang="en-US" sz="2400" dirty="0">
                <a:latin typeface="Bell MT" pitchFamily="18" charset="0"/>
              </a:rPr>
              <a:t>the difference between AR, VR, and MR </a:t>
            </a:r>
            <a:endParaRPr lang="en-US" sz="2400" dirty="0" smtClean="0">
              <a:latin typeface="Bell MT" pitchFamily="18" charset="0"/>
            </a:endParaRPr>
          </a:p>
          <a:p>
            <a:pPr lvl="1"/>
            <a:r>
              <a:rPr lang="en-US" sz="2400" dirty="0" smtClean="0">
                <a:latin typeface="Bell MT" pitchFamily="18" charset="0"/>
              </a:rPr>
              <a:t> </a:t>
            </a:r>
            <a:r>
              <a:rPr lang="en-US" sz="2400" dirty="0">
                <a:latin typeface="Bell MT" pitchFamily="18" charset="0"/>
              </a:rPr>
              <a:t>Explain the architecture of augmented reality systems </a:t>
            </a:r>
            <a:endParaRPr lang="en-US" sz="2400" dirty="0" smtClean="0">
              <a:latin typeface="Bell MT" pitchFamily="18" charset="0"/>
            </a:endParaRPr>
          </a:p>
          <a:p>
            <a:pPr lvl="1"/>
            <a:r>
              <a:rPr lang="en-US" sz="2400" dirty="0" smtClean="0">
                <a:latin typeface="Bell MT" pitchFamily="18" charset="0"/>
              </a:rPr>
              <a:t> </a:t>
            </a:r>
            <a:r>
              <a:rPr lang="en-US" sz="2400" dirty="0">
                <a:latin typeface="Bell MT" pitchFamily="18" charset="0"/>
              </a:rPr>
              <a:t>Describe the application areas of augmented reality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6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800"/>
            <a:ext cx="8153400" cy="5334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Augmented Reality(AR) 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95300" y="2133600"/>
            <a:ext cx="8382000" cy="4368800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Bell MT" pitchFamily="18" charset="0"/>
              </a:rPr>
              <a:t>Augmented Reality(AR) </a:t>
            </a:r>
            <a:r>
              <a:rPr lang="en-US" sz="2400" dirty="0" smtClean="0">
                <a:latin typeface="Bell MT" pitchFamily="18" charset="0"/>
              </a:rPr>
              <a:t>is a </a:t>
            </a:r>
            <a:r>
              <a:rPr lang="en-US" sz="2400" dirty="0">
                <a:latin typeface="Bell MT" pitchFamily="18" charset="0"/>
              </a:rPr>
              <a:t>view of the physical real-world environment with superimposed computer-generated </a:t>
            </a:r>
            <a:r>
              <a:rPr lang="en-US" sz="2400" dirty="0" smtClean="0">
                <a:latin typeface="Bell MT" pitchFamily="18" charset="0"/>
              </a:rPr>
              <a:t>images; thus, </a:t>
            </a:r>
            <a:r>
              <a:rPr lang="en-US" sz="2400" dirty="0">
                <a:latin typeface="Bell MT" pitchFamily="18" charset="0"/>
              </a:rPr>
              <a:t>changing the perception of </a:t>
            </a:r>
            <a:r>
              <a:rPr lang="en-US" sz="2400" dirty="0" smtClean="0">
                <a:latin typeface="Bell MT" pitchFamily="18" charset="0"/>
              </a:rPr>
              <a:t>reality.</a:t>
            </a:r>
          </a:p>
          <a:p>
            <a:r>
              <a:rPr lang="en-US" sz="2400" dirty="0" smtClean="0">
                <a:latin typeface="Bell MT" pitchFamily="18" charset="0"/>
              </a:rPr>
              <a:t>It can be said also a </a:t>
            </a:r>
            <a:r>
              <a:rPr lang="en-US" sz="2400" dirty="0">
                <a:latin typeface="Bell MT" pitchFamily="18" charset="0"/>
              </a:rPr>
              <a:t>live direct or indirect view of a physical, real-world environment whose elements are augmented by computer-generated sensory input such as sound, video, graphics or GPS </a:t>
            </a:r>
            <a:r>
              <a:rPr lang="en-US" sz="2400" dirty="0" smtClean="0">
                <a:latin typeface="Bell MT" pitchFamily="18" charset="0"/>
              </a:rPr>
              <a:t>data.</a:t>
            </a:r>
          </a:p>
          <a:p>
            <a:r>
              <a:rPr lang="en-US" sz="2400" dirty="0" smtClean="0">
                <a:latin typeface="Bell MT" pitchFamily="18" charset="0"/>
              </a:rPr>
              <a:t>AR </a:t>
            </a:r>
            <a:r>
              <a:rPr lang="en-US" sz="2400" dirty="0">
                <a:latin typeface="Bell MT" pitchFamily="18" charset="0"/>
              </a:rPr>
              <a:t>integrates digital information with the user's environment in real-time. </a:t>
            </a:r>
          </a:p>
          <a:p>
            <a:pPr marL="0" indent="0">
              <a:buNone/>
            </a:pPr>
            <a:r>
              <a:rPr lang="en-US" dirty="0">
                <a:latin typeface="Bell MT" pitchFamily="18" charset="0"/>
              </a:rPr>
              <a:t/>
            </a:r>
            <a:br>
              <a:rPr lang="en-US" dirty="0">
                <a:latin typeface="Bell MT" pitchFamily="18" charset="0"/>
              </a:rPr>
            </a:br>
            <a:r>
              <a:rPr lang="en-US" dirty="0">
                <a:latin typeface="Bell MT" pitchFamily="18" charset="0"/>
              </a:rPr>
              <a:t/>
            </a:r>
            <a:br>
              <a:rPr lang="en-US" dirty="0">
                <a:latin typeface="Bell MT" pitchFamily="18" charset="0"/>
              </a:rPr>
            </a:br>
            <a:endParaRPr lang="en-US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93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Augmented Reality Cont’d 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2209800"/>
            <a:ext cx="8153400" cy="4368800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 smtClean="0">
                <a:latin typeface="Bell MT" pitchFamily="18" charset="0"/>
              </a:rPr>
              <a:t>Its influential effect </a:t>
            </a:r>
            <a:r>
              <a:rPr lang="en-US" sz="2600" dirty="0">
                <a:latin typeface="Bell MT" pitchFamily="18" charset="0"/>
              </a:rPr>
              <a:t>is achieved by ensuring that the virtual content is aligned and registered with the real objects.</a:t>
            </a:r>
          </a:p>
          <a:p>
            <a:r>
              <a:rPr lang="en-US" sz="2600" dirty="0">
                <a:latin typeface="Bell MT" pitchFamily="18" charset="0"/>
              </a:rPr>
              <a:t>Unlike virtual reality, which creates a totally artificial environment, augmented reality uses the existing environment and overlays new information on top of it. </a:t>
            </a:r>
          </a:p>
          <a:p>
            <a:r>
              <a:rPr lang="en-US" sz="2600" dirty="0" smtClean="0">
                <a:latin typeface="Bell MT" pitchFamily="18" charset="0"/>
              </a:rPr>
              <a:t>You can simply experience AR using smartphones by downloading AR apps or may be with the help of special </a:t>
            </a:r>
            <a:r>
              <a:rPr lang="en-US" sz="2600" dirty="0">
                <a:latin typeface="Bell MT" pitchFamily="18" charset="0"/>
              </a:rPr>
              <a:t>AR headsets, such as Google Glass, where digital content is displayed on a tiny screen in front of a user’s </a:t>
            </a:r>
            <a:r>
              <a:rPr lang="en-US" sz="2600" dirty="0" smtClean="0">
                <a:latin typeface="Bell MT" pitchFamily="18" charset="0"/>
              </a:rPr>
              <a:t>eye.</a:t>
            </a:r>
          </a:p>
          <a:p>
            <a:pPr lvl="1"/>
            <a:r>
              <a:rPr lang="en-US" sz="2300" dirty="0">
                <a:latin typeface="Bell MT" pitchFamily="18" charset="0"/>
              </a:rPr>
              <a:t>Examples of augmented reality experiences include Snapchat lenses and the game </a:t>
            </a:r>
            <a:r>
              <a:rPr lang="en-US" sz="2300" dirty="0" err="1" smtClean="0">
                <a:latin typeface="Bell MT" pitchFamily="18" charset="0"/>
              </a:rPr>
              <a:t>Pokemon</a:t>
            </a:r>
            <a:r>
              <a:rPr lang="en-US" sz="2300" dirty="0" smtClean="0">
                <a:latin typeface="Bell MT" pitchFamily="18" charset="0"/>
              </a:rPr>
              <a:t> Go</a:t>
            </a:r>
            <a:r>
              <a:rPr lang="en-US" dirty="0">
                <a:latin typeface="Bell MT" pitchFamily="18" charset="0"/>
              </a:rPr>
              <a:t/>
            </a:r>
            <a:br>
              <a:rPr lang="en-US" dirty="0">
                <a:latin typeface="Bell MT" pitchFamily="18" charset="0"/>
              </a:rPr>
            </a:br>
            <a:r>
              <a:rPr lang="en-US" dirty="0">
                <a:latin typeface="Bell MT" pitchFamily="18" charset="0"/>
              </a:rPr>
              <a:t/>
            </a:r>
            <a:br>
              <a:rPr lang="en-US" dirty="0">
                <a:latin typeface="Bell MT" pitchFamily="18" charset="0"/>
              </a:rPr>
            </a:br>
            <a:r>
              <a:rPr lang="en-US" dirty="0">
                <a:latin typeface="Bell MT" pitchFamily="18" charset="0"/>
              </a:rPr>
              <a:t/>
            </a:r>
            <a:br>
              <a:rPr lang="en-US" dirty="0">
                <a:latin typeface="Bell MT" pitchFamily="18" charset="0"/>
              </a:rPr>
            </a:br>
            <a:endParaRPr lang="en-US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9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Augmented Reality Cont’d 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438400"/>
            <a:ext cx="8153400" cy="3733800"/>
          </a:xfrm>
        </p:spPr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7695"/>
            <a:ext cx="8229600" cy="252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24000" y="4495800"/>
            <a:ext cx="4221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Direct and Indirect Augmentation of 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0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Virtual Reality(VR)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52400" y="2133600"/>
            <a:ext cx="8763000" cy="4419600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Bell MT" pitchFamily="18" charset="0"/>
              </a:rPr>
              <a:t>VR</a:t>
            </a:r>
            <a:r>
              <a:rPr lang="en-US" sz="2200" dirty="0">
                <a:latin typeface="Bell MT" pitchFamily="18" charset="0"/>
              </a:rPr>
              <a:t> is fully immersive, which tricks your senses into thinking you’re in a different environment </a:t>
            </a:r>
            <a:r>
              <a:rPr lang="en-US" sz="2200" dirty="0" smtClean="0">
                <a:latin typeface="Bell MT" pitchFamily="18" charset="0"/>
              </a:rPr>
              <a:t>or world </a:t>
            </a:r>
            <a:r>
              <a:rPr lang="en-US" sz="2200" dirty="0">
                <a:latin typeface="Bell MT" pitchFamily="18" charset="0"/>
              </a:rPr>
              <a:t>apart from the real </a:t>
            </a:r>
            <a:r>
              <a:rPr lang="en-US" sz="2200" dirty="0" smtClean="0">
                <a:latin typeface="Bell MT" pitchFamily="18" charset="0"/>
              </a:rPr>
              <a:t>world</a:t>
            </a:r>
          </a:p>
          <a:p>
            <a:r>
              <a:rPr lang="en-US" sz="2200" dirty="0">
                <a:latin typeface="Bell MT" pitchFamily="18" charset="0"/>
              </a:rPr>
              <a:t>Using a head-mounted display (HMD) or headset, </a:t>
            </a:r>
            <a:r>
              <a:rPr lang="en-US" sz="2200" dirty="0" smtClean="0">
                <a:latin typeface="Bell MT" pitchFamily="18" charset="0"/>
              </a:rPr>
              <a:t>you’ll experience </a:t>
            </a:r>
            <a:r>
              <a:rPr lang="en-US" sz="2200" dirty="0">
                <a:latin typeface="Bell MT" pitchFamily="18" charset="0"/>
              </a:rPr>
              <a:t>a computer-generated world of imagery and sounds in which you can </a:t>
            </a:r>
            <a:r>
              <a:rPr lang="en-US" sz="2200" dirty="0" smtClean="0">
                <a:latin typeface="Bell MT" pitchFamily="18" charset="0"/>
              </a:rPr>
              <a:t>manipulate objects </a:t>
            </a:r>
            <a:r>
              <a:rPr lang="en-US" sz="2200" dirty="0">
                <a:latin typeface="Bell MT" pitchFamily="18" charset="0"/>
              </a:rPr>
              <a:t>and move around using haptic controllers while tethered to a console or </a:t>
            </a:r>
            <a:r>
              <a:rPr lang="en-US" sz="2200" dirty="0" smtClean="0">
                <a:latin typeface="Bell MT" pitchFamily="18" charset="0"/>
              </a:rPr>
              <a:t>PC.</a:t>
            </a:r>
          </a:p>
          <a:p>
            <a:r>
              <a:rPr lang="en-US" sz="2200" dirty="0">
                <a:latin typeface="Bell MT" pitchFamily="18" charset="0"/>
              </a:rPr>
              <a:t>VR </a:t>
            </a:r>
            <a:r>
              <a:rPr lang="en-US" sz="2200" dirty="0" smtClean="0">
                <a:latin typeface="Bell MT" pitchFamily="18" charset="0"/>
              </a:rPr>
              <a:t>simulates a </a:t>
            </a:r>
            <a:r>
              <a:rPr lang="en-US" sz="2200" dirty="0">
                <a:latin typeface="Bell MT" pitchFamily="18" charset="0"/>
              </a:rPr>
              <a:t>computer-generated </a:t>
            </a:r>
            <a:r>
              <a:rPr lang="en-US" sz="2200" dirty="0" smtClean="0">
                <a:latin typeface="Bell MT" pitchFamily="18" charset="0"/>
              </a:rPr>
              <a:t>realistic </a:t>
            </a:r>
            <a:r>
              <a:rPr lang="en-US" sz="2200" dirty="0">
                <a:latin typeface="Bell MT" pitchFamily="18" charset="0"/>
              </a:rPr>
              <a:t>experience. </a:t>
            </a:r>
            <a:endParaRPr lang="en-US" sz="2200" dirty="0" smtClean="0">
              <a:latin typeface="Bell MT" pitchFamily="18" charset="0"/>
            </a:endParaRPr>
          </a:p>
          <a:p>
            <a:r>
              <a:rPr lang="en-US" sz="2200" dirty="0" smtClean="0">
                <a:latin typeface="Bell MT" pitchFamily="18" charset="0"/>
              </a:rPr>
              <a:t>Typically </a:t>
            </a:r>
            <a:r>
              <a:rPr lang="en-US" sz="2200" dirty="0">
                <a:latin typeface="Bell MT" pitchFamily="18" charset="0"/>
              </a:rPr>
              <a:t>VR blocks out the real world (“Reality</a:t>
            </a:r>
            <a:r>
              <a:rPr lang="en-US" sz="2200" dirty="0" smtClean="0">
                <a:latin typeface="Bell MT" pitchFamily="18" charset="0"/>
              </a:rPr>
              <a:t>”)and </a:t>
            </a:r>
            <a:r>
              <a:rPr lang="en-US" sz="2200" dirty="0">
                <a:latin typeface="Bell MT" pitchFamily="18" charset="0"/>
              </a:rPr>
              <a:t>replaces it with a “Virtual</a:t>
            </a:r>
            <a:r>
              <a:rPr lang="en-US" sz="2200" dirty="0" smtClean="0">
                <a:latin typeface="Bell MT" pitchFamily="18" charset="0"/>
              </a:rPr>
              <a:t>” world. </a:t>
            </a:r>
          </a:p>
          <a:p>
            <a:r>
              <a:rPr lang="en-US" sz="2200" dirty="0" smtClean="0">
                <a:latin typeface="Bell MT" pitchFamily="18" charset="0"/>
              </a:rPr>
              <a:t>Advanced VR environment will engage all five senses (</a:t>
            </a:r>
            <a:r>
              <a:rPr lang="en-US" sz="2200" b="1" dirty="0" smtClean="0">
                <a:latin typeface="Bell MT" pitchFamily="18" charset="0"/>
              </a:rPr>
              <a:t>taste, sight, smell, touch, sound</a:t>
            </a:r>
            <a:r>
              <a:rPr lang="en-US" sz="2200" dirty="0" smtClean="0">
                <a:latin typeface="Bell MT" pitchFamily="18" charset="0"/>
              </a:rPr>
              <a:t>)</a:t>
            </a:r>
            <a:br>
              <a:rPr lang="en-US" sz="2200" dirty="0" smtClean="0">
                <a:latin typeface="Bell MT" pitchFamily="18" charset="0"/>
              </a:rPr>
            </a:br>
            <a:endParaRPr lang="en-US" sz="22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31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Virtual Reality(VR) Cont’d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52400" y="2209800"/>
            <a:ext cx="8763000" cy="4368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Bell MT" pitchFamily="18" charset="0"/>
              </a:rPr>
              <a:t>Some of popular VR devices such as </a:t>
            </a:r>
            <a:r>
              <a:rPr lang="en-US" sz="2400" b="1" dirty="0" smtClean="0">
                <a:latin typeface="Bell MT" pitchFamily="18" charset="0"/>
              </a:rPr>
              <a:t>HTC </a:t>
            </a:r>
            <a:r>
              <a:rPr lang="en-US" sz="2400" b="1" dirty="0">
                <a:latin typeface="Bell MT" pitchFamily="18" charset="0"/>
              </a:rPr>
              <a:t>Vive, </a:t>
            </a:r>
            <a:r>
              <a:rPr lang="en-US" sz="2400" b="1" dirty="0" smtClean="0">
                <a:latin typeface="Bell MT" pitchFamily="18" charset="0"/>
              </a:rPr>
              <a:t>Ocul us </a:t>
            </a:r>
            <a:r>
              <a:rPr lang="en-US" sz="2400" b="1" dirty="0">
                <a:latin typeface="Bell MT" pitchFamily="18" charset="0"/>
              </a:rPr>
              <a:t>Rift or Google </a:t>
            </a:r>
            <a:r>
              <a:rPr lang="en-US" sz="2400" b="1" dirty="0" smtClean="0">
                <a:latin typeface="Bell MT" pitchFamily="18" charset="0"/>
              </a:rPr>
              <a:t>Cardboard and special hand controllers </a:t>
            </a:r>
            <a:r>
              <a:rPr lang="en-US" sz="2400" dirty="0" smtClean="0">
                <a:latin typeface="Bell MT" pitchFamily="18" charset="0"/>
              </a:rPr>
              <a:t>can be used to enhance it’s experiences. </a:t>
            </a:r>
          </a:p>
          <a:p>
            <a:r>
              <a:rPr lang="en-US" sz="2400" dirty="0">
                <a:latin typeface="Bell MT" pitchFamily="18" charset="0"/>
              </a:rPr>
              <a:t>Most VR headsets are connected to a computer (Oculus Rift) or a gaming console (PlayStation VR</a:t>
            </a:r>
            <a:r>
              <a:rPr lang="en-US" sz="2400" dirty="0" smtClean="0">
                <a:latin typeface="Bell MT" pitchFamily="18" charset="0"/>
              </a:rPr>
              <a:t>)</a:t>
            </a:r>
          </a:p>
          <a:p>
            <a:r>
              <a:rPr lang="en-US" sz="2400" dirty="0" smtClean="0">
                <a:latin typeface="Bell MT" pitchFamily="18" charset="0"/>
              </a:rPr>
              <a:t> There are also standalone </a:t>
            </a:r>
            <a:r>
              <a:rPr lang="en-US" sz="2400" dirty="0">
                <a:latin typeface="Bell MT" pitchFamily="18" charset="0"/>
              </a:rPr>
              <a:t>devices (Google Cardboard is among the most popular</a:t>
            </a:r>
            <a:r>
              <a:rPr lang="en-US" sz="2400" dirty="0" smtClean="0">
                <a:latin typeface="Bell MT" pitchFamily="18" charset="0"/>
              </a:rPr>
              <a:t>).</a:t>
            </a: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r>
              <a:rPr lang="en-US" sz="2400" b="1" dirty="0">
                <a:latin typeface="Bell MT" pitchFamily="18" charset="0"/>
              </a:rPr>
              <a:t/>
            </a:r>
            <a:br>
              <a:rPr lang="en-US" sz="2400" b="1" dirty="0">
                <a:latin typeface="Bell MT" pitchFamily="18" charset="0"/>
              </a:rPr>
            </a:br>
            <a:endParaRPr lang="en-US" sz="2400" b="1" dirty="0" smtClean="0">
              <a:latin typeface="Bell MT" pitchFamily="18" charset="0"/>
            </a:endParaRPr>
          </a:p>
          <a:p>
            <a:pPr marL="0" indent="0">
              <a:buNone/>
            </a:pPr>
            <a:r>
              <a:rPr lang="en-US" dirty="0">
                <a:latin typeface="Bell MT" pitchFamily="18" charset="0"/>
              </a:rPr>
              <a:t/>
            </a:r>
            <a:br>
              <a:rPr lang="en-US" dirty="0">
                <a:latin typeface="Bell MT" pitchFamily="18" charset="0"/>
              </a:rPr>
            </a:br>
            <a:endParaRPr lang="en-US" dirty="0">
              <a:latin typeface="Bell MT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029200"/>
            <a:ext cx="4876800" cy="1817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62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8382000" cy="134112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Mixed Reality(MR) Cont’d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2133600"/>
            <a:ext cx="8763000" cy="3810000"/>
          </a:xfrm>
        </p:spPr>
        <p:txBody>
          <a:bodyPr>
            <a:noAutofit/>
          </a:bodyPr>
          <a:lstStyle/>
          <a:p>
            <a:pPr algn="just"/>
            <a:r>
              <a:rPr lang="en-US" sz="2200" b="1" dirty="0">
                <a:latin typeface="Bell MT" pitchFamily="18" charset="0"/>
              </a:rPr>
              <a:t>Mixed Reality (MR</a:t>
            </a:r>
            <a:r>
              <a:rPr lang="en-US" sz="2200" b="1" dirty="0" smtClean="0">
                <a:latin typeface="Bell MT" pitchFamily="18" charset="0"/>
              </a:rPr>
              <a:t>) </a:t>
            </a:r>
            <a:r>
              <a:rPr lang="en-US" sz="2200" dirty="0" smtClean="0">
                <a:latin typeface="Bell MT" pitchFamily="18" charset="0"/>
              </a:rPr>
              <a:t>sometimes </a:t>
            </a:r>
            <a:r>
              <a:rPr lang="en-US" sz="2200" dirty="0">
                <a:latin typeface="Bell MT" pitchFamily="18" charset="0"/>
              </a:rPr>
              <a:t>referred to as hybrid </a:t>
            </a:r>
            <a:r>
              <a:rPr lang="en-US" sz="2200" dirty="0" smtClean="0">
                <a:latin typeface="Bell MT" pitchFamily="18" charset="0"/>
              </a:rPr>
              <a:t>reality.</a:t>
            </a:r>
          </a:p>
          <a:p>
            <a:pPr algn="just"/>
            <a:r>
              <a:rPr lang="en-US" sz="2200" dirty="0" smtClean="0">
                <a:latin typeface="Bell MT" pitchFamily="18" charset="0"/>
              </a:rPr>
              <a:t>It  </a:t>
            </a:r>
            <a:r>
              <a:rPr lang="en-US" sz="2200" dirty="0">
                <a:latin typeface="Bell MT" pitchFamily="18" charset="0"/>
              </a:rPr>
              <a:t>is the merging of real and </a:t>
            </a:r>
            <a:r>
              <a:rPr lang="en-US" sz="2200" dirty="0" smtClean="0">
                <a:latin typeface="Bell MT" pitchFamily="18" charset="0"/>
              </a:rPr>
              <a:t>virtual worlds </a:t>
            </a:r>
            <a:r>
              <a:rPr lang="en-US" sz="2200" dirty="0">
                <a:latin typeface="Bell MT" pitchFamily="18" charset="0"/>
              </a:rPr>
              <a:t>to produce new environments and </a:t>
            </a:r>
            <a:r>
              <a:rPr lang="en-US" sz="2200" dirty="0" smtClean="0">
                <a:latin typeface="Bell MT" pitchFamily="18" charset="0"/>
              </a:rPr>
              <a:t>visualizations; </a:t>
            </a:r>
            <a:r>
              <a:rPr lang="en-US" sz="2200" dirty="0">
                <a:latin typeface="Bell MT" pitchFamily="18" charset="0"/>
              </a:rPr>
              <a:t>where physical and digital objects </a:t>
            </a:r>
            <a:r>
              <a:rPr lang="en-US" sz="2200" dirty="0" smtClean="0">
                <a:latin typeface="Bell MT" pitchFamily="18" charset="0"/>
              </a:rPr>
              <a:t>co-exist and </a:t>
            </a:r>
            <a:r>
              <a:rPr lang="en-US" sz="2200" dirty="0">
                <a:latin typeface="Bell MT" pitchFamily="18" charset="0"/>
              </a:rPr>
              <a:t>interact in real-time</a:t>
            </a:r>
            <a:r>
              <a:rPr lang="en-US" sz="2200" dirty="0" smtClean="0">
                <a:latin typeface="Bell MT" pitchFamily="18" charset="0"/>
              </a:rPr>
              <a:t>.</a:t>
            </a:r>
          </a:p>
          <a:p>
            <a:pPr algn="just"/>
            <a:r>
              <a:rPr lang="en-US" sz="2200" dirty="0">
                <a:latin typeface="Bell MT" pitchFamily="18" charset="0"/>
              </a:rPr>
              <a:t>It means placing new imagery within a real space in such a way that the new imagery is able to interact, to an extent, with what is real in the physical world we </a:t>
            </a:r>
            <a:r>
              <a:rPr lang="en-US" sz="2200" dirty="0" smtClean="0">
                <a:latin typeface="Bell MT" pitchFamily="18" charset="0"/>
              </a:rPr>
              <a:t>know.</a:t>
            </a:r>
          </a:p>
          <a:p>
            <a:pPr lvl="1" algn="just"/>
            <a:r>
              <a:rPr lang="en-US" sz="2000" b="1" dirty="0">
                <a:latin typeface="Bell MT" pitchFamily="18" charset="0"/>
              </a:rPr>
              <a:t>For example, </a:t>
            </a:r>
            <a:r>
              <a:rPr lang="en-US" sz="2000" dirty="0">
                <a:latin typeface="Bell MT" pitchFamily="18" charset="0"/>
              </a:rPr>
              <a:t>with MR, you can play a virtual video game, grab your real-world water bottle, </a:t>
            </a:r>
            <a:r>
              <a:rPr lang="en-US" sz="2000" dirty="0" smtClean="0">
                <a:latin typeface="Bell MT" pitchFamily="18" charset="0"/>
              </a:rPr>
              <a:t>and smack </a:t>
            </a:r>
            <a:r>
              <a:rPr lang="en-US" sz="2000" dirty="0">
                <a:latin typeface="Bell MT" pitchFamily="18" charset="0"/>
              </a:rPr>
              <a:t>an imaginary character from the game with the </a:t>
            </a:r>
            <a:r>
              <a:rPr lang="en-US" sz="2000" dirty="0" smtClean="0">
                <a:latin typeface="Bell MT" pitchFamily="18" charset="0"/>
              </a:rPr>
              <a:t>bottle. </a:t>
            </a:r>
          </a:p>
          <a:p>
            <a:pPr marL="0" indent="0" algn="just">
              <a:buNone/>
            </a:pP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r>
              <a:rPr lang="en-US" sz="2400" b="1" dirty="0">
                <a:latin typeface="Bell MT" pitchFamily="18" charset="0"/>
              </a:rPr>
              <a:t/>
            </a:r>
            <a:br>
              <a:rPr lang="en-US" sz="2400" b="1" dirty="0">
                <a:latin typeface="Bell MT" pitchFamily="18" charset="0"/>
              </a:rPr>
            </a:br>
            <a:endParaRPr lang="en-US" sz="2400" b="1" dirty="0" smtClean="0">
              <a:latin typeface="Bell MT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endParaRPr lang="en-US" sz="24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82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8382000" cy="134112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Mixed Reality(MR) Cont’d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0500" y="2286000"/>
            <a:ext cx="8763000" cy="43688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Bell MT" pitchFamily="18" charset="0"/>
              </a:rPr>
              <a:t>The </a:t>
            </a:r>
            <a:r>
              <a:rPr lang="en-US" sz="2000" b="1" dirty="0">
                <a:latin typeface="Bell MT" pitchFamily="18" charset="0"/>
              </a:rPr>
              <a:t>key</a:t>
            </a:r>
            <a:r>
              <a:rPr lang="en-US" sz="2000" dirty="0">
                <a:latin typeface="Bell MT" pitchFamily="18" charset="0"/>
              </a:rPr>
              <a:t> characteristic of </a:t>
            </a:r>
            <a:r>
              <a:rPr lang="en-US" sz="2000" b="1" dirty="0">
                <a:latin typeface="Bell MT" pitchFamily="18" charset="0"/>
              </a:rPr>
              <a:t>MR</a:t>
            </a:r>
            <a:r>
              <a:rPr lang="en-US" sz="2000" dirty="0">
                <a:latin typeface="Bell MT" pitchFamily="18" charset="0"/>
              </a:rPr>
              <a:t> is that the synthetic content and the real-world content are able </a:t>
            </a:r>
            <a:r>
              <a:rPr lang="en-US" sz="2000" dirty="0" smtClean="0">
                <a:latin typeface="Bell MT" pitchFamily="18" charset="0"/>
              </a:rPr>
              <a:t>to react each </a:t>
            </a:r>
            <a:r>
              <a:rPr lang="en-US" sz="2000" dirty="0">
                <a:latin typeface="Bell MT" pitchFamily="18" charset="0"/>
              </a:rPr>
              <a:t>other in </a:t>
            </a:r>
            <a:r>
              <a:rPr lang="en-US" sz="2000" b="1" dirty="0" smtClean="0">
                <a:latin typeface="Bell MT" pitchFamily="18" charset="0"/>
              </a:rPr>
              <a:t>real-time</a:t>
            </a:r>
            <a:r>
              <a:rPr lang="en-US" sz="2000" dirty="0" smtClean="0">
                <a:latin typeface="Bell MT" pitchFamily="18" charset="0"/>
              </a:rPr>
              <a:t>.</a:t>
            </a:r>
          </a:p>
          <a:p>
            <a:r>
              <a:rPr lang="en-US" sz="2000" dirty="0" smtClean="0">
                <a:latin typeface="Bell MT" pitchFamily="18" charset="0"/>
              </a:rPr>
              <a:t>Next-generation </a:t>
            </a:r>
            <a:r>
              <a:rPr lang="en-US" sz="2000" dirty="0">
                <a:latin typeface="Bell MT" pitchFamily="18" charset="0"/>
              </a:rPr>
              <a:t>sensing and imaging </a:t>
            </a:r>
            <a:r>
              <a:rPr lang="en-US" sz="2000" dirty="0" smtClean="0">
                <a:latin typeface="Bell MT" pitchFamily="18" charset="0"/>
              </a:rPr>
              <a:t>technologies allows us to interact with and manipulate physical and virtual items in MR.</a:t>
            </a:r>
          </a:p>
          <a:p>
            <a:r>
              <a:rPr lang="en-US" sz="2000" dirty="0">
                <a:latin typeface="Bell MT" pitchFamily="18" charset="0"/>
              </a:rPr>
              <a:t> Mixed reality hardware is still emerging and hasn’t quite broken into the mainstream </a:t>
            </a:r>
            <a:r>
              <a:rPr lang="en-US" sz="2000" dirty="0" smtClean="0">
                <a:latin typeface="Bell MT" pitchFamily="18" charset="0"/>
              </a:rPr>
              <a:t>consumer market</a:t>
            </a:r>
            <a:r>
              <a:rPr lang="en-US" sz="2000" dirty="0">
                <a:latin typeface="Bell MT" pitchFamily="18" charset="0"/>
              </a:rPr>
              <a:t>, most likely due to the price. </a:t>
            </a:r>
            <a:endParaRPr lang="en-US" sz="2000" dirty="0" smtClean="0">
              <a:latin typeface="Bell MT" pitchFamily="18" charset="0"/>
            </a:endParaRPr>
          </a:p>
          <a:p>
            <a:pPr lvl="1"/>
            <a:r>
              <a:rPr lang="en-US" sz="1800" dirty="0" smtClean="0">
                <a:latin typeface="Bell MT" pitchFamily="18" charset="0"/>
              </a:rPr>
              <a:t>The </a:t>
            </a:r>
            <a:r>
              <a:rPr lang="en-US" sz="1800" dirty="0">
                <a:latin typeface="Bell MT" pitchFamily="18" charset="0"/>
              </a:rPr>
              <a:t>consumer releases of the Microsoft HoloLens and </a:t>
            </a:r>
            <a:r>
              <a:rPr lang="en-US" sz="1800" dirty="0" smtClean="0">
                <a:latin typeface="Bell MT" pitchFamily="18" charset="0"/>
              </a:rPr>
              <a:t>Magic Leap </a:t>
            </a:r>
            <a:r>
              <a:rPr lang="en-US" sz="1800" dirty="0">
                <a:latin typeface="Bell MT" pitchFamily="18" charset="0"/>
              </a:rPr>
              <a:t>One retail for over $2000 USD, which is 3 to 4 times the cost of the PlayStation VR </a:t>
            </a:r>
            <a:r>
              <a:rPr lang="en-US" sz="1800" dirty="0" smtClean="0">
                <a:latin typeface="Bell MT" pitchFamily="18" charset="0"/>
              </a:rPr>
              <a:t>and HTC </a:t>
            </a:r>
            <a:r>
              <a:rPr lang="en-US" sz="1800" dirty="0">
                <a:latin typeface="Bell MT" pitchFamily="18" charset="0"/>
              </a:rPr>
              <a:t>Vive VR </a:t>
            </a:r>
            <a:r>
              <a:rPr lang="en-US" sz="1800" dirty="0" smtClean="0">
                <a:latin typeface="Bell MT" pitchFamily="18" charset="0"/>
              </a:rPr>
              <a:t>headsets</a:t>
            </a:r>
          </a:p>
          <a:p>
            <a:r>
              <a:rPr lang="en-US" sz="2000" dirty="0" smtClean="0">
                <a:latin typeface="Bell MT" pitchFamily="18" charset="0"/>
              </a:rPr>
              <a:t>Thus MR applications require exponentially high processing power built on the top of powerful hardware.</a:t>
            </a: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r>
              <a:rPr lang="en-US" sz="2400" b="1" dirty="0">
                <a:latin typeface="Bell MT" pitchFamily="18" charset="0"/>
              </a:rPr>
              <a:t/>
            </a:r>
            <a:br>
              <a:rPr lang="en-US" sz="2400" b="1" dirty="0">
                <a:latin typeface="Bell MT" pitchFamily="18" charset="0"/>
              </a:rPr>
            </a:br>
            <a:endParaRPr lang="en-US" sz="2400" b="1" dirty="0" smtClean="0">
              <a:latin typeface="Bell MT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endParaRPr lang="en-US" sz="24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07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364" y="457200"/>
            <a:ext cx="8382000" cy="134112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Mixed Reality(MR) Cont’d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2286000"/>
            <a:ext cx="9067800" cy="43688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Bell MT" pitchFamily="18" charset="0"/>
              </a:rPr>
              <a:t>Microsoft HoloLens tool is comprise the following components;</a:t>
            </a:r>
          </a:p>
          <a:p>
            <a:pPr lvl="1"/>
            <a:r>
              <a:rPr lang="en-US" sz="2000" dirty="0" smtClean="0">
                <a:latin typeface="Bell MT" pitchFamily="18" charset="0"/>
              </a:rPr>
              <a:t>Built-in </a:t>
            </a:r>
            <a:r>
              <a:rPr lang="en-US" sz="2000" dirty="0">
                <a:latin typeface="Bell MT" pitchFamily="18" charset="0"/>
              </a:rPr>
              <a:t>microphone </a:t>
            </a:r>
            <a:r>
              <a:rPr lang="en-US" sz="2000" dirty="0" smtClean="0">
                <a:latin typeface="Bell MT" pitchFamily="18" charset="0"/>
              </a:rPr>
              <a:t>array</a:t>
            </a:r>
          </a:p>
          <a:p>
            <a:pPr lvl="1"/>
            <a:r>
              <a:rPr lang="en-US" sz="2000" dirty="0" smtClean="0">
                <a:latin typeface="Bell MT" pitchFamily="18" charset="0"/>
              </a:rPr>
              <a:t> Binaural </a:t>
            </a:r>
            <a:r>
              <a:rPr lang="en-US" sz="2000" dirty="0">
                <a:latin typeface="Bell MT" pitchFamily="18" charset="0"/>
              </a:rPr>
              <a:t>sound </a:t>
            </a:r>
            <a:r>
              <a:rPr lang="en-US" sz="2000" dirty="0" smtClean="0">
                <a:latin typeface="Bell MT" pitchFamily="18" charset="0"/>
              </a:rPr>
              <a:t>capabilities</a:t>
            </a:r>
          </a:p>
          <a:p>
            <a:pPr lvl="1"/>
            <a:r>
              <a:rPr lang="en-US" sz="2000" dirty="0" smtClean="0">
                <a:latin typeface="Bell MT" pitchFamily="18" charset="0"/>
              </a:rPr>
              <a:t> A </a:t>
            </a:r>
            <a:r>
              <a:rPr lang="en-US" sz="2000" dirty="0">
                <a:latin typeface="Bell MT" pitchFamily="18" charset="0"/>
              </a:rPr>
              <a:t>built-in camera for </a:t>
            </a:r>
            <a:r>
              <a:rPr lang="en-US" sz="2000" dirty="0" smtClean="0">
                <a:latin typeface="Bell MT" pitchFamily="18" charset="0"/>
              </a:rPr>
              <a:t>recording</a:t>
            </a:r>
          </a:p>
          <a:p>
            <a:pPr lvl="1"/>
            <a:r>
              <a:rPr lang="en-US" sz="2000" dirty="0" smtClean="0">
                <a:latin typeface="Bell MT" pitchFamily="18" charset="0"/>
              </a:rPr>
              <a:t> A </a:t>
            </a:r>
            <a:r>
              <a:rPr lang="en-US" sz="2000" dirty="0">
                <a:latin typeface="Bell MT" pitchFamily="18" charset="0"/>
              </a:rPr>
              <a:t>depth </a:t>
            </a:r>
            <a:r>
              <a:rPr lang="en-US" sz="2000" dirty="0" smtClean="0">
                <a:latin typeface="Bell MT" pitchFamily="18" charset="0"/>
              </a:rPr>
              <a:t>sensor</a:t>
            </a:r>
          </a:p>
          <a:p>
            <a:pPr lvl="1"/>
            <a:r>
              <a:rPr lang="en-US" sz="2000" dirty="0" smtClean="0">
                <a:latin typeface="Bell MT" pitchFamily="18" charset="0"/>
              </a:rPr>
              <a:t>Head-tracking cameras and </a:t>
            </a:r>
          </a:p>
          <a:p>
            <a:pPr lvl="1"/>
            <a:r>
              <a:rPr lang="en-US" sz="2000" dirty="0" smtClean="0">
                <a:latin typeface="Bell MT" pitchFamily="18" charset="0"/>
              </a:rPr>
              <a:t>An inertial measurement </a:t>
            </a:r>
            <a:r>
              <a:rPr lang="en-US" sz="2000" dirty="0">
                <a:latin typeface="Bell MT" pitchFamily="18" charset="0"/>
              </a:rPr>
              <a:t>unit which helps track your head </a:t>
            </a:r>
            <a:r>
              <a:rPr lang="en-US" sz="2000" dirty="0" smtClean="0">
                <a:latin typeface="Bell MT" pitchFamily="18" charset="0"/>
              </a:rPr>
              <a:t>movement.</a:t>
            </a:r>
            <a:r>
              <a:rPr lang="en-US" sz="2200" dirty="0">
                <a:latin typeface="Bell MT" pitchFamily="18" charset="0"/>
              </a:rPr>
              <a:t/>
            </a:r>
            <a:br>
              <a:rPr lang="en-US" sz="2200" dirty="0">
                <a:latin typeface="Bell MT" pitchFamily="18" charset="0"/>
              </a:rPr>
            </a:br>
            <a:r>
              <a:rPr lang="en-US" sz="2200" dirty="0">
                <a:latin typeface="Bell MT" pitchFamily="18" charset="0"/>
              </a:rPr>
              <a:t/>
            </a:r>
            <a:br>
              <a:rPr lang="en-US" sz="2200" dirty="0">
                <a:latin typeface="Bell MT" pitchFamily="18" charset="0"/>
              </a:rPr>
            </a:br>
            <a:r>
              <a:rPr lang="en-US" sz="2200" dirty="0">
                <a:latin typeface="Bell MT" pitchFamily="18" charset="0"/>
              </a:rPr>
              <a:t/>
            </a:r>
            <a:br>
              <a:rPr lang="en-US" sz="2200" dirty="0">
                <a:latin typeface="Bell MT" pitchFamily="18" charset="0"/>
              </a:rPr>
            </a:br>
            <a:r>
              <a:rPr lang="en-US" sz="2200" dirty="0">
                <a:latin typeface="Bell MT" pitchFamily="18" charset="0"/>
              </a:rPr>
              <a:t/>
            </a:r>
            <a:br>
              <a:rPr lang="en-US" sz="2200" dirty="0">
                <a:latin typeface="Bell MT" pitchFamily="18" charset="0"/>
              </a:rPr>
            </a:br>
            <a:r>
              <a:rPr lang="en-US" sz="2200" b="1" dirty="0">
                <a:latin typeface="Bell MT" pitchFamily="18" charset="0"/>
              </a:rPr>
              <a:t/>
            </a:r>
            <a:br>
              <a:rPr lang="en-US" sz="2200" b="1" dirty="0">
                <a:latin typeface="Bell MT" pitchFamily="18" charset="0"/>
              </a:rPr>
            </a:br>
            <a:endParaRPr lang="en-US" sz="2200" b="1" dirty="0" smtClean="0">
              <a:latin typeface="Bell MT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Bell MT" pitchFamily="18" charset="0"/>
              </a:rPr>
              <a:t/>
            </a:r>
            <a:br>
              <a:rPr lang="en-US" sz="2400" dirty="0">
                <a:latin typeface="Bell MT" pitchFamily="18" charset="0"/>
              </a:rPr>
            </a:br>
            <a:endParaRPr lang="en-US" sz="24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74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0"/>
            <a:ext cx="8153400" cy="134112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Architecture  </a:t>
            </a:r>
            <a:r>
              <a:rPr lang="en-US" sz="3200" dirty="0"/>
              <a:t>of AR Systems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30382" y="2362200"/>
            <a:ext cx="8153400" cy="43688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Bell MT" pitchFamily="18" charset="0"/>
              </a:rPr>
              <a:t>The first Augmented Reality Systems (ARS) were usually designed with a basis on three </a:t>
            </a:r>
            <a:r>
              <a:rPr lang="en-US" sz="2400" dirty="0" smtClean="0">
                <a:latin typeface="Bell MT" pitchFamily="18" charset="0"/>
              </a:rPr>
              <a:t>main blocks</a:t>
            </a:r>
          </a:p>
          <a:p>
            <a:pPr lvl="1"/>
            <a:r>
              <a:rPr lang="en-US" sz="2400" dirty="0" smtClean="0">
                <a:latin typeface="Bell MT" pitchFamily="18" charset="0"/>
              </a:rPr>
              <a:t>  </a:t>
            </a:r>
            <a:r>
              <a:rPr lang="en-US" sz="2400" dirty="0">
                <a:latin typeface="Bell MT" pitchFamily="18" charset="0"/>
              </a:rPr>
              <a:t>Infrastructure Tracker </a:t>
            </a:r>
            <a:r>
              <a:rPr lang="en-US" sz="2400" dirty="0" smtClean="0">
                <a:latin typeface="Bell MT" pitchFamily="18" charset="0"/>
              </a:rPr>
              <a:t>Unit</a:t>
            </a:r>
          </a:p>
          <a:p>
            <a:pPr lvl="2"/>
            <a:r>
              <a:rPr lang="en-US" sz="1800" dirty="0" smtClean="0">
                <a:latin typeface="Bell MT" pitchFamily="18" charset="0"/>
              </a:rPr>
              <a:t>Responsible  </a:t>
            </a:r>
            <a:r>
              <a:rPr lang="en-US" sz="1800" dirty="0">
                <a:latin typeface="Bell MT" pitchFamily="18" charset="0"/>
              </a:rPr>
              <a:t>for collecting data from the real world, sending them to the Processing Unit</a:t>
            </a:r>
            <a:endParaRPr lang="en-US" sz="1800" dirty="0" smtClean="0">
              <a:latin typeface="Bell MT" pitchFamily="18" charset="0"/>
            </a:endParaRPr>
          </a:p>
          <a:p>
            <a:pPr lvl="1"/>
            <a:r>
              <a:rPr lang="en-US" sz="2400" dirty="0" smtClean="0">
                <a:latin typeface="Bell MT" pitchFamily="18" charset="0"/>
              </a:rPr>
              <a:t>  </a:t>
            </a:r>
            <a:r>
              <a:rPr lang="en-US" sz="2400" dirty="0">
                <a:latin typeface="Bell MT" pitchFamily="18" charset="0"/>
              </a:rPr>
              <a:t>Processing </a:t>
            </a:r>
            <a:r>
              <a:rPr lang="en-US" sz="2400" dirty="0" smtClean="0">
                <a:latin typeface="Bell MT" pitchFamily="18" charset="0"/>
              </a:rPr>
              <a:t>Unit </a:t>
            </a:r>
          </a:p>
          <a:p>
            <a:pPr lvl="2"/>
            <a:r>
              <a:rPr lang="en-US" sz="1800" dirty="0" smtClean="0">
                <a:latin typeface="Bell MT" pitchFamily="18" charset="0"/>
              </a:rPr>
              <a:t>Mix  </a:t>
            </a:r>
            <a:r>
              <a:rPr lang="en-US" sz="1800" dirty="0">
                <a:latin typeface="Bell MT" pitchFamily="18" charset="0"/>
              </a:rPr>
              <a:t>the virtual content with the real </a:t>
            </a:r>
            <a:r>
              <a:rPr lang="en-US" sz="1800" dirty="0" smtClean="0">
                <a:latin typeface="Bell MT" pitchFamily="18" charset="0"/>
              </a:rPr>
              <a:t>content and </a:t>
            </a:r>
            <a:r>
              <a:rPr lang="en-US" sz="1800" dirty="0">
                <a:latin typeface="Bell MT" pitchFamily="18" charset="0"/>
              </a:rPr>
              <a:t>sent the result to the Video Out module of the Visual Unit</a:t>
            </a:r>
            <a:endParaRPr lang="en-US" sz="1800" dirty="0" smtClean="0">
              <a:latin typeface="Bell MT" pitchFamily="18" charset="0"/>
            </a:endParaRPr>
          </a:p>
          <a:p>
            <a:pPr lvl="1"/>
            <a:r>
              <a:rPr lang="en-US" sz="2400" dirty="0" smtClean="0">
                <a:latin typeface="Bell MT" pitchFamily="18" charset="0"/>
              </a:rPr>
              <a:t>Visual Unit</a:t>
            </a:r>
            <a:endParaRPr lang="en-US" sz="24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35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0"/>
            <a:ext cx="8153400" cy="134112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Architecture  </a:t>
            </a:r>
            <a:r>
              <a:rPr lang="en-US" sz="3200" dirty="0"/>
              <a:t>of AR </a:t>
            </a:r>
            <a:r>
              <a:rPr lang="en-US" sz="3200" dirty="0" smtClean="0"/>
              <a:t>Systems Cont’d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2362200"/>
            <a:ext cx="8153400" cy="43688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Bell MT" pitchFamily="18" charset="0"/>
              </a:rPr>
              <a:t>The Visual Unit can be classified into two types of </a:t>
            </a:r>
            <a:r>
              <a:rPr lang="en-US" sz="2400" dirty="0" smtClean="0">
                <a:latin typeface="Bell MT" pitchFamily="18" charset="0"/>
              </a:rPr>
              <a:t>system based on the visualization technology</a:t>
            </a:r>
            <a:r>
              <a:rPr lang="en-US" sz="2400" dirty="0">
                <a:latin typeface="Bell MT" pitchFamily="18" charset="0"/>
              </a:rPr>
              <a:t>:</a:t>
            </a:r>
            <a:endParaRPr lang="en-US" sz="2400" dirty="0" smtClean="0">
              <a:latin typeface="Bell MT" pitchFamily="18" charset="0"/>
            </a:endParaRPr>
          </a:p>
          <a:p>
            <a:pPr lvl="1"/>
            <a:r>
              <a:rPr lang="en-US" sz="2100" b="1" dirty="0" smtClean="0">
                <a:latin typeface="Bell MT" pitchFamily="18" charset="0"/>
              </a:rPr>
              <a:t>Video </a:t>
            </a:r>
            <a:r>
              <a:rPr lang="en-US" sz="2100" b="1" dirty="0">
                <a:latin typeface="Bell MT" pitchFamily="18" charset="0"/>
              </a:rPr>
              <a:t>see-through</a:t>
            </a:r>
            <a:r>
              <a:rPr lang="en-US" sz="2100" dirty="0">
                <a:latin typeface="Bell MT" pitchFamily="18" charset="0"/>
              </a:rPr>
              <a:t>: It uses a Head-Mounted Display (HMD) that employs a </a:t>
            </a:r>
            <a:r>
              <a:rPr lang="en-US" sz="2100" dirty="0" smtClean="0">
                <a:latin typeface="Bell MT" pitchFamily="18" charset="0"/>
              </a:rPr>
              <a:t>video-mixing and </a:t>
            </a:r>
            <a:r>
              <a:rPr lang="en-US" sz="2100" dirty="0">
                <a:latin typeface="Bell MT" pitchFamily="18" charset="0"/>
              </a:rPr>
              <a:t>displays the merged images on a closed-view HMD.</a:t>
            </a:r>
          </a:p>
          <a:p>
            <a:pPr lvl="1"/>
            <a:r>
              <a:rPr lang="en-US" sz="2100" b="1" dirty="0" smtClean="0">
                <a:latin typeface="Bell MT" pitchFamily="18" charset="0"/>
              </a:rPr>
              <a:t>Optical </a:t>
            </a:r>
            <a:r>
              <a:rPr lang="en-US" sz="2100" b="1" dirty="0">
                <a:latin typeface="Bell MT" pitchFamily="18" charset="0"/>
              </a:rPr>
              <a:t>see-through</a:t>
            </a:r>
            <a:r>
              <a:rPr lang="en-US" sz="2100" dirty="0">
                <a:latin typeface="Bell MT" pitchFamily="18" charset="0"/>
              </a:rPr>
              <a:t>: It uses an HMD that employs optical combiners to merge the </a:t>
            </a:r>
            <a:r>
              <a:rPr lang="en-US" sz="2100" dirty="0" smtClean="0">
                <a:latin typeface="Bell MT" pitchFamily="18" charset="0"/>
              </a:rPr>
              <a:t>images within </a:t>
            </a:r>
            <a:r>
              <a:rPr lang="en-US" sz="2100" dirty="0">
                <a:latin typeface="Bell MT" pitchFamily="18" charset="0"/>
              </a:rPr>
              <a:t>an open-view HMD.</a:t>
            </a:r>
          </a:p>
        </p:txBody>
      </p:sp>
    </p:spTree>
    <p:extLst>
      <p:ext uri="{BB962C8B-B14F-4D97-AF65-F5344CB8AC3E}">
        <p14:creationId xmlns:p14="http://schemas.microsoft.com/office/powerpoint/2010/main" val="57803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0"/>
            <a:ext cx="8153400" cy="134112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Architecture  </a:t>
            </a:r>
            <a:r>
              <a:rPr lang="en-US" sz="3200" dirty="0"/>
              <a:t>of AR Systems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236732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Augmented reality systems standard architecture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09800"/>
            <a:ext cx="7772400" cy="400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426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673" y="838200"/>
            <a:ext cx="8153400" cy="134112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AR, VR Vs. MR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52400" y="2179320"/>
            <a:ext cx="8763000" cy="478028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Bell MT" pitchFamily="18" charset="0"/>
              </a:rPr>
              <a:t>With constant development in computer vision and the exponential advancement of </a:t>
            </a:r>
            <a:r>
              <a:rPr lang="en-US" sz="2000" dirty="0" smtClean="0">
                <a:latin typeface="Bell MT" pitchFamily="18" charset="0"/>
              </a:rPr>
              <a:t>computer processing </a:t>
            </a:r>
            <a:r>
              <a:rPr lang="en-US" sz="2000" dirty="0">
                <a:latin typeface="Bell MT" pitchFamily="18" charset="0"/>
              </a:rPr>
              <a:t>power, virtual reality (VR), augmented reality (AR), and mixed reality (</a:t>
            </a:r>
            <a:r>
              <a:rPr lang="en-US" sz="2000" dirty="0" smtClean="0">
                <a:latin typeface="Bell MT" pitchFamily="18" charset="0"/>
              </a:rPr>
              <a:t>MR) technology </a:t>
            </a:r>
            <a:r>
              <a:rPr lang="en-US" sz="2000" dirty="0">
                <a:latin typeface="Bell MT" pitchFamily="18" charset="0"/>
              </a:rPr>
              <a:t>is becoming more and </a:t>
            </a:r>
            <a:r>
              <a:rPr lang="en-US" sz="2000" dirty="0" smtClean="0">
                <a:latin typeface="Bell MT" pitchFamily="18" charset="0"/>
              </a:rPr>
              <a:t>more prominent.</a:t>
            </a:r>
          </a:p>
          <a:p>
            <a:r>
              <a:rPr lang="en-US" sz="2000" dirty="0" smtClean="0">
                <a:latin typeface="Bell MT" pitchFamily="18" charset="0"/>
              </a:rPr>
              <a:t>There is some overlap </a:t>
            </a:r>
            <a:r>
              <a:rPr lang="en-US" sz="2000" dirty="0">
                <a:latin typeface="Bell MT" pitchFamily="18" charset="0"/>
              </a:rPr>
              <a:t>in the applications </a:t>
            </a:r>
            <a:r>
              <a:rPr lang="en-US" sz="2000" dirty="0" smtClean="0">
                <a:latin typeface="Bell MT" pitchFamily="18" charset="0"/>
              </a:rPr>
              <a:t>and functions </a:t>
            </a:r>
            <a:r>
              <a:rPr lang="en-US" sz="2000" dirty="0">
                <a:latin typeface="Bell MT" pitchFamily="18" charset="0"/>
              </a:rPr>
              <a:t>of these emerging technologies, sometimes these terms get confused or are </a:t>
            </a:r>
            <a:r>
              <a:rPr lang="en-US" sz="2000" dirty="0" smtClean="0">
                <a:latin typeface="Bell MT" pitchFamily="18" charset="0"/>
              </a:rPr>
              <a:t>used incorrectly.</a:t>
            </a:r>
          </a:p>
          <a:p>
            <a:r>
              <a:rPr lang="en-US" sz="2000" dirty="0">
                <a:latin typeface="Bell MT" pitchFamily="18" charset="0"/>
              </a:rPr>
              <a:t>One of the most obvious differences among augmented reality, virtual reality, and mixed reality </a:t>
            </a:r>
            <a:r>
              <a:rPr lang="en-US" sz="2000" dirty="0" smtClean="0">
                <a:latin typeface="Bell MT" pitchFamily="18" charset="0"/>
              </a:rPr>
              <a:t>is the </a:t>
            </a:r>
            <a:r>
              <a:rPr lang="en-US" sz="2000" dirty="0">
                <a:latin typeface="Bell MT" pitchFamily="18" charset="0"/>
              </a:rPr>
              <a:t>hardware </a:t>
            </a:r>
            <a:r>
              <a:rPr lang="en-US" sz="2000" dirty="0" smtClean="0">
                <a:latin typeface="Bell MT" pitchFamily="18" charset="0"/>
              </a:rPr>
              <a:t>requirements. Moreover, the following are basic differences;</a:t>
            </a:r>
          </a:p>
          <a:p>
            <a:pPr lvl="2"/>
            <a:r>
              <a:rPr lang="en-US" sz="1600" dirty="0" smtClean="0">
                <a:latin typeface="Bell MT" pitchFamily="18" charset="0"/>
              </a:rPr>
              <a:t>VR </a:t>
            </a:r>
            <a:r>
              <a:rPr lang="en-US" sz="1600" dirty="0">
                <a:latin typeface="Bell MT" pitchFamily="18" charset="0"/>
              </a:rPr>
              <a:t>is content which is 100% digital and can be enjoyed in </a:t>
            </a:r>
            <a:r>
              <a:rPr lang="en-US" sz="1600" dirty="0" smtClean="0">
                <a:latin typeface="Bell MT" pitchFamily="18" charset="0"/>
              </a:rPr>
              <a:t>a fully immersive environment,</a:t>
            </a:r>
          </a:p>
          <a:p>
            <a:pPr lvl="2"/>
            <a:r>
              <a:rPr lang="en-US" sz="1600" dirty="0" smtClean="0">
                <a:latin typeface="Bell MT" pitchFamily="18" charset="0"/>
              </a:rPr>
              <a:t>AR </a:t>
            </a:r>
            <a:r>
              <a:rPr lang="en-US" sz="1600" dirty="0">
                <a:latin typeface="Bell MT" pitchFamily="18" charset="0"/>
              </a:rPr>
              <a:t>overlays digital content on top of the </a:t>
            </a:r>
            <a:r>
              <a:rPr lang="en-US" sz="1600" dirty="0" smtClean="0">
                <a:latin typeface="Bell MT" pitchFamily="18" charset="0"/>
              </a:rPr>
              <a:t>real-world and</a:t>
            </a:r>
          </a:p>
          <a:p>
            <a:pPr lvl="2"/>
            <a:r>
              <a:rPr lang="en-US" sz="1600" dirty="0" smtClean="0">
                <a:latin typeface="Bell MT" pitchFamily="18" charset="0"/>
              </a:rPr>
              <a:t>MR </a:t>
            </a:r>
            <a:r>
              <a:rPr lang="en-US" sz="1600" dirty="0">
                <a:latin typeface="Bell MT" pitchFamily="18" charset="0"/>
              </a:rPr>
              <a:t>is </a:t>
            </a:r>
            <a:r>
              <a:rPr lang="en-US" sz="1600" dirty="0" smtClean="0">
                <a:latin typeface="Bell MT" pitchFamily="18" charset="0"/>
              </a:rPr>
              <a:t>a digital </a:t>
            </a:r>
            <a:r>
              <a:rPr lang="en-US" sz="1600" dirty="0">
                <a:latin typeface="Bell MT" pitchFamily="18" charset="0"/>
              </a:rPr>
              <a:t>overlay that allows interactive virtual elements to integrate and interact with the real-world </a:t>
            </a:r>
            <a:r>
              <a:rPr lang="en-US" sz="1600" dirty="0" smtClean="0">
                <a:latin typeface="Bell MT" pitchFamily="18" charset="0"/>
              </a:rPr>
              <a:t>environment.</a:t>
            </a:r>
          </a:p>
          <a:p>
            <a:pPr marL="0" indent="0">
              <a:buNone/>
            </a:pPr>
            <a:r>
              <a:rPr lang="en-US" dirty="0">
                <a:latin typeface="Bell MT" pitchFamily="18" charset="0"/>
              </a:rPr>
              <a:t/>
            </a:r>
            <a:br>
              <a:rPr lang="en-US" dirty="0">
                <a:latin typeface="Bell MT" pitchFamily="18" charset="0"/>
              </a:rPr>
            </a:br>
            <a:r>
              <a:rPr lang="en-US" sz="2000" dirty="0">
                <a:latin typeface="Bell MT" pitchFamily="18" charset="0"/>
              </a:rPr>
              <a:t/>
            </a:r>
            <a:br>
              <a:rPr lang="en-US" sz="2000" dirty="0">
                <a:latin typeface="Bell MT" pitchFamily="18" charset="0"/>
              </a:rPr>
            </a:br>
            <a:r>
              <a:rPr lang="en-US" sz="2000" dirty="0">
                <a:latin typeface="Bell MT" pitchFamily="18" charset="0"/>
              </a:rPr>
              <a:t/>
            </a:r>
            <a:br>
              <a:rPr lang="en-US" sz="2000" dirty="0">
                <a:latin typeface="Bell MT" pitchFamily="18" charset="0"/>
              </a:rPr>
            </a:br>
            <a:r>
              <a:rPr lang="en-US" sz="2000" dirty="0">
                <a:latin typeface="Bell MT" pitchFamily="18" charset="0"/>
              </a:rPr>
              <a:t/>
            </a:r>
            <a:br>
              <a:rPr lang="en-US" sz="2000" dirty="0">
                <a:latin typeface="Bell MT" pitchFamily="18" charset="0"/>
              </a:rPr>
            </a:br>
            <a:endParaRPr lang="en-US" sz="2000" dirty="0" smtClean="0">
              <a:latin typeface="Bell MT" pitchFamily="18" charset="0"/>
            </a:endParaRPr>
          </a:p>
          <a:p>
            <a:endParaRPr lang="en-US" sz="20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57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4455" y="990600"/>
            <a:ext cx="8153400" cy="134112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Application </a:t>
            </a:r>
            <a:r>
              <a:rPr lang="en-US" sz="2800" dirty="0"/>
              <a:t>of AR Systems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2667000"/>
            <a:ext cx="8763000" cy="4368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Bell MT" pitchFamily="18" charset="0"/>
              </a:rPr>
              <a:t>Recently a fast developing </a:t>
            </a:r>
            <a:r>
              <a:rPr lang="en-US" sz="2400" dirty="0">
                <a:latin typeface="Bell MT" pitchFamily="18" charset="0"/>
              </a:rPr>
              <a:t>technologies </a:t>
            </a:r>
            <a:r>
              <a:rPr lang="en-US" sz="2400" dirty="0" smtClean="0">
                <a:latin typeface="Bell MT" pitchFamily="18" charset="0"/>
              </a:rPr>
              <a:t>is </a:t>
            </a:r>
            <a:r>
              <a:rPr lang="en-US" sz="2400" b="1" dirty="0" smtClean="0">
                <a:latin typeface="Bell MT" pitchFamily="18" charset="0"/>
              </a:rPr>
              <a:t>augmented </a:t>
            </a:r>
            <a:r>
              <a:rPr lang="en-US" sz="2400" b="1" dirty="0">
                <a:latin typeface="Bell MT" pitchFamily="18" charset="0"/>
              </a:rPr>
              <a:t>reality (AR), </a:t>
            </a:r>
            <a:r>
              <a:rPr lang="en-US" sz="2400" dirty="0">
                <a:latin typeface="Bell MT" pitchFamily="18" charset="0"/>
              </a:rPr>
              <a:t>which can be applied to many different disciplines such as </a:t>
            </a:r>
            <a:r>
              <a:rPr lang="en-US" sz="2400" dirty="0" smtClean="0">
                <a:latin typeface="Bell MT" pitchFamily="18" charset="0"/>
              </a:rPr>
              <a:t>;</a:t>
            </a:r>
          </a:p>
          <a:p>
            <a:pPr lvl="2"/>
            <a:r>
              <a:rPr lang="en-US" sz="2000" dirty="0" smtClean="0">
                <a:latin typeface="Bell MT" pitchFamily="18" charset="0"/>
              </a:rPr>
              <a:t>AR in Education </a:t>
            </a:r>
          </a:p>
          <a:p>
            <a:pPr lvl="2"/>
            <a:r>
              <a:rPr lang="en-US" sz="2000" dirty="0">
                <a:latin typeface="Bell MT" pitchFamily="18" charset="0"/>
              </a:rPr>
              <a:t>AR In </a:t>
            </a:r>
            <a:r>
              <a:rPr lang="en-US" sz="2000" dirty="0" smtClean="0">
                <a:latin typeface="Bell MT" pitchFamily="18" charset="0"/>
              </a:rPr>
              <a:t>Medicine</a:t>
            </a:r>
          </a:p>
          <a:p>
            <a:pPr lvl="2"/>
            <a:r>
              <a:rPr lang="en-US" sz="2000" dirty="0">
                <a:latin typeface="Bell MT" pitchFamily="18" charset="0"/>
              </a:rPr>
              <a:t>AR In </a:t>
            </a:r>
            <a:r>
              <a:rPr lang="en-US" sz="2000" dirty="0" smtClean="0">
                <a:latin typeface="Bell MT" pitchFamily="18" charset="0"/>
              </a:rPr>
              <a:t>Entertainment and </a:t>
            </a:r>
          </a:p>
          <a:p>
            <a:pPr lvl="2"/>
            <a:r>
              <a:rPr lang="en-US" sz="2000" dirty="0" smtClean="0">
                <a:latin typeface="Bell MT" pitchFamily="18" charset="0"/>
              </a:rPr>
              <a:t>Military </a:t>
            </a:r>
          </a:p>
          <a:p>
            <a:pPr marL="685800" lvl="2" indent="0">
              <a:buNone/>
            </a:pPr>
            <a:r>
              <a:rPr lang="en-US" sz="2000" dirty="0">
                <a:latin typeface="Bell MT" pitchFamily="18" charset="0"/>
              </a:rPr>
              <a:t/>
            </a:r>
            <a:br>
              <a:rPr lang="en-US" sz="2000" dirty="0">
                <a:latin typeface="Bell MT" pitchFamily="18" charset="0"/>
              </a:rPr>
            </a:br>
            <a:r>
              <a:rPr lang="en-US" sz="2100" dirty="0">
                <a:latin typeface="Bell MT" pitchFamily="18" charset="0"/>
              </a:rPr>
              <a:t/>
            </a:r>
            <a:br>
              <a:rPr lang="en-US" sz="2100" dirty="0">
                <a:latin typeface="Bell MT" pitchFamily="18" charset="0"/>
              </a:rPr>
            </a:br>
            <a:endParaRPr lang="en-US" sz="1800" dirty="0" smtClean="0">
              <a:latin typeface="Bell MT" pitchFamily="18" charset="0"/>
            </a:endParaRPr>
          </a:p>
          <a:p>
            <a:pPr lvl="1"/>
            <a:endParaRPr lang="en-US" sz="21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54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8153400" cy="134112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Application </a:t>
            </a:r>
            <a:r>
              <a:rPr lang="en-US" sz="2800" dirty="0"/>
              <a:t>of AR </a:t>
            </a:r>
            <a:r>
              <a:rPr lang="en-US" sz="2800" dirty="0" smtClean="0"/>
              <a:t>Systems Cont’d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1905000"/>
            <a:ext cx="8305800" cy="4953000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Bell MT" pitchFamily="18" charset="0"/>
              </a:rPr>
              <a:t>AR in Education </a:t>
            </a:r>
          </a:p>
          <a:p>
            <a:r>
              <a:rPr lang="en-US" sz="2000" dirty="0">
                <a:latin typeface="Bell MT" pitchFamily="18" charset="0"/>
              </a:rPr>
              <a:t>Augmented reality allows flexibility in use that is attractive to education. </a:t>
            </a:r>
            <a:endParaRPr lang="en-US" sz="2000" dirty="0" smtClean="0">
              <a:latin typeface="Bell MT" pitchFamily="18" charset="0"/>
            </a:endParaRPr>
          </a:p>
          <a:p>
            <a:r>
              <a:rPr lang="en-US" sz="2000" dirty="0" smtClean="0">
                <a:latin typeface="Bell MT" pitchFamily="18" charset="0"/>
              </a:rPr>
              <a:t>AR </a:t>
            </a:r>
            <a:r>
              <a:rPr lang="en-US" sz="2000" dirty="0">
                <a:latin typeface="Bell MT" pitchFamily="18" charset="0"/>
              </a:rPr>
              <a:t>technology can </a:t>
            </a:r>
            <a:r>
              <a:rPr lang="en-US" sz="2000" dirty="0" smtClean="0">
                <a:latin typeface="Bell MT" pitchFamily="18" charset="0"/>
              </a:rPr>
              <a:t>be utilized </a:t>
            </a:r>
            <a:r>
              <a:rPr lang="en-US" sz="2000" dirty="0">
                <a:latin typeface="Bell MT" pitchFamily="18" charset="0"/>
              </a:rPr>
              <a:t>through a variety of mediums including desktops, mobile devices, and smartphones</a:t>
            </a:r>
            <a:r>
              <a:rPr lang="en-US" sz="2000" dirty="0" smtClean="0">
                <a:latin typeface="Bell MT" pitchFamily="18" charset="0"/>
              </a:rPr>
              <a:t>.</a:t>
            </a:r>
          </a:p>
          <a:p>
            <a:pPr lvl="1"/>
            <a:r>
              <a:rPr lang="en-US" sz="1800" b="1" i="1" dirty="0">
                <a:latin typeface="Bell MT" pitchFamily="18" charset="0"/>
              </a:rPr>
              <a:t>Affordable learning materials </a:t>
            </a:r>
            <a:r>
              <a:rPr lang="en-US" sz="1800" i="1" dirty="0">
                <a:latin typeface="Bell MT" pitchFamily="18" charset="0"/>
              </a:rPr>
              <a:t>- </a:t>
            </a:r>
            <a:r>
              <a:rPr lang="en-US" sz="1800" dirty="0">
                <a:latin typeface="Bell MT" pitchFamily="18" charset="0"/>
              </a:rPr>
              <a:t>posters, digital illustrations, </a:t>
            </a:r>
            <a:r>
              <a:rPr lang="en-US" sz="1800" dirty="0" smtClean="0">
                <a:latin typeface="Bell MT" pitchFamily="18" charset="0"/>
              </a:rPr>
              <a:t>physical   models, prototypes </a:t>
            </a:r>
            <a:r>
              <a:rPr lang="en-US" sz="1800" dirty="0">
                <a:latin typeface="Bell MT" pitchFamily="18" charset="0"/>
              </a:rPr>
              <a:t>are very expensive and it’s impossible for schools to </a:t>
            </a:r>
            <a:r>
              <a:rPr lang="en-US" sz="1800" dirty="0" smtClean="0">
                <a:latin typeface="Bell MT" pitchFamily="18" charset="0"/>
              </a:rPr>
              <a:t>find enough </a:t>
            </a:r>
            <a:r>
              <a:rPr lang="en-US" sz="1800" dirty="0">
                <a:latin typeface="Bell MT" pitchFamily="18" charset="0"/>
              </a:rPr>
              <a:t>money to purchase all the supplementary materials they would </a:t>
            </a:r>
            <a:r>
              <a:rPr lang="en-US" sz="1800" dirty="0" smtClean="0">
                <a:latin typeface="Bell MT" pitchFamily="18" charset="0"/>
              </a:rPr>
              <a:t>like </a:t>
            </a:r>
            <a:r>
              <a:rPr lang="en-US" sz="1800" dirty="0">
                <a:latin typeface="Bell MT" pitchFamily="18" charset="0"/>
              </a:rPr>
              <a:t>to. </a:t>
            </a:r>
            <a:endParaRPr lang="en-US" sz="1800" dirty="0" smtClean="0">
              <a:latin typeface="Bell MT" pitchFamily="18" charset="0"/>
            </a:endParaRPr>
          </a:p>
          <a:p>
            <a:pPr lvl="1"/>
            <a:r>
              <a:rPr lang="en-US" sz="1800" dirty="0" smtClean="0">
                <a:latin typeface="Bell MT" pitchFamily="18" charset="0"/>
              </a:rPr>
              <a:t>Using </a:t>
            </a:r>
            <a:r>
              <a:rPr lang="en-US" sz="1800" dirty="0">
                <a:latin typeface="Bell MT" pitchFamily="18" charset="0"/>
              </a:rPr>
              <a:t>AR technology allows for avoiding investments in physical </a:t>
            </a:r>
            <a:r>
              <a:rPr lang="en-US" sz="1800" dirty="0" smtClean="0">
                <a:latin typeface="Bell MT" pitchFamily="18" charset="0"/>
              </a:rPr>
              <a:t>materials.</a:t>
            </a:r>
          </a:p>
          <a:p>
            <a:pPr lvl="1"/>
            <a:r>
              <a:rPr lang="en-US" sz="1800" b="1" dirty="0">
                <a:latin typeface="Bell MT" pitchFamily="18" charset="0"/>
              </a:rPr>
              <a:t>Interactive lessons </a:t>
            </a:r>
            <a:r>
              <a:rPr lang="en-US" sz="1800" dirty="0">
                <a:latin typeface="Bell MT" pitchFamily="18" charset="0"/>
              </a:rPr>
              <a:t>- when AR technology is used in classrooms, </a:t>
            </a:r>
            <a:r>
              <a:rPr lang="en-US" sz="1800" dirty="0" smtClean="0">
                <a:latin typeface="Bell MT" pitchFamily="18" charset="0"/>
              </a:rPr>
              <a:t>students  </a:t>
            </a:r>
            <a:r>
              <a:rPr lang="en-US" sz="1800" dirty="0">
                <a:latin typeface="Bell MT" pitchFamily="18" charset="0"/>
              </a:rPr>
              <a:t>can view </a:t>
            </a:r>
            <a:r>
              <a:rPr lang="en-US" sz="1800" dirty="0" smtClean="0">
                <a:latin typeface="Bell MT" pitchFamily="18" charset="0"/>
              </a:rPr>
              <a:t>models on </a:t>
            </a:r>
            <a:r>
              <a:rPr lang="en-US" sz="1800" dirty="0">
                <a:latin typeface="Bell MT" pitchFamily="18" charset="0"/>
              </a:rPr>
              <a:t>their own smartphones and get a better idea of the concepts they are studying. </a:t>
            </a:r>
          </a:p>
          <a:p>
            <a:pPr lvl="1"/>
            <a:r>
              <a:rPr lang="en-US" sz="1800" dirty="0" smtClean="0">
                <a:latin typeface="Bell MT" pitchFamily="18" charset="0"/>
              </a:rPr>
              <a:t>Higher engagement, Higher retention, Boost intellectual curiosity </a:t>
            </a:r>
            <a:r>
              <a:rPr lang="en-US" sz="2000" dirty="0" smtClean="0">
                <a:latin typeface="Bell MT" pitchFamily="18" charset="0"/>
              </a:rPr>
              <a:t/>
            </a:r>
            <a:br>
              <a:rPr lang="en-US" sz="2000" dirty="0" smtClean="0">
                <a:latin typeface="Bell MT" pitchFamily="18" charset="0"/>
              </a:rPr>
            </a:br>
            <a:endParaRPr lang="en-US" sz="2000" dirty="0" smtClean="0">
              <a:latin typeface="Bell MT" pitchFamily="18" charset="0"/>
            </a:endParaRPr>
          </a:p>
          <a:p>
            <a:pPr lvl="1"/>
            <a:endParaRPr lang="en-US" sz="2000" dirty="0" smtClean="0">
              <a:latin typeface="Bell MT" pitchFamily="18" charset="0"/>
            </a:endParaRPr>
          </a:p>
          <a:p>
            <a:pPr lvl="1"/>
            <a:endParaRPr lang="en-US" sz="2000" dirty="0" smtClean="0">
              <a:latin typeface="Bell MT" pitchFamily="18" charset="0"/>
            </a:endParaRPr>
          </a:p>
          <a:p>
            <a:pPr marL="685800" lvl="2" indent="0">
              <a:buNone/>
            </a:pPr>
            <a:r>
              <a:rPr lang="en-US" sz="2000" dirty="0">
                <a:latin typeface="Bell MT" pitchFamily="18" charset="0"/>
              </a:rPr>
              <a:t/>
            </a:r>
            <a:br>
              <a:rPr lang="en-US" sz="2000" dirty="0">
                <a:latin typeface="Bell MT" pitchFamily="18" charset="0"/>
              </a:rPr>
            </a:br>
            <a:r>
              <a:rPr lang="en-US" sz="2000" dirty="0">
                <a:latin typeface="Bell MT" pitchFamily="18" charset="0"/>
              </a:rPr>
              <a:t/>
            </a:r>
            <a:br>
              <a:rPr lang="en-US" sz="2000" dirty="0">
                <a:latin typeface="Bell MT" pitchFamily="18" charset="0"/>
              </a:rPr>
            </a:br>
            <a:endParaRPr lang="en-US" sz="2000" dirty="0" smtClean="0">
              <a:latin typeface="Bell MT" pitchFamily="18" charset="0"/>
            </a:endParaRPr>
          </a:p>
          <a:p>
            <a:pPr lvl="1"/>
            <a:endParaRPr lang="en-US" sz="20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1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8153400" cy="134112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Application </a:t>
            </a:r>
            <a:r>
              <a:rPr lang="en-US" sz="2800" b="1" dirty="0"/>
              <a:t>of AR </a:t>
            </a:r>
            <a:r>
              <a:rPr lang="en-US" sz="2800" b="1" dirty="0" smtClean="0"/>
              <a:t>Systems Cont’d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2179320"/>
            <a:ext cx="8763000" cy="4678680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Bell MT" pitchFamily="18" charset="0"/>
              </a:rPr>
              <a:t>AR in medicine </a:t>
            </a:r>
          </a:p>
          <a:p>
            <a:pPr lvl="1"/>
            <a:r>
              <a:rPr lang="en-US" sz="2200" dirty="0">
                <a:latin typeface="Bell MT" pitchFamily="18" charset="0"/>
              </a:rPr>
              <a:t>Augmented reality has </a:t>
            </a:r>
            <a:r>
              <a:rPr lang="en-US" sz="2200" dirty="0" smtClean="0">
                <a:latin typeface="Bell MT" pitchFamily="18" charset="0"/>
              </a:rPr>
              <a:t>the potential </a:t>
            </a:r>
            <a:r>
              <a:rPr lang="en-US" sz="2200" dirty="0">
                <a:latin typeface="Bell MT" pitchFamily="18" charset="0"/>
              </a:rPr>
              <a:t>to play a big role in improving the healthcare </a:t>
            </a:r>
            <a:r>
              <a:rPr lang="en-US" sz="2200" dirty="0" smtClean="0">
                <a:latin typeface="Bell MT" pitchFamily="18" charset="0"/>
              </a:rPr>
              <a:t>industry.</a:t>
            </a:r>
          </a:p>
          <a:p>
            <a:pPr lvl="1"/>
            <a:r>
              <a:rPr lang="en-US" sz="2200" dirty="0" smtClean="0">
                <a:latin typeface="Bell MT" pitchFamily="18" charset="0"/>
              </a:rPr>
              <a:t>This </a:t>
            </a:r>
            <a:r>
              <a:rPr lang="en-US" sz="2200" dirty="0">
                <a:latin typeface="Bell MT" pitchFamily="18" charset="0"/>
              </a:rPr>
              <a:t>new technology is enhancing medicine and healthcare towards more safety </a:t>
            </a:r>
            <a:r>
              <a:rPr lang="en-US" sz="2200" dirty="0" smtClean="0">
                <a:latin typeface="Bell MT" pitchFamily="18" charset="0"/>
              </a:rPr>
              <a:t>and efficiency. </a:t>
            </a:r>
            <a:r>
              <a:rPr lang="en-US" sz="2200" b="1" dirty="0" smtClean="0">
                <a:latin typeface="Bell MT" pitchFamily="18" charset="0"/>
              </a:rPr>
              <a:t>For example</a:t>
            </a:r>
            <a:r>
              <a:rPr lang="en-US" sz="2200" dirty="0" smtClean="0">
                <a:latin typeface="Bell MT" pitchFamily="18" charset="0"/>
              </a:rPr>
              <a:t>, augmented reality has already made significant changes in the following medical areas:</a:t>
            </a:r>
          </a:p>
          <a:p>
            <a:pPr lvl="2"/>
            <a:r>
              <a:rPr lang="en-US" sz="2000" dirty="0" smtClean="0">
                <a:latin typeface="Bell MT" pitchFamily="18" charset="0"/>
              </a:rPr>
              <a:t>Surgery  </a:t>
            </a:r>
            <a:r>
              <a:rPr lang="en-US" sz="2000" dirty="0">
                <a:latin typeface="Bell MT" pitchFamily="18" charset="0"/>
              </a:rPr>
              <a:t>(minimally invasive surgery</a:t>
            </a:r>
            <a:r>
              <a:rPr lang="en-US" sz="2000" dirty="0" smtClean="0">
                <a:latin typeface="Bell MT" pitchFamily="18" charset="0"/>
              </a:rPr>
              <a:t>);</a:t>
            </a:r>
          </a:p>
          <a:p>
            <a:pPr lvl="2"/>
            <a:r>
              <a:rPr lang="en-US" sz="2000" dirty="0" smtClean="0">
                <a:latin typeface="Bell MT" pitchFamily="18" charset="0"/>
              </a:rPr>
              <a:t>Education  of </a:t>
            </a:r>
            <a:r>
              <a:rPr lang="en-US" sz="2000" dirty="0">
                <a:latin typeface="Bell MT" pitchFamily="18" charset="0"/>
              </a:rPr>
              <a:t>future doctors</a:t>
            </a:r>
            <a:r>
              <a:rPr lang="en-US" sz="2000" dirty="0" smtClean="0">
                <a:latin typeface="Bell MT" pitchFamily="18" charset="0"/>
              </a:rPr>
              <a:t>;</a:t>
            </a:r>
            <a:endParaRPr lang="en-US" sz="2000" dirty="0">
              <a:latin typeface="Bell MT" pitchFamily="18" charset="0"/>
            </a:endParaRPr>
          </a:p>
          <a:p>
            <a:pPr lvl="2"/>
            <a:r>
              <a:rPr lang="en-US" sz="2000" dirty="0" smtClean="0">
                <a:latin typeface="Bell MT" pitchFamily="18" charset="0"/>
              </a:rPr>
              <a:t>AR </a:t>
            </a:r>
            <a:r>
              <a:rPr lang="en-US" sz="2000" dirty="0">
                <a:latin typeface="Bell MT" pitchFamily="18" charset="0"/>
              </a:rPr>
              <a:t>tools may also aid to detect the signs of depression and other mental illnesses by </a:t>
            </a:r>
            <a:r>
              <a:rPr lang="en-US" sz="2000" dirty="0" smtClean="0">
                <a:latin typeface="Bell MT" pitchFamily="18" charset="0"/>
              </a:rPr>
              <a:t>reading from </a:t>
            </a:r>
            <a:r>
              <a:rPr lang="en-US" sz="2000" dirty="0">
                <a:latin typeface="Bell MT" pitchFamily="18" charset="0"/>
              </a:rPr>
              <a:t>facial expressions, voice tones, and physical gestures.</a:t>
            </a:r>
            <a:r>
              <a:rPr lang="en-US" sz="1500" dirty="0" smtClean="0">
                <a:latin typeface="Bell MT" pitchFamily="18" charset="0"/>
              </a:rPr>
              <a:t/>
            </a:r>
            <a:br>
              <a:rPr lang="en-US" sz="1500" dirty="0" smtClean="0">
                <a:latin typeface="Bell MT" pitchFamily="18" charset="0"/>
              </a:rPr>
            </a:br>
            <a:r>
              <a:rPr lang="en-US" sz="1300" dirty="0" smtClean="0">
                <a:latin typeface="Bell MT" pitchFamily="18" charset="0"/>
              </a:rPr>
              <a:t/>
            </a:r>
            <a:br>
              <a:rPr lang="en-US" sz="1300" dirty="0" smtClean="0">
                <a:latin typeface="Bell MT" pitchFamily="18" charset="0"/>
              </a:rPr>
            </a:br>
            <a:endParaRPr lang="en-US" sz="1300" dirty="0" smtClean="0">
              <a:latin typeface="Bell MT" pitchFamily="18" charset="0"/>
            </a:endParaRPr>
          </a:p>
          <a:p>
            <a:pPr lvl="1"/>
            <a:endParaRPr lang="en-US" sz="2100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4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9200"/>
            <a:ext cx="8153400" cy="1341120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>Application </a:t>
            </a:r>
            <a:r>
              <a:rPr lang="en-US" sz="2800" b="1" dirty="0"/>
              <a:t>of AR </a:t>
            </a:r>
            <a:r>
              <a:rPr lang="en-US" sz="2800" b="1" dirty="0" smtClean="0"/>
              <a:t>Systems Cont’d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2503055"/>
            <a:ext cx="8991600" cy="4368800"/>
          </a:xfrm>
        </p:spPr>
        <p:txBody>
          <a:bodyPr>
            <a:normAutofit/>
          </a:bodyPr>
          <a:lstStyle/>
          <a:p>
            <a:pPr lvl="1"/>
            <a:r>
              <a:rPr lang="en-US" sz="2100" b="1" dirty="0" smtClean="0">
                <a:latin typeface="Bell MT" pitchFamily="18" charset="0"/>
              </a:rPr>
              <a:t>AR in Entertainment </a:t>
            </a:r>
          </a:p>
          <a:p>
            <a:pPr lvl="2"/>
            <a:r>
              <a:rPr lang="en-US" sz="2200" dirty="0">
                <a:latin typeface="Bell MT" pitchFamily="18" charset="0"/>
              </a:rPr>
              <a:t>Augmented reality can be used in various “entertainment” industries as entertainment covers </a:t>
            </a:r>
            <a:r>
              <a:rPr lang="en-US" sz="2200" dirty="0" smtClean="0">
                <a:latin typeface="Bell MT" pitchFamily="18" charset="0"/>
              </a:rPr>
              <a:t>quite a </a:t>
            </a:r>
            <a:r>
              <a:rPr lang="en-US" sz="2200" dirty="0">
                <a:latin typeface="Bell MT" pitchFamily="18" charset="0"/>
              </a:rPr>
              <a:t>number of different industries – music, movies, live shows, games – and all of them can </a:t>
            </a:r>
            <a:r>
              <a:rPr lang="en-US" sz="2200" dirty="0" smtClean="0">
                <a:latin typeface="Bell MT" pitchFamily="18" charset="0"/>
              </a:rPr>
              <a:t>benefit from </a:t>
            </a:r>
            <a:r>
              <a:rPr lang="en-US" sz="2200" dirty="0">
                <a:latin typeface="Bell MT" pitchFamily="18" charset="0"/>
              </a:rPr>
              <a:t>using augmented </a:t>
            </a:r>
            <a:r>
              <a:rPr lang="en-US" sz="2200" dirty="0" smtClean="0">
                <a:latin typeface="Bell MT" pitchFamily="18" charset="0"/>
              </a:rPr>
              <a:t>reality.</a:t>
            </a:r>
          </a:p>
          <a:p>
            <a:pPr lvl="3"/>
            <a:r>
              <a:rPr lang="en-US" sz="1900" dirty="0" smtClean="0">
                <a:latin typeface="Bell MT" pitchFamily="18" charset="0"/>
              </a:rPr>
              <a:t>AR in games</a:t>
            </a:r>
          </a:p>
          <a:p>
            <a:pPr lvl="3"/>
            <a:r>
              <a:rPr lang="en-US" sz="1900" dirty="0" smtClean="0">
                <a:latin typeface="Bell MT" pitchFamily="18" charset="0"/>
              </a:rPr>
              <a:t>AR in music</a:t>
            </a:r>
          </a:p>
          <a:p>
            <a:pPr lvl="3"/>
            <a:r>
              <a:rPr lang="en-US" sz="1900" dirty="0" smtClean="0">
                <a:latin typeface="Bell MT" pitchFamily="18" charset="0"/>
              </a:rPr>
              <a:t>AR on TV</a:t>
            </a:r>
          </a:p>
          <a:p>
            <a:pPr lvl="3"/>
            <a:r>
              <a:rPr lang="en-US" sz="1900" dirty="0" smtClean="0">
                <a:latin typeface="Bell MT" pitchFamily="18" charset="0"/>
              </a:rPr>
              <a:t>AR in eSports</a:t>
            </a:r>
          </a:p>
          <a:p>
            <a:pPr marL="731520" lvl="2" indent="0">
              <a:buNone/>
            </a:pPr>
            <a:r>
              <a:rPr lang="en-US" sz="2100" dirty="0">
                <a:latin typeface="Bell MT" pitchFamily="18" charset="0"/>
              </a:rPr>
              <a:t/>
            </a:r>
            <a:br>
              <a:rPr lang="en-US" sz="2100" dirty="0">
                <a:latin typeface="Bell MT" pitchFamily="18" charset="0"/>
              </a:rPr>
            </a:br>
            <a:endParaRPr lang="en-US" sz="1800" b="1" dirty="0" smtClean="0">
              <a:latin typeface="Bell MT" pitchFamily="18" charset="0"/>
            </a:endParaRPr>
          </a:p>
          <a:p>
            <a:pPr lvl="1"/>
            <a:endParaRPr lang="en-US" sz="2100" b="1" dirty="0">
              <a:latin typeface="Bell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9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66800"/>
            <a:ext cx="8153400" cy="965200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>References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200" y="1803400"/>
            <a:ext cx="8686800" cy="4368800"/>
          </a:xfrm>
        </p:spPr>
        <p:txBody>
          <a:bodyPr>
            <a:normAutofit/>
          </a:bodyPr>
          <a:lstStyle/>
          <a:p>
            <a:pPr marL="365760" lvl="1" indent="0">
              <a:buNone/>
            </a:pPr>
            <a:endParaRPr lang="en-US" sz="1800" b="1" dirty="0" smtClean="0"/>
          </a:p>
          <a:p>
            <a:pPr lvl="1"/>
            <a:r>
              <a:rPr lang="en-US" sz="2000" dirty="0"/>
              <a:t>Tesfahunegn </a:t>
            </a:r>
            <a:r>
              <a:rPr lang="en-US" sz="2000" dirty="0" smtClean="0"/>
              <a:t>M., Makonen W., Yonassa T. </a:t>
            </a:r>
            <a:r>
              <a:rPr lang="en-US" sz="2000" dirty="0"/>
              <a:t>and Girma </a:t>
            </a:r>
            <a:r>
              <a:rPr lang="en-US" sz="2000" dirty="0" smtClean="0"/>
              <a:t>D. (2019). “Introduction </a:t>
            </a:r>
            <a:r>
              <a:rPr lang="en-US" sz="2000" dirty="0"/>
              <a:t>to Emerging Technologies Course </a:t>
            </a:r>
            <a:r>
              <a:rPr lang="en-US" sz="2000" dirty="0" smtClean="0"/>
              <a:t>Module”; MOSHE</a:t>
            </a:r>
          </a:p>
          <a:p>
            <a:pPr lvl="1"/>
            <a:r>
              <a:rPr lang="en-US" sz="2000" dirty="0" smtClean="0"/>
              <a:t> Steve M., Tom F., Yu Y., Jay I., and Zixin W.. (2018). </a:t>
            </a:r>
            <a:r>
              <a:rPr lang="en-US" sz="2000" dirty="0"/>
              <a:t>“</a:t>
            </a:r>
            <a:r>
              <a:rPr lang="en-US" sz="2000" dirty="0" smtClean="0"/>
              <a:t>All Reality: Virtual, Augmented, Mixed(X), Mediated(X,Y</a:t>
            </a:r>
            <a:r>
              <a:rPr lang="en-US" sz="2000" dirty="0"/>
              <a:t>),and </a:t>
            </a:r>
            <a:r>
              <a:rPr lang="en-US" sz="2000" dirty="0" smtClean="0"/>
              <a:t>Multimediated Reality”, </a:t>
            </a:r>
            <a:r>
              <a:rPr lang="en-US" sz="2000" dirty="0"/>
              <a:t>Multimediated Reality; arXiv:1804.08386v1 </a:t>
            </a:r>
            <a:endParaRPr lang="en-US" sz="2000" dirty="0" smtClean="0"/>
          </a:p>
          <a:p>
            <a:pPr lvl="1"/>
            <a:r>
              <a:rPr lang="en-US" sz="2000" dirty="0"/>
              <a:t>Paolo </a:t>
            </a:r>
            <a:r>
              <a:rPr lang="en-US" sz="2000" dirty="0" smtClean="0"/>
              <a:t>Fogliaroni. (2012).“</a:t>
            </a:r>
            <a:r>
              <a:rPr lang="en-US" sz="2000" dirty="0"/>
              <a:t>Mixed Reality for Archeology and Cultural Heritage ”; </a:t>
            </a:r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orcid.org/0000-0002-0578-8904</a:t>
            </a:r>
            <a:endParaRPr lang="en-US" sz="2000" dirty="0" smtClean="0"/>
          </a:p>
          <a:p>
            <a:pPr lvl="1"/>
            <a:endParaRPr lang="en-US" sz="2100" dirty="0" smtClean="0"/>
          </a:p>
          <a:p>
            <a:pPr lvl="1"/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6099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3720</TotalTime>
  <Words>1403</Words>
  <Application>Microsoft Office PowerPoint</Application>
  <PresentationFormat>On-screen Show (4:3)</PresentationFormat>
  <Paragraphs>117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Bell MT</vt:lpstr>
      <vt:lpstr>Calibri</vt:lpstr>
      <vt:lpstr>Century Gothic</vt:lpstr>
      <vt:lpstr>Wingdings 3</vt:lpstr>
      <vt:lpstr>Ion Boardroom</vt:lpstr>
      <vt:lpstr>Chapter 5 Augmented reality</vt:lpstr>
      <vt:lpstr>Unit objectives</vt:lpstr>
      <vt:lpstr>Augmented Reality(AR) </vt:lpstr>
      <vt:lpstr>Augmented Reality Cont’d  </vt:lpstr>
      <vt:lpstr>Augmented Reality Cont’d  </vt:lpstr>
      <vt:lpstr>Virtual Reality(VR)</vt:lpstr>
      <vt:lpstr>Virtual Reality(VR) Cont’d</vt:lpstr>
      <vt:lpstr>Mixed Reality(MR) Cont’d</vt:lpstr>
      <vt:lpstr>Mixed Reality(MR) Cont’d</vt:lpstr>
      <vt:lpstr>Mixed Reality(MR) Cont’d</vt:lpstr>
      <vt:lpstr>Architecture  of AR Systems </vt:lpstr>
      <vt:lpstr>Architecture  of AR Systems Cont’d  </vt:lpstr>
      <vt:lpstr>Architecture  of AR Systems </vt:lpstr>
      <vt:lpstr>AR, VR Vs. MR </vt:lpstr>
      <vt:lpstr>Application of AR Systems </vt:lpstr>
      <vt:lpstr>Application of AR Systems Cont’d </vt:lpstr>
      <vt:lpstr>Application of AR Systems Cont’d </vt:lpstr>
      <vt:lpstr>Application of AR Systems Cont’d  </vt:lpstr>
      <vt:lpstr>References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Epha</dc:creator>
  <cp:lastModifiedBy>Fortune</cp:lastModifiedBy>
  <cp:revision>123</cp:revision>
  <dcterms:created xsi:type="dcterms:W3CDTF">2020-03-09T06:55:55Z</dcterms:created>
  <dcterms:modified xsi:type="dcterms:W3CDTF">2025-05-23T07:00:42Z</dcterms:modified>
</cp:coreProperties>
</file>